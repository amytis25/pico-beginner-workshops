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8288000" cy="10287000"/>
  <p:notesSz cx="6858000" cy="9144000"/>
  <p:embeddedFontLst>
    <p:embeddedFont>
      <p:font typeface="Marcellus" panose="020B0604020202020204" charset="0"/>
      <p:regular r:id="rId26"/>
    </p:embeddedFont>
    <p:embeddedFont>
      <p:font typeface="Roboto Slab" pitchFamily="2" charset="0"/>
      <p:regular r:id="rId27"/>
      <p:bold r:id="rId28"/>
    </p:embeddedFont>
    <p:embeddedFont>
      <p:font typeface="Ruda Black" panose="020B0604020202020204" charset="0"/>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pTedTvlMtaUrGDQ3En/Y9zNUPj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0" d="100"/>
          <a:sy n="40" d="100"/>
        </p:scale>
        <p:origin x="560" y="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cf353c04b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3cf353c04bd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cf353c04bd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g3cf353c04bd_0_2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cf353c04bd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g3cf353c04bd_0_1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cf353c04bd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g3cf353c04bd_2_1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cf353c04bd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3cf353c04bd_2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cf353c04bd_2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g3cf353c04bd_2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cf353c04bd_2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g3cf353c04bd_2_3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cf353c04bd_2_3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cf353c04bd_2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cf353c04bd_2_3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cf353c04bd_2_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cf353c04bd_2_3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cf353c04bd_2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cf353c04bd_2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g3cf353c04bd_2_3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c5c0a1132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g3c5c0a11321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cf353c04bd_2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g3cf353c04bd_2_3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cf353c04bd_2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4" name="Google Shape;384;g3cf353c04bd_2_39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cee154c093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0" name="Google Shape;440;g3cee154c093_0_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cee154c093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9" name="Google Shape;449;g3cee154c093_0_7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cf353c04bd_2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8" name="Google Shape;458;g3cf353c04bd_2_50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cf353c04bd_2_5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9" name="Google Shape;469;g3cf353c04bd_2_5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c5c0a1132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g3c5c0a11321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cee154c093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g3cee154c093_0_9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a:spLocks noGrp="1"/>
          </p:cNvSpPr>
          <p:nvPr>
            <p:ph type="pic" idx="2"/>
          </p:nvPr>
        </p:nvSpPr>
        <p:spPr>
          <a:xfrm>
            <a:off x="1792288" y="612775"/>
            <a:ext cx="5486400" cy="4114800"/>
          </a:xfrm>
          <a:prstGeom prst="rect">
            <a:avLst/>
          </a:prstGeom>
          <a:noFill/>
          <a:ln>
            <a:noFill/>
          </a:ln>
        </p:spPr>
      </p:sp>
      <p:sp>
        <p:nvSpPr>
          <p:cNvPr id="64" name="Google Shape;64;p2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g3cf353c04bd_2_24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g3cf353c04bd_2_24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g3cf353c04bd_2_24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g3cf353c04bd_2_245"/>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g3cf353c04bd_2_24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g3cf353c04bd_2_24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g3cf353c04bd_2_24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g3cf353c04bd_2_24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g3cf353c04bd_2_2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g3cf353c04bd_2_251"/>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g3cf353c04bd_2_25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g3cf353c04bd_2_25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g3cf353c04bd_2_25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g3cf353c04bd_2_257"/>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g3cf353c04bd_2_257"/>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g3cf353c04bd_2_25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g3cf353c04bd_2_25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g3cf353c04bd_2_25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g3cf353c04bd_2_2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g3cf353c04bd_2_263"/>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g3cf353c04bd_2_263"/>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g3cf353c04bd_2_26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g3cf353c04bd_2_26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g3cf353c04bd_2_26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g3cf353c04bd_2_2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g3cf353c04bd_2_270"/>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g3cf353c04bd_2_270"/>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g3cf353c04bd_2_270"/>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g3cf353c04bd_2_270"/>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g3cf353c04bd_2_27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g3cf353c04bd_2_27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g3cf353c04bd_2_27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g3cf353c04bd_2_2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g3cf353c04bd_2_27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g3cf353c04bd_2_27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g3cf353c04bd_2_27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g3cf353c04bd_2_284"/>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g3cf353c04bd_2_284"/>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g3cf353c04bd_2_284"/>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g3cf353c04bd_2_28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g3cf353c04bd_2_28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g3cf353c04bd_2_28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g3cf353c04bd_2_291"/>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g3cf353c04bd_2_291"/>
          <p:cNvSpPr>
            <a:spLocks noGrp="1"/>
          </p:cNvSpPr>
          <p:nvPr>
            <p:ph type="pic" idx="2"/>
          </p:nvPr>
        </p:nvSpPr>
        <p:spPr>
          <a:xfrm>
            <a:off x="1792288" y="612775"/>
            <a:ext cx="5486400" cy="4114800"/>
          </a:xfrm>
          <a:prstGeom prst="rect">
            <a:avLst/>
          </a:prstGeom>
          <a:noFill/>
          <a:ln>
            <a:noFill/>
          </a:ln>
        </p:spPr>
      </p:sp>
      <p:sp>
        <p:nvSpPr>
          <p:cNvPr id="139" name="Google Shape;139;g3cf353c04bd_2_291"/>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g3cf353c04bd_2_29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g3cf353c04bd_2_29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g3cf353c04bd_2_29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g3cf353c04bd_2_2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g3cf353c04bd_2_298"/>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g3cf353c04bd_2_29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g3cf353c04bd_2_29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g3cf353c04bd_2_29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g3cf353c04bd_2_304"/>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g3cf353c04bd_2_304"/>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g3cf353c04bd_2_30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g3cf353c04bd_2_30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g3cf353c04bd_2_30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g3cf353c04bd_2_2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g3cf353c04bd_2_235"/>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g3cf353c04bd_2_23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g3cf353c04bd_2_23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g3cf353c04bd_2_23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sym typeface="Calibri"/>
              </a:defRPr>
            </a:lvl1pPr>
            <a:lvl2pPr marL="0" marR="0" lvl="1" indent="0" algn="r">
              <a:spcBef>
                <a:spcPts val="0"/>
              </a:spcBef>
              <a:buNone/>
              <a:defRPr sz="1200" b="0" i="0" u="none" strike="noStrike" cap="none">
                <a:solidFill>
                  <a:srgbClr val="888888"/>
                </a:solidFill>
                <a:latin typeface="Calibri"/>
                <a:ea typeface="Calibri"/>
                <a:cs typeface="Calibri"/>
                <a:sym typeface="Calibri"/>
              </a:defRPr>
            </a:lvl2pPr>
            <a:lvl3pPr marL="0" marR="0" lvl="2" indent="0" algn="r">
              <a:spcBef>
                <a:spcPts val="0"/>
              </a:spcBef>
              <a:buNone/>
              <a:defRPr sz="1200" b="0" i="0" u="none" strike="noStrike" cap="none">
                <a:solidFill>
                  <a:srgbClr val="888888"/>
                </a:solidFill>
                <a:latin typeface="Calibri"/>
                <a:ea typeface="Calibri"/>
                <a:cs typeface="Calibri"/>
                <a:sym typeface="Calibri"/>
              </a:defRPr>
            </a:lvl3pPr>
            <a:lvl4pPr marL="0" marR="0" lvl="3" indent="0" algn="r">
              <a:spcBef>
                <a:spcPts val="0"/>
              </a:spcBef>
              <a:buNone/>
              <a:defRPr sz="1200" b="0" i="0" u="none" strike="noStrike" cap="none">
                <a:solidFill>
                  <a:srgbClr val="888888"/>
                </a:solidFill>
                <a:latin typeface="Calibri"/>
                <a:ea typeface="Calibri"/>
                <a:cs typeface="Calibri"/>
                <a:sym typeface="Calibri"/>
              </a:defRPr>
            </a:lvl4pPr>
            <a:lvl5pPr marL="0" marR="0" lvl="4" indent="0" algn="r">
              <a:spcBef>
                <a:spcPts val="0"/>
              </a:spcBef>
              <a:buNone/>
              <a:defRPr sz="1200" b="0" i="0" u="none" strike="noStrike" cap="none">
                <a:solidFill>
                  <a:srgbClr val="888888"/>
                </a:solidFill>
                <a:latin typeface="Calibri"/>
                <a:ea typeface="Calibri"/>
                <a:cs typeface="Calibri"/>
                <a:sym typeface="Calibri"/>
              </a:defRPr>
            </a:lvl5pPr>
            <a:lvl6pPr marL="0" marR="0" lvl="5" indent="0" algn="r">
              <a:spcBef>
                <a:spcPts val="0"/>
              </a:spcBef>
              <a:buNone/>
              <a:defRPr sz="1200" b="0" i="0" u="none" strike="noStrike" cap="none">
                <a:solidFill>
                  <a:srgbClr val="888888"/>
                </a:solidFill>
                <a:latin typeface="Calibri"/>
                <a:ea typeface="Calibri"/>
                <a:cs typeface="Calibri"/>
                <a:sym typeface="Calibri"/>
              </a:defRPr>
            </a:lvl6pPr>
            <a:lvl7pPr marL="0" marR="0" lvl="6" indent="0" algn="r">
              <a:spcBef>
                <a:spcPts val="0"/>
              </a:spcBef>
              <a:buNone/>
              <a:defRPr sz="1200" b="0" i="0" u="none" strike="noStrike" cap="none">
                <a:solidFill>
                  <a:srgbClr val="888888"/>
                </a:solidFill>
                <a:latin typeface="Calibri"/>
                <a:ea typeface="Calibri"/>
                <a:cs typeface="Calibri"/>
                <a:sym typeface="Calibri"/>
              </a:defRPr>
            </a:lvl7pPr>
            <a:lvl8pPr marL="0" marR="0" lvl="7" indent="0" algn="r">
              <a:spcBef>
                <a:spcPts val="0"/>
              </a:spcBef>
              <a:buNone/>
              <a:defRPr sz="1200" b="0" i="0" u="none" strike="noStrike" cap="none">
                <a:solidFill>
                  <a:srgbClr val="888888"/>
                </a:solidFill>
                <a:latin typeface="Calibri"/>
                <a:ea typeface="Calibri"/>
                <a:cs typeface="Calibri"/>
                <a:sym typeface="Calibri"/>
              </a:defRPr>
            </a:lvl8pPr>
            <a:lvl9pPr marL="0" marR="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
          <p:cNvSpPr txBox="1"/>
          <p:nvPr/>
        </p:nvSpPr>
        <p:spPr>
          <a:xfrm>
            <a:off x="4249769" y="2591863"/>
            <a:ext cx="5338800" cy="4870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500" b="1">
                <a:solidFill>
                  <a:srgbClr val="231F20"/>
                </a:solidFill>
                <a:latin typeface="Marcellus"/>
                <a:ea typeface="Marcellus"/>
                <a:cs typeface="Marcellus"/>
                <a:sym typeface="Marcellus"/>
              </a:rPr>
              <a:t>microcontroller</a:t>
            </a:r>
            <a:r>
              <a:rPr lang="en-US" sz="9000" b="1">
                <a:solidFill>
                  <a:srgbClr val="231F20"/>
                </a:solidFill>
                <a:latin typeface="Marcellus"/>
                <a:ea typeface="Marcellus"/>
                <a:cs typeface="Marcellus"/>
                <a:sym typeface="Marcellus"/>
              </a:rPr>
              <a:t> </a:t>
            </a:r>
            <a:endParaRPr sz="9000" b="1">
              <a:solidFill>
                <a:srgbClr val="231F20"/>
              </a:solidFill>
              <a:latin typeface="Marcellus"/>
              <a:ea typeface="Marcellus"/>
              <a:cs typeface="Marcellus"/>
              <a:sym typeface="Marcellus"/>
            </a:endParaRPr>
          </a:p>
          <a:p>
            <a:pPr marL="0" marR="0" lvl="0" indent="0" algn="l" rtl="0">
              <a:lnSpc>
                <a:spcPct val="120000"/>
              </a:lnSpc>
              <a:spcBef>
                <a:spcPts val="0"/>
              </a:spcBef>
              <a:spcAft>
                <a:spcPts val="0"/>
              </a:spcAft>
              <a:buNone/>
            </a:pPr>
            <a:r>
              <a:rPr lang="en-US" sz="9700" b="1">
                <a:solidFill>
                  <a:srgbClr val="231F20"/>
                </a:solidFill>
                <a:latin typeface="Marcellus"/>
                <a:ea typeface="Marcellus"/>
                <a:cs typeface="Marcellus"/>
                <a:sym typeface="Marcellus"/>
              </a:rPr>
              <a:t>beginner</a:t>
            </a:r>
            <a:r>
              <a:rPr lang="en-US" sz="9000" b="1">
                <a:solidFill>
                  <a:srgbClr val="231F20"/>
                </a:solidFill>
                <a:latin typeface="Marcellus"/>
                <a:ea typeface="Marcellus"/>
                <a:cs typeface="Marcellus"/>
                <a:sym typeface="Marcellus"/>
              </a:rPr>
              <a:t> </a:t>
            </a:r>
            <a:r>
              <a:rPr lang="en-US" sz="9200" b="1">
                <a:solidFill>
                  <a:srgbClr val="231F20"/>
                </a:solidFill>
                <a:latin typeface="Marcellus"/>
                <a:ea typeface="Marcellus"/>
                <a:cs typeface="Marcellus"/>
                <a:sym typeface="Marcellus"/>
              </a:rPr>
              <a:t>workshop</a:t>
            </a:r>
            <a:endParaRPr sz="9500">
              <a:latin typeface="Marcellus"/>
              <a:ea typeface="Marcellus"/>
              <a:cs typeface="Marcellus"/>
              <a:sym typeface="Marcellus"/>
            </a:endParaRPr>
          </a:p>
        </p:txBody>
      </p:sp>
      <p:sp>
        <p:nvSpPr>
          <p:cNvPr id="160" name="Google Shape;160;p1"/>
          <p:cNvSpPr txBox="1"/>
          <p:nvPr/>
        </p:nvSpPr>
        <p:spPr>
          <a:xfrm>
            <a:off x="4249769" y="392727"/>
            <a:ext cx="5623200" cy="2748000"/>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17853" b="1">
                <a:solidFill>
                  <a:srgbClr val="CD2355"/>
                </a:solidFill>
                <a:latin typeface="Marcellus"/>
                <a:ea typeface="Marcellus"/>
                <a:cs typeface="Marcellus"/>
                <a:sym typeface="Marcellus"/>
              </a:rPr>
              <a:t>PICO</a:t>
            </a:r>
            <a:endParaRPr>
              <a:solidFill>
                <a:srgbClr val="CD2355"/>
              </a:solidFill>
              <a:latin typeface="Marcellus"/>
              <a:ea typeface="Marcellus"/>
              <a:cs typeface="Marcellus"/>
              <a:sym typeface="Marcellus"/>
            </a:endParaRPr>
          </a:p>
        </p:txBody>
      </p:sp>
      <p:pic>
        <p:nvPicPr>
          <p:cNvPr id="161" name="Google Shape;161;p1" title="pic.png"/>
          <p:cNvPicPr preferRelativeResize="0"/>
          <p:nvPr/>
        </p:nvPicPr>
        <p:blipFill>
          <a:blip r:embed="rId3">
            <a:alphaModFix/>
          </a:blip>
          <a:stretch>
            <a:fillRect/>
          </a:stretch>
        </p:blipFill>
        <p:spPr>
          <a:xfrm rot="-2699993">
            <a:off x="7695621" y="1049068"/>
            <a:ext cx="12130554" cy="7759064"/>
          </a:xfrm>
          <a:prstGeom prst="rect">
            <a:avLst/>
          </a:prstGeom>
          <a:noFill/>
          <a:ln>
            <a:noFill/>
          </a:ln>
          <a:effectLst>
            <a:outerShdw blurRad="271463" dist="514350" dir="3120000" algn="bl" rotWithShape="0">
              <a:srgbClr val="CD2355">
                <a:alpha val="50000"/>
              </a:srgbClr>
            </a:outerShdw>
          </a:effectLst>
        </p:spPr>
      </p:pic>
      <p:pic>
        <p:nvPicPr>
          <p:cNvPr id="162" name="Google Shape;162;p1" title="berry.png"/>
          <p:cNvPicPr preferRelativeResize="0"/>
          <p:nvPr/>
        </p:nvPicPr>
        <p:blipFill>
          <a:blip r:embed="rId4">
            <a:alphaModFix/>
          </a:blip>
          <a:stretch>
            <a:fillRect/>
          </a:stretch>
        </p:blipFill>
        <p:spPr>
          <a:xfrm rot="-1824981">
            <a:off x="1287403" y="1025732"/>
            <a:ext cx="2320475" cy="2320475"/>
          </a:xfrm>
          <a:prstGeom prst="rect">
            <a:avLst/>
          </a:prstGeom>
          <a:noFill/>
          <a:ln>
            <a:noFill/>
          </a:ln>
        </p:spPr>
      </p:pic>
      <p:sp>
        <p:nvSpPr>
          <p:cNvPr id="163" name="Google Shape;163;p1"/>
          <p:cNvSpPr txBox="1"/>
          <p:nvPr/>
        </p:nvSpPr>
        <p:spPr>
          <a:xfrm>
            <a:off x="4249769" y="7405436"/>
            <a:ext cx="54327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a:solidFill>
                  <a:schemeClr val="dk1"/>
                </a:solidFill>
                <a:latin typeface="Marcellus"/>
                <a:ea typeface="Marcellus"/>
                <a:cs typeface="Marcellus"/>
                <a:sym typeface="Marcellus"/>
              </a:rPr>
              <a:t>Instructor: Amytis Saghafi</a:t>
            </a:r>
            <a:endParaRPr sz="3200">
              <a:solidFill>
                <a:schemeClr val="dk1"/>
              </a:solidFill>
              <a:latin typeface="Marcellus"/>
              <a:ea typeface="Marcellus"/>
              <a:cs typeface="Marcellus"/>
              <a:sym typeface="Marcellus"/>
            </a:endParaRPr>
          </a:p>
        </p:txBody>
      </p:sp>
      <p:pic>
        <p:nvPicPr>
          <p:cNvPr id="164" name="Google Shape;164;p1"/>
          <p:cNvPicPr preferRelativeResize="0"/>
          <p:nvPr/>
        </p:nvPicPr>
        <p:blipFill>
          <a:blip r:embed="rId5">
            <a:alphaModFix/>
          </a:blip>
          <a:stretch>
            <a:fillRect/>
          </a:stretch>
        </p:blipFill>
        <p:spPr>
          <a:xfrm>
            <a:off x="2431647" y="8292475"/>
            <a:ext cx="1697149" cy="1697175"/>
          </a:xfrm>
          <a:prstGeom prst="rect">
            <a:avLst/>
          </a:prstGeom>
          <a:noFill/>
          <a:ln>
            <a:noFill/>
          </a:ln>
        </p:spPr>
      </p:pic>
      <p:sp>
        <p:nvSpPr>
          <p:cNvPr id="165" name="Google Shape;165;p1"/>
          <p:cNvSpPr/>
          <p:nvPr/>
        </p:nvSpPr>
        <p:spPr>
          <a:xfrm>
            <a:off x="8079910" y="8363303"/>
            <a:ext cx="2128196" cy="1555518"/>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6">
              <a:alphaModFix/>
            </a:blip>
            <a:stretch>
              <a:fillRect/>
            </a:stretch>
          </a:blipFill>
          <a:ln>
            <a:noFill/>
          </a:ln>
        </p:spPr>
        <p:txBody>
          <a:bodyPr/>
          <a:lstStyle/>
          <a:p>
            <a:endParaRPr lang="en-CA"/>
          </a:p>
        </p:txBody>
      </p:sp>
      <p:sp>
        <p:nvSpPr>
          <p:cNvPr id="166" name="Google Shape;166;p1"/>
          <p:cNvSpPr/>
          <p:nvPr/>
        </p:nvSpPr>
        <p:spPr>
          <a:xfrm>
            <a:off x="6058837" y="8363303"/>
            <a:ext cx="2128196" cy="1555518"/>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7">
              <a:alphaModFix/>
            </a:blip>
            <a:stretch>
              <a:fillRect/>
            </a:stretch>
          </a:blipFill>
          <a:ln>
            <a:noFill/>
          </a:ln>
        </p:spPr>
        <p:txBody>
          <a:bodyPr/>
          <a:lstStyle/>
          <a:p>
            <a:endParaRPr lang="en-CA"/>
          </a:p>
        </p:txBody>
      </p:sp>
      <p:sp>
        <p:nvSpPr>
          <p:cNvPr id="167" name="Google Shape;167;p1"/>
          <p:cNvSpPr/>
          <p:nvPr/>
        </p:nvSpPr>
        <p:spPr>
          <a:xfrm>
            <a:off x="4035601" y="8363303"/>
            <a:ext cx="2128196" cy="1555518"/>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8">
              <a:alphaModFix/>
            </a:blip>
            <a:stretch>
              <a:fillRect/>
            </a:stretch>
          </a:blipFill>
          <a:ln>
            <a:noFill/>
          </a:ln>
        </p:spPr>
        <p:txBody>
          <a:bodyPr/>
          <a:lstStyle/>
          <a:p>
            <a:endParaRPr lang="en-C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
        <p:cNvGrpSpPr/>
        <p:nvPr/>
      </p:nvGrpSpPr>
      <p:grpSpPr>
        <a:xfrm>
          <a:off x="0" y="0"/>
          <a:ext cx="0" cy="0"/>
          <a:chOff x="0" y="0"/>
          <a:chExt cx="0" cy="0"/>
        </a:xfrm>
      </p:grpSpPr>
      <p:sp>
        <p:nvSpPr>
          <p:cNvPr id="172" name="Google Shape;172;g3cf353c04bd_0_0"/>
          <p:cNvSpPr/>
          <p:nvPr/>
        </p:nvSpPr>
        <p:spPr>
          <a:xfrm>
            <a:off x="7102925" y="1486075"/>
            <a:ext cx="9727200" cy="7471200"/>
          </a:xfrm>
          <a:prstGeom prst="roundRect">
            <a:avLst>
              <a:gd name="adj" fmla="val 7241"/>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cxnSp>
        <p:nvCxnSpPr>
          <p:cNvPr id="173" name="Google Shape;173;g3cf353c04bd_0_0"/>
          <p:cNvCxnSpPr/>
          <p:nvPr/>
        </p:nvCxnSpPr>
        <p:spPr>
          <a:xfrm>
            <a:off x="7577369" y="2450475"/>
            <a:ext cx="8781300" cy="0"/>
          </a:xfrm>
          <a:prstGeom prst="straightConnector1">
            <a:avLst/>
          </a:prstGeom>
          <a:noFill/>
          <a:ln w="28575" cap="flat" cmpd="sng">
            <a:solidFill>
              <a:srgbClr val="CD2355"/>
            </a:solidFill>
            <a:prstDash val="solid"/>
            <a:round/>
            <a:headEnd type="none" w="sm" len="sm"/>
            <a:tailEnd type="none" w="sm" len="sm"/>
          </a:ln>
        </p:spPr>
      </p:cxnSp>
      <p:cxnSp>
        <p:nvCxnSpPr>
          <p:cNvPr id="174" name="Google Shape;174;g3cf353c04bd_0_0"/>
          <p:cNvCxnSpPr/>
          <p:nvPr/>
        </p:nvCxnSpPr>
        <p:spPr>
          <a:xfrm>
            <a:off x="7577369" y="3452723"/>
            <a:ext cx="8781300" cy="0"/>
          </a:xfrm>
          <a:prstGeom prst="straightConnector1">
            <a:avLst/>
          </a:prstGeom>
          <a:noFill/>
          <a:ln w="28575" cap="flat" cmpd="sng">
            <a:solidFill>
              <a:srgbClr val="CD2355"/>
            </a:solidFill>
            <a:prstDash val="solid"/>
            <a:round/>
            <a:headEnd type="none" w="sm" len="sm"/>
            <a:tailEnd type="none" w="sm" len="sm"/>
          </a:ln>
        </p:spPr>
      </p:cxnSp>
      <p:cxnSp>
        <p:nvCxnSpPr>
          <p:cNvPr id="175" name="Google Shape;175;g3cf353c04bd_0_0"/>
          <p:cNvCxnSpPr/>
          <p:nvPr/>
        </p:nvCxnSpPr>
        <p:spPr>
          <a:xfrm>
            <a:off x="7577369" y="4384992"/>
            <a:ext cx="8781300" cy="0"/>
          </a:xfrm>
          <a:prstGeom prst="straightConnector1">
            <a:avLst/>
          </a:prstGeom>
          <a:noFill/>
          <a:ln w="28575" cap="flat" cmpd="sng">
            <a:solidFill>
              <a:srgbClr val="CD2355"/>
            </a:solidFill>
            <a:prstDash val="solid"/>
            <a:round/>
            <a:headEnd type="none" w="sm" len="sm"/>
            <a:tailEnd type="none" w="sm" len="sm"/>
          </a:ln>
        </p:spPr>
      </p:cxnSp>
      <p:cxnSp>
        <p:nvCxnSpPr>
          <p:cNvPr id="176" name="Google Shape;176;g3cf353c04bd_0_0"/>
          <p:cNvCxnSpPr/>
          <p:nvPr/>
        </p:nvCxnSpPr>
        <p:spPr>
          <a:xfrm>
            <a:off x="7577369" y="5212291"/>
            <a:ext cx="8781300" cy="0"/>
          </a:xfrm>
          <a:prstGeom prst="straightConnector1">
            <a:avLst/>
          </a:prstGeom>
          <a:noFill/>
          <a:ln w="28575" cap="flat" cmpd="sng">
            <a:solidFill>
              <a:srgbClr val="CD2355"/>
            </a:solidFill>
            <a:prstDash val="solid"/>
            <a:round/>
            <a:headEnd type="none" w="sm" len="sm"/>
            <a:tailEnd type="none" w="sm" len="sm"/>
          </a:ln>
        </p:spPr>
      </p:cxnSp>
      <p:sp>
        <p:nvSpPr>
          <p:cNvPr id="177" name="Google Shape;177;g3cf353c04bd_0_0"/>
          <p:cNvSpPr txBox="1"/>
          <p:nvPr/>
        </p:nvSpPr>
        <p:spPr>
          <a:xfrm>
            <a:off x="7577376" y="1768775"/>
            <a:ext cx="8781300" cy="538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500">
                <a:solidFill>
                  <a:srgbClr val="1B092D"/>
                </a:solidFill>
                <a:latin typeface="Marcellus"/>
                <a:ea typeface="Marcellus"/>
                <a:cs typeface="Marcellus"/>
                <a:sym typeface="Marcellus"/>
              </a:rPr>
              <a:t>What is a Microcontroller?</a:t>
            </a:r>
            <a:endParaRPr sz="100"/>
          </a:p>
        </p:txBody>
      </p:sp>
      <p:sp>
        <p:nvSpPr>
          <p:cNvPr id="178" name="Google Shape;178;g3cf353c04bd_0_0"/>
          <p:cNvSpPr txBox="1"/>
          <p:nvPr/>
        </p:nvSpPr>
        <p:spPr>
          <a:xfrm>
            <a:off x="7577376" y="2701038"/>
            <a:ext cx="8781300" cy="538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500">
                <a:solidFill>
                  <a:srgbClr val="1B092D"/>
                </a:solidFill>
                <a:latin typeface="Marcellus"/>
                <a:ea typeface="Marcellus"/>
                <a:cs typeface="Marcellus"/>
                <a:sym typeface="Marcellus"/>
              </a:rPr>
              <a:t>Microcontroller vs. Single Board Computers</a:t>
            </a:r>
            <a:endParaRPr sz="100"/>
          </a:p>
        </p:txBody>
      </p:sp>
      <p:sp>
        <p:nvSpPr>
          <p:cNvPr id="179" name="Google Shape;179;g3cf353c04bd_0_0"/>
          <p:cNvSpPr txBox="1"/>
          <p:nvPr/>
        </p:nvSpPr>
        <p:spPr>
          <a:xfrm>
            <a:off x="7577369" y="3668291"/>
            <a:ext cx="7054800" cy="538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500">
                <a:solidFill>
                  <a:srgbClr val="1B092D"/>
                </a:solidFill>
                <a:latin typeface="Marcellus"/>
                <a:ea typeface="Marcellus"/>
                <a:cs typeface="Marcellus"/>
                <a:sym typeface="Marcellus"/>
              </a:rPr>
              <a:t>The variety of boards</a:t>
            </a:r>
            <a:endParaRPr sz="100"/>
          </a:p>
        </p:txBody>
      </p:sp>
      <p:sp>
        <p:nvSpPr>
          <p:cNvPr id="180" name="Google Shape;180;g3cf353c04bd_0_0"/>
          <p:cNvSpPr txBox="1"/>
          <p:nvPr/>
        </p:nvSpPr>
        <p:spPr>
          <a:xfrm>
            <a:off x="7577369" y="4530581"/>
            <a:ext cx="7054800" cy="538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500">
                <a:solidFill>
                  <a:srgbClr val="1B092D"/>
                </a:solidFill>
                <a:latin typeface="Marcellus"/>
                <a:ea typeface="Marcellus"/>
                <a:cs typeface="Marcellus"/>
                <a:sym typeface="Marcellus"/>
              </a:rPr>
              <a:t>MicroPython vs C</a:t>
            </a:r>
            <a:endParaRPr sz="100"/>
          </a:p>
        </p:txBody>
      </p:sp>
      <p:sp>
        <p:nvSpPr>
          <p:cNvPr id="181" name="Google Shape;181;g3cf353c04bd_0_0"/>
          <p:cNvSpPr txBox="1"/>
          <p:nvPr/>
        </p:nvSpPr>
        <p:spPr>
          <a:xfrm>
            <a:off x="7577369" y="5392870"/>
            <a:ext cx="7054800" cy="538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500">
                <a:solidFill>
                  <a:srgbClr val="1B092D"/>
                </a:solidFill>
                <a:latin typeface="Marcellus"/>
                <a:ea typeface="Marcellus"/>
                <a:cs typeface="Marcellus"/>
                <a:sym typeface="Marcellus"/>
              </a:rPr>
              <a:t>Software Setup</a:t>
            </a:r>
            <a:endParaRPr sz="3500"/>
          </a:p>
        </p:txBody>
      </p:sp>
      <p:sp>
        <p:nvSpPr>
          <p:cNvPr id="182" name="Google Shape;182;g3cf353c04bd_0_0"/>
          <p:cNvSpPr txBox="1"/>
          <p:nvPr/>
        </p:nvSpPr>
        <p:spPr>
          <a:xfrm>
            <a:off x="1028700" y="1028700"/>
            <a:ext cx="5164500" cy="1508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9800" b="1" i="0" u="none" strike="noStrike" cap="none">
                <a:solidFill>
                  <a:srgbClr val="CD2355"/>
                </a:solidFill>
                <a:latin typeface="Marcellus"/>
                <a:ea typeface="Marcellus"/>
                <a:cs typeface="Marcellus"/>
                <a:sym typeface="Marcellus"/>
              </a:rPr>
              <a:t>Agenda</a:t>
            </a:r>
            <a:endParaRPr sz="2400" b="1">
              <a:solidFill>
                <a:srgbClr val="B03856"/>
              </a:solidFill>
            </a:endParaRPr>
          </a:p>
        </p:txBody>
      </p:sp>
      <p:pic>
        <p:nvPicPr>
          <p:cNvPr id="183" name="Google Shape;183;g3cf353c04bd_0_0" title="berry.png"/>
          <p:cNvPicPr preferRelativeResize="0"/>
          <p:nvPr/>
        </p:nvPicPr>
        <p:blipFill>
          <a:blip r:embed="rId3">
            <a:alphaModFix/>
          </a:blip>
          <a:stretch>
            <a:fillRect/>
          </a:stretch>
        </p:blipFill>
        <p:spPr>
          <a:xfrm rot="2011397">
            <a:off x="16248404" y="8029701"/>
            <a:ext cx="1515964" cy="1515950"/>
          </a:xfrm>
          <a:prstGeom prst="rect">
            <a:avLst/>
          </a:prstGeom>
          <a:noFill/>
          <a:ln>
            <a:noFill/>
          </a:ln>
        </p:spPr>
      </p:pic>
      <p:sp>
        <p:nvSpPr>
          <p:cNvPr id="184" name="Google Shape;184;g3cf353c04bd_0_0"/>
          <p:cNvSpPr txBox="1"/>
          <p:nvPr/>
        </p:nvSpPr>
        <p:spPr>
          <a:xfrm>
            <a:off x="7577376" y="6255175"/>
            <a:ext cx="8781300" cy="538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500">
                <a:solidFill>
                  <a:srgbClr val="1B092D"/>
                </a:solidFill>
                <a:latin typeface="Marcellus"/>
                <a:ea typeface="Marcellus"/>
                <a:cs typeface="Marcellus"/>
                <a:sym typeface="Marcellus"/>
              </a:rPr>
              <a:t>Electronic Basics</a:t>
            </a:r>
            <a:endParaRPr sz="100"/>
          </a:p>
        </p:txBody>
      </p:sp>
      <p:sp>
        <p:nvSpPr>
          <p:cNvPr id="185" name="Google Shape;185;g3cf353c04bd_0_0"/>
          <p:cNvSpPr txBox="1"/>
          <p:nvPr/>
        </p:nvSpPr>
        <p:spPr>
          <a:xfrm>
            <a:off x="7577369" y="6939561"/>
            <a:ext cx="7054800" cy="1948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500">
                <a:solidFill>
                  <a:srgbClr val="1B092D"/>
                </a:solidFill>
                <a:latin typeface="Marcellus"/>
                <a:ea typeface="Marcellus"/>
                <a:cs typeface="Marcellus"/>
                <a:sym typeface="Marcellus"/>
              </a:rPr>
              <a:t>Hands-on Tutorials</a:t>
            </a:r>
            <a:r>
              <a:rPr lang="en-US" sz="4600">
                <a:solidFill>
                  <a:srgbClr val="1B092D"/>
                </a:solidFill>
                <a:latin typeface="Marcellus"/>
                <a:ea typeface="Marcellus"/>
                <a:cs typeface="Marcellus"/>
                <a:sym typeface="Marcellus"/>
              </a:rPr>
              <a:t> </a:t>
            </a:r>
            <a:endParaRPr sz="4600">
              <a:solidFill>
                <a:srgbClr val="1B092D"/>
              </a:solidFill>
              <a:latin typeface="Marcellus"/>
              <a:ea typeface="Marcellus"/>
              <a:cs typeface="Marcellus"/>
              <a:sym typeface="Marcellus"/>
            </a:endParaRPr>
          </a:p>
          <a:p>
            <a:pPr marL="457200" marR="0" lvl="0" indent="-361950" algn="l" rtl="0">
              <a:lnSpc>
                <a:spcPct val="120000"/>
              </a:lnSpc>
              <a:spcBef>
                <a:spcPts val="0"/>
              </a:spcBef>
              <a:spcAft>
                <a:spcPts val="0"/>
              </a:spcAft>
              <a:buClr>
                <a:srgbClr val="1B092D"/>
              </a:buClr>
              <a:buSzPts val="2100"/>
              <a:buFont typeface="Marcellus"/>
              <a:buChar char="-"/>
            </a:pPr>
            <a:r>
              <a:rPr lang="en-US" sz="2100">
                <a:solidFill>
                  <a:srgbClr val="1B092D"/>
                </a:solidFill>
                <a:latin typeface="Marcellus"/>
                <a:ea typeface="Marcellus"/>
                <a:cs typeface="Marcellus"/>
                <a:sym typeface="Marcellus"/>
              </a:rPr>
              <a:t>blinking an LED</a:t>
            </a:r>
            <a:endParaRPr sz="2100">
              <a:solidFill>
                <a:srgbClr val="1B092D"/>
              </a:solidFill>
              <a:latin typeface="Marcellus"/>
              <a:ea typeface="Marcellus"/>
              <a:cs typeface="Marcellus"/>
              <a:sym typeface="Marcellus"/>
            </a:endParaRPr>
          </a:p>
          <a:p>
            <a:pPr marL="457200" marR="0" lvl="0" indent="-361950" algn="l" rtl="0">
              <a:lnSpc>
                <a:spcPct val="120000"/>
              </a:lnSpc>
              <a:spcBef>
                <a:spcPts val="0"/>
              </a:spcBef>
              <a:spcAft>
                <a:spcPts val="0"/>
              </a:spcAft>
              <a:buClr>
                <a:srgbClr val="1B092D"/>
              </a:buClr>
              <a:buSzPts val="2100"/>
              <a:buFont typeface="Marcellus"/>
              <a:buChar char="-"/>
            </a:pPr>
            <a:r>
              <a:rPr lang="en-US" sz="2100">
                <a:solidFill>
                  <a:srgbClr val="1B092D"/>
                </a:solidFill>
                <a:latin typeface="Marcellus"/>
                <a:ea typeface="Marcellus"/>
                <a:cs typeface="Marcellus"/>
                <a:sym typeface="Marcellus"/>
              </a:rPr>
              <a:t>Using a Button</a:t>
            </a:r>
            <a:endParaRPr sz="2100">
              <a:solidFill>
                <a:srgbClr val="1B092D"/>
              </a:solidFill>
              <a:latin typeface="Marcellus"/>
              <a:ea typeface="Marcellus"/>
              <a:cs typeface="Marcellus"/>
              <a:sym typeface="Marcellus"/>
            </a:endParaRPr>
          </a:p>
          <a:p>
            <a:pPr marL="457200" marR="0" lvl="0" indent="-361950" algn="l" rtl="0">
              <a:lnSpc>
                <a:spcPct val="120000"/>
              </a:lnSpc>
              <a:spcBef>
                <a:spcPts val="0"/>
              </a:spcBef>
              <a:spcAft>
                <a:spcPts val="0"/>
              </a:spcAft>
              <a:buClr>
                <a:srgbClr val="1B092D"/>
              </a:buClr>
              <a:buSzPts val="2100"/>
              <a:buFont typeface="Marcellus"/>
              <a:buChar char="-"/>
            </a:pPr>
            <a:r>
              <a:rPr lang="en-US" sz="2100">
                <a:solidFill>
                  <a:srgbClr val="1B092D"/>
                </a:solidFill>
                <a:latin typeface="Marcellus"/>
                <a:ea typeface="Marcellus"/>
                <a:cs typeface="Marcellus"/>
                <a:sym typeface="Marcellus"/>
              </a:rPr>
              <a:t>possibly: PWM and ADC</a:t>
            </a:r>
            <a:endParaRPr sz="2100">
              <a:solidFill>
                <a:srgbClr val="1B092D"/>
              </a:solidFill>
              <a:latin typeface="Marcellus"/>
              <a:ea typeface="Marcellus"/>
              <a:cs typeface="Marcellus"/>
              <a:sym typeface="Marcellus"/>
            </a:endParaRPr>
          </a:p>
        </p:txBody>
      </p:sp>
      <p:cxnSp>
        <p:nvCxnSpPr>
          <p:cNvPr id="186" name="Google Shape;186;g3cf353c04bd_0_0"/>
          <p:cNvCxnSpPr/>
          <p:nvPr/>
        </p:nvCxnSpPr>
        <p:spPr>
          <a:xfrm>
            <a:off x="7575869" y="6109591"/>
            <a:ext cx="8781300" cy="0"/>
          </a:xfrm>
          <a:prstGeom prst="straightConnector1">
            <a:avLst/>
          </a:prstGeom>
          <a:noFill/>
          <a:ln w="28575" cap="flat" cmpd="sng">
            <a:solidFill>
              <a:srgbClr val="CD2355"/>
            </a:solidFill>
            <a:prstDash val="solid"/>
            <a:round/>
            <a:headEnd type="none" w="sm" len="sm"/>
            <a:tailEnd type="none" w="sm" len="sm"/>
          </a:ln>
        </p:spPr>
      </p:cxnSp>
      <p:cxnSp>
        <p:nvCxnSpPr>
          <p:cNvPr id="187" name="Google Shape;187;g3cf353c04bd_0_0"/>
          <p:cNvCxnSpPr/>
          <p:nvPr/>
        </p:nvCxnSpPr>
        <p:spPr>
          <a:xfrm>
            <a:off x="7575869" y="6939541"/>
            <a:ext cx="8781300" cy="0"/>
          </a:xfrm>
          <a:prstGeom prst="straightConnector1">
            <a:avLst/>
          </a:prstGeom>
          <a:noFill/>
          <a:ln w="28575" cap="flat" cmpd="sng">
            <a:solidFill>
              <a:srgbClr val="CD2355"/>
            </a:solidFill>
            <a:prstDash val="solid"/>
            <a:round/>
            <a:headEnd type="none" w="sm" len="sm"/>
            <a:tailEnd type="none" w="sm" len="sm"/>
          </a:ln>
        </p:spPr>
      </p:cxnSp>
      <p:pic>
        <p:nvPicPr>
          <p:cNvPr id="188" name="Google Shape;188;g3cf353c04bd_0_0" title="holding-pico-removebg-preview.png"/>
          <p:cNvPicPr preferRelativeResize="0"/>
          <p:nvPr/>
        </p:nvPicPr>
        <p:blipFill>
          <a:blip r:embed="rId4">
            <a:alphaModFix/>
          </a:blip>
          <a:stretch>
            <a:fillRect/>
          </a:stretch>
        </p:blipFill>
        <p:spPr>
          <a:xfrm flipH="1">
            <a:off x="-2200169" y="3665599"/>
            <a:ext cx="11622244" cy="661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grpSp>
        <p:nvGrpSpPr>
          <p:cNvPr id="193" name="Google Shape;193;p2"/>
          <p:cNvGrpSpPr/>
          <p:nvPr/>
        </p:nvGrpSpPr>
        <p:grpSpPr>
          <a:xfrm>
            <a:off x="718146" y="5147372"/>
            <a:ext cx="16851705" cy="4686282"/>
            <a:chOff x="0" y="-38100"/>
            <a:chExt cx="4438280" cy="1234239"/>
          </a:xfrm>
        </p:grpSpPr>
        <p:sp>
          <p:nvSpPr>
            <p:cNvPr id="194" name="Google Shape;194;p2"/>
            <p:cNvSpPr/>
            <p:nvPr/>
          </p:nvSpPr>
          <p:spPr>
            <a:xfrm>
              <a:off x="0" y="0"/>
              <a:ext cx="4438279" cy="1196139"/>
            </a:xfrm>
            <a:custGeom>
              <a:avLst/>
              <a:gdLst/>
              <a:ahLst/>
              <a:cxnLst/>
              <a:rect l="l" t="t" r="r" b="b"/>
              <a:pathLst>
                <a:path w="4438279" h="1196139" extrusionOk="0">
                  <a:moveTo>
                    <a:pt x="0" y="0"/>
                  </a:moveTo>
                  <a:lnTo>
                    <a:pt x="4438279" y="0"/>
                  </a:lnTo>
                  <a:lnTo>
                    <a:pt x="4438279" y="1196139"/>
                  </a:lnTo>
                  <a:lnTo>
                    <a:pt x="0" y="1196139"/>
                  </a:lnTo>
                  <a:close/>
                </a:path>
              </a:pathLst>
            </a:custGeom>
            <a:solidFill>
              <a:srgbClr val="D9EAD3"/>
            </a:solidFill>
            <a:ln w="57150" cap="sq" cmpd="sng">
              <a:solidFill>
                <a:srgbClr val="65AB68"/>
              </a:solidFill>
              <a:prstDash val="solid"/>
              <a:miter lim="8000"/>
              <a:headEnd type="none" w="sm" len="sm"/>
              <a:tailEnd type="none" w="sm" len="sm"/>
            </a:ln>
          </p:spPr>
          <p:txBody>
            <a:bodyPr/>
            <a:lstStyle/>
            <a:p>
              <a:endParaRPr lang="en-CA"/>
            </a:p>
          </p:txBody>
        </p:sp>
        <p:sp>
          <p:nvSpPr>
            <p:cNvPr id="195" name="Google Shape;195;p2"/>
            <p:cNvSpPr txBox="1"/>
            <p:nvPr/>
          </p:nvSpPr>
          <p:spPr>
            <a:xfrm>
              <a:off x="0" y="-38100"/>
              <a:ext cx="4438280" cy="1234239"/>
            </a:xfrm>
            <a:prstGeom prst="rect">
              <a:avLst/>
            </a:prstGeom>
            <a:solidFill>
              <a:srgbClr val="D9EAD3"/>
            </a:solidFill>
            <a:ln w="9525" cap="flat" cmpd="sng">
              <a:solidFill>
                <a:srgbClr val="65AB68"/>
              </a:solidFill>
              <a:prstDash val="solid"/>
              <a:round/>
              <a:headEnd type="none" w="sm" len="sm"/>
              <a:tailEnd type="none" w="sm" len="sm"/>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6" name="Google Shape;196;p2"/>
          <p:cNvSpPr txBox="1"/>
          <p:nvPr/>
        </p:nvSpPr>
        <p:spPr>
          <a:xfrm>
            <a:off x="2223063" y="6982165"/>
            <a:ext cx="13842000" cy="1086600"/>
          </a:xfrm>
          <a:prstGeom prst="rect">
            <a:avLst/>
          </a:prstGeom>
          <a:noFill/>
          <a:ln>
            <a:noFill/>
          </a:ln>
        </p:spPr>
        <p:txBody>
          <a:bodyPr spcFirstLastPara="1" wrap="square" lIns="50800" tIns="50800" rIns="50800" bIns="50800" anchor="ctr" anchorCtr="0">
            <a:noAutofit/>
          </a:bodyPr>
          <a:lstStyle/>
          <a:p>
            <a:pPr marL="0" marR="0" lvl="0" indent="0" algn="ctr" rtl="0">
              <a:lnSpc>
                <a:spcPct val="139977"/>
              </a:lnSpc>
              <a:spcBef>
                <a:spcPts val="0"/>
              </a:spcBef>
              <a:spcAft>
                <a:spcPts val="0"/>
              </a:spcAft>
              <a:buNone/>
            </a:pPr>
            <a:r>
              <a:rPr lang="en-US" sz="6100" b="1">
                <a:solidFill>
                  <a:srgbClr val="242424"/>
                </a:solidFill>
                <a:latin typeface="Marcellus"/>
                <a:ea typeface="Marcellus"/>
                <a:cs typeface="Marcellus"/>
                <a:sym typeface="Marcellus"/>
              </a:rPr>
              <a:t>a small computer on a single integrated circuit, designed for embedded applications.</a:t>
            </a:r>
            <a:endParaRPr sz="3000">
              <a:latin typeface="Marcellus"/>
              <a:ea typeface="Marcellus"/>
              <a:cs typeface="Marcellus"/>
              <a:sym typeface="Marcellus"/>
            </a:endParaRPr>
          </a:p>
        </p:txBody>
      </p:sp>
      <p:sp>
        <p:nvSpPr>
          <p:cNvPr id="197" name="Google Shape;197;p2"/>
          <p:cNvSpPr/>
          <p:nvPr/>
        </p:nvSpPr>
        <p:spPr>
          <a:xfrm>
            <a:off x="12232810" y="5910870"/>
            <a:ext cx="4862293" cy="886015"/>
          </a:xfrm>
          <a:custGeom>
            <a:avLst/>
            <a:gdLst/>
            <a:ahLst/>
            <a:cxnLst/>
            <a:rect l="l" t="t" r="r" b="b"/>
            <a:pathLst>
              <a:path w="1280604" h="233354" extrusionOk="0">
                <a:moveTo>
                  <a:pt x="0" y="0"/>
                </a:moveTo>
                <a:lnTo>
                  <a:pt x="1280604" y="0"/>
                </a:lnTo>
                <a:lnTo>
                  <a:pt x="1280604" y="233354"/>
                </a:lnTo>
                <a:lnTo>
                  <a:pt x="0" y="233354"/>
                </a:lnTo>
                <a:close/>
              </a:path>
            </a:pathLst>
          </a:custGeom>
          <a:noFill/>
          <a:ln>
            <a:noFill/>
          </a:ln>
        </p:spPr>
        <p:txBody>
          <a:bodyPr/>
          <a:lstStyle/>
          <a:p>
            <a:endParaRPr lang="en-CA"/>
          </a:p>
        </p:txBody>
      </p:sp>
      <p:sp>
        <p:nvSpPr>
          <p:cNvPr id="198" name="Google Shape;198;p2"/>
          <p:cNvSpPr txBox="1"/>
          <p:nvPr/>
        </p:nvSpPr>
        <p:spPr>
          <a:xfrm>
            <a:off x="778949" y="1019175"/>
            <a:ext cx="12143700" cy="3725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b="1">
                <a:solidFill>
                  <a:srgbClr val="CD2355"/>
                </a:solidFill>
                <a:latin typeface="Marcellus"/>
                <a:ea typeface="Marcellus"/>
                <a:cs typeface="Marcellus"/>
                <a:sym typeface="Marcellus"/>
              </a:rPr>
              <a:t>What is a Microcontroller?</a:t>
            </a:r>
            <a:endParaRPr sz="3400">
              <a:solidFill>
                <a:srgbClr val="CD2355"/>
              </a:solidFill>
              <a:latin typeface="Marcellus"/>
              <a:ea typeface="Marcellus"/>
              <a:cs typeface="Marcellus"/>
              <a:sym typeface="Marcellus"/>
            </a:endParaRPr>
          </a:p>
        </p:txBody>
      </p:sp>
      <p:pic>
        <p:nvPicPr>
          <p:cNvPr id="199" name="Google Shape;199;p2" title="mcu.png"/>
          <p:cNvPicPr preferRelativeResize="0"/>
          <p:nvPr/>
        </p:nvPicPr>
        <p:blipFill>
          <a:blip r:embed="rId3">
            <a:alphaModFix/>
          </a:blip>
          <a:stretch>
            <a:fillRect/>
          </a:stretch>
        </p:blipFill>
        <p:spPr>
          <a:xfrm rot="3307828">
            <a:off x="12343146" y="-11902"/>
            <a:ext cx="5787256" cy="57872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cf353c04bd_0_225"/>
          <p:cNvSpPr txBox="1"/>
          <p:nvPr/>
        </p:nvSpPr>
        <p:spPr>
          <a:xfrm>
            <a:off x="2005525" y="4195938"/>
            <a:ext cx="2033700" cy="69270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4500" b="1">
                <a:solidFill>
                  <a:srgbClr val="343A65"/>
                </a:solidFill>
                <a:latin typeface="Marcellus"/>
                <a:ea typeface="Marcellus"/>
                <a:cs typeface="Marcellus"/>
                <a:sym typeface="Marcellus"/>
              </a:rPr>
              <a:t>RAM</a:t>
            </a:r>
            <a:endParaRPr sz="4500">
              <a:solidFill>
                <a:srgbClr val="343A65"/>
              </a:solidFill>
              <a:latin typeface="Marcellus"/>
              <a:ea typeface="Marcellus"/>
              <a:cs typeface="Marcellus"/>
              <a:sym typeface="Marcellus"/>
            </a:endParaRPr>
          </a:p>
        </p:txBody>
      </p:sp>
      <p:grpSp>
        <p:nvGrpSpPr>
          <p:cNvPr id="205" name="Google Shape;205;g3cf353c04bd_0_225"/>
          <p:cNvGrpSpPr/>
          <p:nvPr/>
        </p:nvGrpSpPr>
        <p:grpSpPr>
          <a:xfrm>
            <a:off x="5133150" y="3708925"/>
            <a:ext cx="8082600" cy="4707000"/>
            <a:chOff x="5133150" y="3708925"/>
            <a:chExt cx="8082600" cy="4707000"/>
          </a:xfrm>
        </p:grpSpPr>
        <p:sp>
          <p:nvSpPr>
            <p:cNvPr id="206" name="Google Shape;206;g3cf353c04bd_0_225"/>
            <p:cNvSpPr/>
            <p:nvPr/>
          </p:nvSpPr>
          <p:spPr>
            <a:xfrm>
              <a:off x="5133150" y="3708925"/>
              <a:ext cx="8082600" cy="4707000"/>
            </a:xfrm>
            <a:prstGeom prst="roundRect">
              <a:avLst>
                <a:gd name="adj" fmla="val 1040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07" name="Google Shape;207;g3cf353c04bd_0_225"/>
            <p:cNvSpPr/>
            <p:nvPr/>
          </p:nvSpPr>
          <p:spPr>
            <a:xfrm>
              <a:off x="6820200" y="4196425"/>
              <a:ext cx="4647600" cy="3732000"/>
            </a:xfrm>
            <a:prstGeom prst="roundRect">
              <a:avLst>
                <a:gd name="adj" fmla="val 10407"/>
              </a:avLst>
            </a:prstGeom>
            <a:solidFill>
              <a:srgbClr val="65AB6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08" name="Google Shape;208;g3cf353c04bd_0_225"/>
            <p:cNvSpPr txBox="1"/>
            <p:nvPr/>
          </p:nvSpPr>
          <p:spPr>
            <a:xfrm>
              <a:off x="6820198" y="5519125"/>
              <a:ext cx="4647600" cy="1086600"/>
            </a:xfrm>
            <a:prstGeom prst="rect">
              <a:avLst/>
            </a:prstGeom>
            <a:noFill/>
            <a:ln>
              <a:noFill/>
            </a:ln>
          </p:spPr>
          <p:txBody>
            <a:bodyPr spcFirstLastPara="1" wrap="square" lIns="50800" tIns="50800" rIns="50800" bIns="50800" anchor="ctr" anchorCtr="0">
              <a:noAutofit/>
            </a:bodyPr>
            <a:lstStyle/>
            <a:p>
              <a:pPr marL="0" marR="0" lvl="0" indent="0" algn="ctr" rtl="0">
                <a:lnSpc>
                  <a:spcPct val="139977"/>
                </a:lnSpc>
                <a:spcBef>
                  <a:spcPts val="0"/>
                </a:spcBef>
                <a:spcAft>
                  <a:spcPts val="0"/>
                </a:spcAft>
                <a:buNone/>
              </a:pPr>
              <a:r>
                <a:rPr lang="en-US" sz="6100" b="1">
                  <a:solidFill>
                    <a:srgbClr val="242424"/>
                  </a:solidFill>
                  <a:latin typeface="Marcellus"/>
                  <a:ea typeface="Marcellus"/>
                  <a:cs typeface="Marcellus"/>
                  <a:sym typeface="Marcellus"/>
                </a:rPr>
                <a:t>Central Processing Unit</a:t>
              </a:r>
              <a:endParaRPr sz="3000">
                <a:latin typeface="Marcellus"/>
                <a:ea typeface="Marcellus"/>
                <a:cs typeface="Marcellus"/>
                <a:sym typeface="Marcellus"/>
              </a:endParaRPr>
            </a:p>
          </p:txBody>
        </p:sp>
      </p:grpSp>
      <p:grpSp>
        <p:nvGrpSpPr>
          <p:cNvPr id="209" name="Google Shape;209;g3cf353c04bd_0_225"/>
          <p:cNvGrpSpPr/>
          <p:nvPr/>
        </p:nvGrpSpPr>
        <p:grpSpPr>
          <a:xfrm>
            <a:off x="5133149" y="4793514"/>
            <a:ext cx="2033832" cy="699986"/>
            <a:chOff x="5133149" y="4793514"/>
            <a:chExt cx="2033832" cy="699986"/>
          </a:xfrm>
        </p:grpSpPr>
        <p:sp>
          <p:nvSpPr>
            <p:cNvPr id="210" name="Google Shape;210;g3cf353c04bd_0_225"/>
            <p:cNvSpPr/>
            <p:nvPr/>
          </p:nvSpPr>
          <p:spPr>
            <a:xfrm>
              <a:off x="6278460" y="4793517"/>
              <a:ext cx="888522" cy="699983"/>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3">
                <a:alphaModFix/>
              </a:blip>
              <a:stretch>
                <a:fillRect/>
              </a:stretch>
            </a:blipFill>
            <a:ln>
              <a:noFill/>
            </a:ln>
          </p:spPr>
          <p:txBody>
            <a:bodyPr/>
            <a:lstStyle/>
            <a:p>
              <a:endParaRPr lang="en-CA"/>
            </a:p>
          </p:txBody>
        </p:sp>
        <p:sp>
          <p:nvSpPr>
            <p:cNvPr id="211" name="Google Shape;211;g3cf353c04bd_0_225"/>
            <p:cNvSpPr/>
            <p:nvPr/>
          </p:nvSpPr>
          <p:spPr>
            <a:xfrm flipH="1">
              <a:off x="5133149" y="4793514"/>
              <a:ext cx="888522" cy="699983"/>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3">
                <a:alphaModFix/>
              </a:blip>
              <a:stretch>
                <a:fillRect/>
              </a:stretch>
            </a:blipFill>
            <a:ln>
              <a:noFill/>
            </a:ln>
          </p:spPr>
          <p:txBody>
            <a:bodyPr/>
            <a:lstStyle/>
            <a:p>
              <a:endParaRPr lang="en-CA"/>
            </a:p>
          </p:txBody>
        </p:sp>
      </p:grpSp>
      <p:grpSp>
        <p:nvGrpSpPr>
          <p:cNvPr id="212" name="Google Shape;212;g3cf353c04bd_0_225"/>
          <p:cNvGrpSpPr/>
          <p:nvPr/>
        </p:nvGrpSpPr>
        <p:grpSpPr>
          <a:xfrm>
            <a:off x="5133149" y="6604714"/>
            <a:ext cx="2033832" cy="699986"/>
            <a:chOff x="5133149" y="4793514"/>
            <a:chExt cx="2033832" cy="699986"/>
          </a:xfrm>
        </p:grpSpPr>
        <p:sp>
          <p:nvSpPr>
            <p:cNvPr id="213" name="Google Shape;213;g3cf353c04bd_0_225"/>
            <p:cNvSpPr/>
            <p:nvPr/>
          </p:nvSpPr>
          <p:spPr>
            <a:xfrm>
              <a:off x="6278460" y="4793517"/>
              <a:ext cx="888522" cy="699983"/>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3">
                <a:alphaModFix/>
              </a:blip>
              <a:stretch>
                <a:fillRect/>
              </a:stretch>
            </a:blipFill>
            <a:ln>
              <a:noFill/>
            </a:ln>
          </p:spPr>
          <p:txBody>
            <a:bodyPr/>
            <a:lstStyle/>
            <a:p>
              <a:endParaRPr lang="en-CA"/>
            </a:p>
          </p:txBody>
        </p:sp>
        <p:sp>
          <p:nvSpPr>
            <p:cNvPr id="214" name="Google Shape;214;g3cf353c04bd_0_225"/>
            <p:cNvSpPr/>
            <p:nvPr/>
          </p:nvSpPr>
          <p:spPr>
            <a:xfrm flipH="1">
              <a:off x="5133149" y="4793514"/>
              <a:ext cx="888522" cy="699983"/>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3">
                <a:alphaModFix/>
              </a:blip>
              <a:stretch>
                <a:fillRect/>
              </a:stretch>
            </a:blipFill>
            <a:ln>
              <a:noFill/>
            </a:ln>
          </p:spPr>
          <p:txBody>
            <a:bodyPr/>
            <a:lstStyle/>
            <a:p>
              <a:endParaRPr lang="en-CA"/>
            </a:p>
          </p:txBody>
        </p:sp>
      </p:grpSp>
      <p:grpSp>
        <p:nvGrpSpPr>
          <p:cNvPr id="215" name="Google Shape;215;g3cf353c04bd_0_225"/>
          <p:cNvGrpSpPr/>
          <p:nvPr/>
        </p:nvGrpSpPr>
        <p:grpSpPr>
          <a:xfrm>
            <a:off x="11181924" y="4806827"/>
            <a:ext cx="2033832" cy="699986"/>
            <a:chOff x="5133149" y="4793514"/>
            <a:chExt cx="2033832" cy="699986"/>
          </a:xfrm>
        </p:grpSpPr>
        <p:sp>
          <p:nvSpPr>
            <p:cNvPr id="216" name="Google Shape;216;g3cf353c04bd_0_225"/>
            <p:cNvSpPr/>
            <p:nvPr/>
          </p:nvSpPr>
          <p:spPr>
            <a:xfrm>
              <a:off x="6278460" y="4793517"/>
              <a:ext cx="888522" cy="699983"/>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3">
                <a:alphaModFix/>
              </a:blip>
              <a:stretch>
                <a:fillRect/>
              </a:stretch>
            </a:blipFill>
            <a:ln>
              <a:noFill/>
            </a:ln>
          </p:spPr>
          <p:txBody>
            <a:bodyPr/>
            <a:lstStyle/>
            <a:p>
              <a:endParaRPr lang="en-CA"/>
            </a:p>
          </p:txBody>
        </p:sp>
        <p:sp>
          <p:nvSpPr>
            <p:cNvPr id="217" name="Google Shape;217;g3cf353c04bd_0_225"/>
            <p:cNvSpPr/>
            <p:nvPr/>
          </p:nvSpPr>
          <p:spPr>
            <a:xfrm flipH="1">
              <a:off x="5133149" y="4793514"/>
              <a:ext cx="888522" cy="699983"/>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3">
                <a:alphaModFix/>
              </a:blip>
              <a:stretch>
                <a:fillRect/>
              </a:stretch>
            </a:blipFill>
            <a:ln>
              <a:noFill/>
            </a:ln>
          </p:spPr>
          <p:txBody>
            <a:bodyPr/>
            <a:lstStyle/>
            <a:p>
              <a:endParaRPr lang="en-CA"/>
            </a:p>
          </p:txBody>
        </p:sp>
      </p:grpSp>
      <p:grpSp>
        <p:nvGrpSpPr>
          <p:cNvPr id="218" name="Google Shape;218;g3cf353c04bd_0_225"/>
          <p:cNvGrpSpPr/>
          <p:nvPr/>
        </p:nvGrpSpPr>
        <p:grpSpPr>
          <a:xfrm>
            <a:off x="11181924" y="6618027"/>
            <a:ext cx="2033832" cy="699986"/>
            <a:chOff x="5133149" y="4793514"/>
            <a:chExt cx="2033832" cy="699986"/>
          </a:xfrm>
        </p:grpSpPr>
        <p:sp>
          <p:nvSpPr>
            <p:cNvPr id="219" name="Google Shape;219;g3cf353c04bd_0_225"/>
            <p:cNvSpPr/>
            <p:nvPr/>
          </p:nvSpPr>
          <p:spPr>
            <a:xfrm>
              <a:off x="6278460" y="4793517"/>
              <a:ext cx="888522" cy="699983"/>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3">
                <a:alphaModFix/>
              </a:blip>
              <a:stretch>
                <a:fillRect/>
              </a:stretch>
            </a:blipFill>
            <a:ln>
              <a:noFill/>
            </a:ln>
          </p:spPr>
          <p:txBody>
            <a:bodyPr/>
            <a:lstStyle/>
            <a:p>
              <a:endParaRPr lang="en-CA"/>
            </a:p>
          </p:txBody>
        </p:sp>
        <p:sp>
          <p:nvSpPr>
            <p:cNvPr id="220" name="Google Shape;220;g3cf353c04bd_0_225"/>
            <p:cNvSpPr/>
            <p:nvPr/>
          </p:nvSpPr>
          <p:spPr>
            <a:xfrm flipH="1">
              <a:off x="5133149" y="4793514"/>
              <a:ext cx="888522" cy="699983"/>
            </a:xfrm>
            <a:custGeom>
              <a:avLst/>
              <a:gdLst/>
              <a:ahLst/>
              <a:cxnLst/>
              <a:rect l="l" t="t" r="r" b="b"/>
              <a:pathLst>
                <a:path w="2128196" h="1555518" extrusionOk="0">
                  <a:moveTo>
                    <a:pt x="0" y="0"/>
                  </a:moveTo>
                  <a:lnTo>
                    <a:pt x="2128195" y="0"/>
                  </a:lnTo>
                  <a:lnTo>
                    <a:pt x="2128195" y="1555518"/>
                  </a:lnTo>
                  <a:lnTo>
                    <a:pt x="0" y="1555518"/>
                  </a:lnTo>
                  <a:lnTo>
                    <a:pt x="0" y="0"/>
                  </a:lnTo>
                  <a:close/>
                </a:path>
              </a:pathLst>
            </a:custGeom>
            <a:blipFill rotWithShape="1">
              <a:blip r:embed="rId3">
                <a:alphaModFix/>
              </a:blip>
              <a:stretch>
                <a:fillRect/>
              </a:stretch>
            </a:blipFill>
            <a:ln>
              <a:noFill/>
            </a:ln>
          </p:spPr>
          <p:txBody>
            <a:bodyPr/>
            <a:lstStyle/>
            <a:p>
              <a:endParaRPr lang="en-CA"/>
            </a:p>
          </p:txBody>
        </p:sp>
      </p:grpSp>
      <p:sp>
        <p:nvSpPr>
          <p:cNvPr id="221" name="Google Shape;221;g3cf353c04bd_0_225"/>
          <p:cNvSpPr txBox="1"/>
          <p:nvPr/>
        </p:nvSpPr>
        <p:spPr>
          <a:xfrm>
            <a:off x="931351" y="1171575"/>
            <a:ext cx="16791000" cy="1491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100" b="1">
                <a:solidFill>
                  <a:srgbClr val="CD2355"/>
                </a:solidFill>
                <a:latin typeface="Marcellus"/>
                <a:ea typeface="Marcellus"/>
                <a:cs typeface="Marcellus"/>
                <a:sym typeface="Marcellus"/>
              </a:rPr>
              <a:t>Components of a Microcontroller</a:t>
            </a:r>
            <a:endParaRPr sz="8100">
              <a:solidFill>
                <a:srgbClr val="CD2355"/>
              </a:solidFill>
              <a:latin typeface="Marcellus"/>
              <a:ea typeface="Marcellus"/>
              <a:cs typeface="Marcellus"/>
              <a:sym typeface="Marcellus"/>
            </a:endParaRPr>
          </a:p>
        </p:txBody>
      </p:sp>
      <p:sp>
        <p:nvSpPr>
          <p:cNvPr id="222" name="Google Shape;222;g3cf353c04bd_0_225"/>
          <p:cNvSpPr txBox="1"/>
          <p:nvPr/>
        </p:nvSpPr>
        <p:spPr>
          <a:xfrm>
            <a:off x="2005525" y="5712191"/>
            <a:ext cx="2033700" cy="69270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4500" b="1">
                <a:solidFill>
                  <a:srgbClr val="343A65"/>
                </a:solidFill>
                <a:latin typeface="Marcellus"/>
                <a:ea typeface="Marcellus"/>
                <a:cs typeface="Marcellus"/>
                <a:sym typeface="Marcellus"/>
              </a:rPr>
              <a:t>ROM</a:t>
            </a:r>
            <a:endParaRPr sz="4500">
              <a:solidFill>
                <a:srgbClr val="343A65"/>
              </a:solidFill>
              <a:latin typeface="Marcellus"/>
              <a:ea typeface="Marcellus"/>
              <a:cs typeface="Marcellus"/>
              <a:sym typeface="Marcellus"/>
            </a:endParaRPr>
          </a:p>
        </p:txBody>
      </p:sp>
      <p:sp>
        <p:nvSpPr>
          <p:cNvPr id="223" name="Google Shape;223;g3cf353c04bd_0_225"/>
          <p:cNvSpPr txBox="1"/>
          <p:nvPr/>
        </p:nvSpPr>
        <p:spPr>
          <a:xfrm>
            <a:off x="-545665" y="7228445"/>
            <a:ext cx="4584900" cy="69270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4500" b="1">
                <a:solidFill>
                  <a:srgbClr val="343A65"/>
                </a:solidFill>
                <a:latin typeface="Marcellus"/>
                <a:ea typeface="Marcellus"/>
                <a:cs typeface="Marcellus"/>
                <a:sym typeface="Marcellus"/>
              </a:rPr>
              <a:t>I/O Peripherals</a:t>
            </a:r>
            <a:endParaRPr sz="4500">
              <a:solidFill>
                <a:srgbClr val="343A65"/>
              </a:solidFill>
              <a:latin typeface="Marcellus"/>
              <a:ea typeface="Marcellus"/>
              <a:cs typeface="Marcellus"/>
              <a:sym typeface="Marcellus"/>
            </a:endParaRPr>
          </a:p>
        </p:txBody>
      </p:sp>
      <p:sp>
        <p:nvSpPr>
          <p:cNvPr id="224" name="Google Shape;224;g3cf353c04bd_0_225"/>
          <p:cNvSpPr txBox="1"/>
          <p:nvPr/>
        </p:nvSpPr>
        <p:spPr>
          <a:xfrm>
            <a:off x="14309675" y="4195938"/>
            <a:ext cx="2033700" cy="692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500" b="1">
                <a:solidFill>
                  <a:srgbClr val="343A65"/>
                </a:solidFill>
                <a:latin typeface="Marcellus"/>
                <a:ea typeface="Marcellus"/>
                <a:cs typeface="Marcellus"/>
                <a:sym typeface="Marcellus"/>
              </a:rPr>
              <a:t>ADC</a:t>
            </a:r>
            <a:endParaRPr sz="4500">
              <a:solidFill>
                <a:srgbClr val="343A65"/>
              </a:solidFill>
              <a:latin typeface="Marcellus"/>
              <a:ea typeface="Marcellus"/>
              <a:cs typeface="Marcellus"/>
              <a:sym typeface="Marcellus"/>
            </a:endParaRPr>
          </a:p>
        </p:txBody>
      </p:sp>
      <p:sp>
        <p:nvSpPr>
          <p:cNvPr id="225" name="Google Shape;225;g3cf353c04bd_0_225"/>
          <p:cNvSpPr txBox="1"/>
          <p:nvPr/>
        </p:nvSpPr>
        <p:spPr>
          <a:xfrm>
            <a:off x="14309675" y="5702764"/>
            <a:ext cx="2033700" cy="692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500" b="1">
                <a:solidFill>
                  <a:srgbClr val="343A65"/>
                </a:solidFill>
                <a:latin typeface="Marcellus"/>
                <a:ea typeface="Marcellus"/>
                <a:cs typeface="Marcellus"/>
                <a:sym typeface="Marcellus"/>
              </a:rPr>
              <a:t>DAC</a:t>
            </a:r>
            <a:endParaRPr sz="4500">
              <a:solidFill>
                <a:srgbClr val="343A65"/>
              </a:solidFill>
              <a:latin typeface="Marcellus"/>
              <a:ea typeface="Marcellus"/>
              <a:cs typeface="Marcellus"/>
              <a:sym typeface="Marcellus"/>
            </a:endParaRPr>
          </a:p>
        </p:txBody>
      </p:sp>
      <p:sp>
        <p:nvSpPr>
          <p:cNvPr id="226" name="Google Shape;226;g3cf353c04bd_0_225"/>
          <p:cNvSpPr txBox="1"/>
          <p:nvPr/>
        </p:nvSpPr>
        <p:spPr>
          <a:xfrm>
            <a:off x="14309675" y="7209600"/>
            <a:ext cx="2733600" cy="692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500" b="1">
                <a:solidFill>
                  <a:srgbClr val="343A65"/>
                </a:solidFill>
                <a:latin typeface="Marcellus"/>
                <a:ea typeface="Marcellus"/>
                <a:cs typeface="Marcellus"/>
                <a:sym typeface="Marcellus"/>
              </a:rPr>
              <a:t>Serial Port</a:t>
            </a:r>
            <a:endParaRPr sz="4500">
              <a:solidFill>
                <a:srgbClr val="343A65"/>
              </a:solidFill>
              <a:latin typeface="Marcellus"/>
              <a:ea typeface="Marcellus"/>
              <a:cs typeface="Marcellus"/>
              <a:sym typeface="Marcellus"/>
            </a:endParaRPr>
          </a:p>
        </p:txBody>
      </p:sp>
      <p:sp>
        <p:nvSpPr>
          <p:cNvPr id="227" name="Google Shape;227;g3cf353c04bd_0_225"/>
          <p:cNvSpPr/>
          <p:nvPr/>
        </p:nvSpPr>
        <p:spPr>
          <a:xfrm>
            <a:off x="4424172" y="5697178"/>
            <a:ext cx="888522" cy="703872"/>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4">
              <a:alphaModFix/>
            </a:blip>
            <a:stretch>
              <a:fillRect/>
            </a:stretch>
          </a:blipFill>
          <a:ln>
            <a:noFill/>
          </a:ln>
        </p:spPr>
        <p:txBody>
          <a:bodyPr/>
          <a:lstStyle/>
          <a:p>
            <a:endParaRPr lang="en-CA"/>
          </a:p>
        </p:txBody>
      </p:sp>
      <p:sp>
        <p:nvSpPr>
          <p:cNvPr id="228" name="Google Shape;228;g3cf353c04bd_0_225"/>
          <p:cNvSpPr/>
          <p:nvPr/>
        </p:nvSpPr>
        <p:spPr>
          <a:xfrm>
            <a:off x="4424185" y="7222866"/>
            <a:ext cx="888522" cy="703872"/>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4">
              <a:alphaModFix/>
            </a:blip>
            <a:stretch>
              <a:fillRect/>
            </a:stretch>
          </a:blipFill>
          <a:ln>
            <a:noFill/>
          </a:ln>
        </p:spPr>
        <p:txBody>
          <a:bodyPr/>
          <a:lstStyle/>
          <a:p>
            <a:endParaRPr lang="en-CA"/>
          </a:p>
        </p:txBody>
      </p:sp>
      <p:sp>
        <p:nvSpPr>
          <p:cNvPr id="229" name="Google Shape;229;g3cf353c04bd_0_225"/>
          <p:cNvSpPr/>
          <p:nvPr/>
        </p:nvSpPr>
        <p:spPr>
          <a:xfrm>
            <a:off x="4424175" y="4190349"/>
            <a:ext cx="888522" cy="703872"/>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4">
              <a:alphaModFix/>
            </a:blip>
            <a:stretch>
              <a:fillRect/>
            </a:stretch>
          </a:blipFill>
          <a:ln>
            <a:noFill/>
          </a:ln>
        </p:spPr>
        <p:txBody>
          <a:bodyPr/>
          <a:lstStyle/>
          <a:p>
            <a:endParaRPr lang="en-CA"/>
          </a:p>
        </p:txBody>
      </p:sp>
      <p:sp>
        <p:nvSpPr>
          <p:cNvPr id="230" name="Google Shape;230;g3cf353c04bd_0_225"/>
          <p:cNvSpPr/>
          <p:nvPr/>
        </p:nvSpPr>
        <p:spPr>
          <a:xfrm flipH="1">
            <a:off x="13071201" y="4197016"/>
            <a:ext cx="888522" cy="703872"/>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5">
              <a:alphaModFix/>
            </a:blip>
            <a:stretch>
              <a:fillRect/>
            </a:stretch>
          </a:blipFill>
          <a:ln>
            <a:noFill/>
          </a:ln>
        </p:spPr>
        <p:txBody>
          <a:bodyPr/>
          <a:lstStyle/>
          <a:p>
            <a:endParaRPr lang="en-CA"/>
          </a:p>
        </p:txBody>
      </p:sp>
      <p:sp>
        <p:nvSpPr>
          <p:cNvPr id="231" name="Google Shape;231;g3cf353c04bd_0_225"/>
          <p:cNvSpPr/>
          <p:nvPr/>
        </p:nvSpPr>
        <p:spPr>
          <a:xfrm flipH="1">
            <a:off x="13071201" y="5710478"/>
            <a:ext cx="888522" cy="703872"/>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5">
              <a:alphaModFix/>
            </a:blip>
            <a:stretch>
              <a:fillRect/>
            </a:stretch>
          </a:blipFill>
          <a:ln>
            <a:noFill/>
          </a:ln>
        </p:spPr>
        <p:txBody>
          <a:bodyPr/>
          <a:lstStyle/>
          <a:p>
            <a:endParaRPr lang="en-CA"/>
          </a:p>
        </p:txBody>
      </p:sp>
      <p:sp>
        <p:nvSpPr>
          <p:cNvPr id="232" name="Google Shape;232;g3cf353c04bd_0_225"/>
          <p:cNvSpPr/>
          <p:nvPr/>
        </p:nvSpPr>
        <p:spPr>
          <a:xfrm flipH="1">
            <a:off x="13071201" y="7223941"/>
            <a:ext cx="888522" cy="703872"/>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5">
              <a:alphaModFix/>
            </a:blip>
            <a:stretch>
              <a:fillRect/>
            </a:stretch>
          </a:blipFill>
          <a:ln>
            <a:noFill/>
          </a:ln>
        </p:spPr>
        <p:txBody>
          <a:bodyPr/>
          <a:lstStyle/>
          <a:p>
            <a:endParaRPr lang="en-C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grpSp>
        <p:nvGrpSpPr>
          <p:cNvPr id="237" name="Google Shape;237;g3cf353c04bd_0_135"/>
          <p:cNvGrpSpPr/>
          <p:nvPr/>
        </p:nvGrpSpPr>
        <p:grpSpPr>
          <a:xfrm>
            <a:off x="0" y="2521198"/>
            <a:ext cx="18288118" cy="4921710"/>
            <a:chOff x="0" y="-47625"/>
            <a:chExt cx="4816592" cy="1025100"/>
          </a:xfrm>
        </p:grpSpPr>
        <p:sp>
          <p:nvSpPr>
            <p:cNvPr id="238" name="Google Shape;238;g3cf353c04bd_0_135"/>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239" name="Google Shape;239;g3cf353c04bd_0_135"/>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0" name="Google Shape;240;g3cf353c04bd_0_135"/>
          <p:cNvSpPr txBox="1"/>
          <p:nvPr/>
        </p:nvSpPr>
        <p:spPr>
          <a:xfrm>
            <a:off x="542800" y="993500"/>
            <a:ext cx="17202300" cy="1144800"/>
          </a:xfrm>
          <a:prstGeom prst="rect">
            <a:avLst/>
          </a:prstGeom>
          <a:noFill/>
          <a:ln>
            <a:noFill/>
          </a:ln>
        </p:spPr>
        <p:txBody>
          <a:bodyPr spcFirstLastPara="1" wrap="square" lIns="0" tIns="0" rIns="0" bIns="0" anchor="t" anchorCtr="0">
            <a:spAutoFit/>
          </a:bodyPr>
          <a:lstStyle/>
          <a:p>
            <a:pPr marL="0" lvl="0" indent="0" algn="ctr" rtl="0">
              <a:lnSpc>
                <a:spcPct val="120000"/>
              </a:lnSpc>
              <a:spcBef>
                <a:spcPts val="0"/>
              </a:spcBef>
              <a:spcAft>
                <a:spcPts val="0"/>
              </a:spcAft>
              <a:buClr>
                <a:schemeClr val="dk1"/>
              </a:buClr>
              <a:buFont typeface="Arial"/>
              <a:buNone/>
            </a:pPr>
            <a:r>
              <a:rPr lang="en-US" sz="6200" b="1">
                <a:solidFill>
                  <a:srgbClr val="CD2355"/>
                </a:solidFill>
                <a:latin typeface="Marcellus"/>
                <a:ea typeface="Marcellus"/>
                <a:cs typeface="Marcellus"/>
                <a:sym typeface="Marcellus"/>
              </a:rPr>
              <a:t>Microcontroller vs. Single Board Computer</a:t>
            </a:r>
            <a:endParaRPr sz="6200" b="1">
              <a:solidFill>
                <a:srgbClr val="CD2355"/>
              </a:solidFill>
            </a:endParaRPr>
          </a:p>
        </p:txBody>
      </p:sp>
      <p:sp>
        <p:nvSpPr>
          <p:cNvPr id="241" name="Google Shape;241;g3cf353c04bd_0_135"/>
          <p:cNvSpPr txBox="1"/>
          <p:nvPr/>
        </p:nvSpPr>
        <p:spPr>
          <a:xfrm>
            <a:off x="1028725" y="7998779"/>
            <a:ext cx="4393500" cy="1323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Microprocessors</a:t>
            </a:r>
            <a:endParaRPr sz="4300" b="1">
              <a:solidFill>
                <a:srgbClr val="1E1A1B"/>
              </a:solidFill>
              <a:latin typeface="Marcellus"/>
              <a:ea typeface="Marcellus"/>
              <a:cs typeface="Marcellus"/>
              <a:sym typeface="Marcellus"/>
            </a:endParaRPr>
          </a:p>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(MPUs)</a:t>
            </a:r>
            <a:endParaRPr sz="2500">
              <a:latin typeface="Marcellus"/>
              <a:ea typeface="Marcellus"/>
              <a:cs typeface="Marcellus"/>
              <a:sym typeface="Marcellus"/>
            </a:endParaRPr>
          </a:p>
        </p:txBody>
      </p:sp>
      <p:sp>
        <p:nvSpPr>
          <p:cNvPr id="242" name="Google Shape;242;g3cf353c04bd_0_135"/>
          <p:cNvSpPr txBox="1"/>
          <p:nvPr/>
        </p:nvSpPr>
        <p:spPr>
          <a:xfrm>
            <a:off x="6947188" y="7998777"/>
            <a:ext cx="4393500" cy="1323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Microcontrollers </a:t>
            </a:r>
            <a:endParaRPr sz="4300" b="1">
              <a:solidFill>
                <a:srgbClr val="1E1A1B"/>
              </a:solidFill>
              <a:latin typeface="Marcellus"/>
              <a:ea typeface="Marcellus"/>
              <a:cs typeface="Marcellus"/>
              <a:sym typeface="Marcellus"/>
            </a:endParaRPr>
          </a:p>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(MCUs)</a:t>
            </a:r>
            <a:endParaRPr sz="4300" b="1" i="0" u="none" strike="noStrike" cap="none">
              <a:solidFill>
                <a:srgbClr val="1E1A1B"/>
              </a:solidFill>
              <a:latin typeface="Marcellus"/>
              <a:ea typeface="Marcellus"/>
              <a:cs typeface="Marcellus"/>
              <a:sym typeface="Marcellus"/>
            </a:endParaRPr>
          </a:p>
        </p:txBody>
      </p:sp>
      <p:sp>
        <p:nvSpPr>
          <p:cNvPr id="243" name="Google Shape;243;g3cf353c04bd_0_135"/>
          <p:cNvSpPr txBox="1"/>
          <p:nvPr/>
        </p:nvSpPr>
        <p:spPr>
          <a:xfrm>
            <a:off x="12865675" y="7667725"/>
            <a:ext cx="4804200" cy="1985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Single Board Computers </a:t>
            </a:r>
            <a:endParaRPr sz="4300" b="1">
              <a:solidFill>
                <a:srgbClr val="1E1A1B"/>
              </a:solidFill>
              <a:latin typeface="Marcellus"/>
              <a:ea typeface="Marcellus"/>
              <a:cs typeface="Marcellus"/>
              <a:sym typeface="Marcellus"/>
            </a:endParaRPr>
          </a:p>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(SBC)</a:t>
            </a:r>
            <a:endParaRPr sz="2500">
              <a:latin typeface="Marcellus"/>
              <a:ea typeface="Marcellus"/>
              <a:cs typeface="Marcellus"/>
              <a:sym typeface="Marcellus"/>
            </a:endParaRPr>
          </a:p>
        </p:txBody>
      </p:sp>
      <p:pic>
        <p:nvPicPr>
          <p:cNvPr id="244" name="Google Shape;244;g3cf353c04bd_0_135" title="MPU1.png"/>
          <p:cNvPicPr preferRelativeResize="0"/>
          <p:nvPr/>
        </p:nvPicPr>
        <p:blipFill>
          <a:blip r:embed="rId3">
            <a:alphaModFix/>
          </a:blip>
          <a:stretch>
            <a:fillRect/>
          </a:stretch>
        </p:blipFill>
        <p:spPr>
          <a:xfrm>
            <a:off x="1028725" y="2830388"/>
            <a:ext cx="4393500" cy="4393500"/>
          </a:xfrm>
          <a:prstGeom prst="rect">
            <a:avLst/>
          </a:prstGeom>
          <a:noFill/>
          <a:ln>
            <a:noFill/>
          </a:ln>
        </p:spPr>
      </p:pic>
      <p:pic>
        <p:nvPicPr>
          <p:cNvPr id="245" name="Google Shape;245;g3cf353c04bd_0_135" title="pic.png"/>
          <p:cNvPicPr preferRelativeResize="0"/>
          <p:nvPr/>
        </p:nvPicPr>
        <p:blipFill>
          <a:blip r:embed="rId4">
            <a:alphaModFix/>
          </a:blip>
          <a:stretch>
            <a:fillRect/>
          </a:stretch>
        </p:blipFill>
        <p:spPr>
          <a:xfrm rot="-2424831">
            <a:off x="6080149" y="3305594"/>
            <a:ext cx="5241952" cy="3352913"/>
          </a:xfrm>
          <a:prstGeom prst="rect">
            <a:avLst/>
          </a:prstGeom>
          <a:noFill/>
          <a:ln>
            <a:noFill/>
          </a:ln>
        </p:spPr>
      </p:pic>
      <p:pic>
        <p:nvPicPr>
          <p:cNvPr id="246" name="Google Shape;246;g3cf353c04bd_0_135" title="beaglebone-black-listing.png"/>
          <p:cNvPicPr preferRelativeResize="0"/>
          <p:nvPr/>
        </p:nvPicPr>
        <p:blipFill>
          <a:blip r:embed="rId5">
            <a:alphaModFix/>
          </a:blip>
          <a:stretch>
            <a:fillRect/>
          </a:stretch>
        </p:blipFill>
        <p:spPr>
          <a:xfrm>
            <a:off x="11980013" y="2831688"/>
            <a:ext cx="6164826" cy="46236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grpSp>
        <p:nvGrpSpPr>
          <p:cNvPr id="251" name="Google Shape;251;g3cf353c04bd_2_116"/>
          <p:cNvGrpSpPr/>
          <p:nvPr/>
        </p:nvGrpSpPr>
        <p:grpSpPr>
          <a:xfrm>
            <a:off x="42863" y="3359398"/>
            <a:ext cx="18288118" cy="4921710"/>
            <a:chOff x="0" y="-47625"/>
            <a:chExt cx="4816592" cy="1025100"/>
          </a:xfrm>
        </p:grpSpPr>
        <p:sp>
          <p:nvSpPr>
            <p:cNvPr id="252" name="Google Shape;252;g3cf353c04bd_2_116"/>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253" name="Google Shape;253;g3cf353c04bd_2_116"/>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4" name="Google Shape;254;g3cf353c04bd_2_116"/>
          <p:cNvSpPr txBox="1"/>
          <p:nvPr/>
        </p:nvSpPr>
        <p:spPr>
          <a:xfrm>
            <a:off x="542800" y="310675"/>
            <a:ext cx="17202300" cy="1985700"/>
          </a:xfrm>
          <a:prstGeom prst="rect">
            <a:avLst/>
          </a:prstGeom>
          <a:noFill/>
          <a:ln>
            <a:noFill/>
          </a:ln>
        </p:spPr>
        <p:txBody>
          <a:bodyPr spcFirstLastPara="1" wrap="square" lIns="0" tIns="0" rIns="0" bIns="0" anchor="t" anchorCtr="0">
            <a:spAutoFit/>
          </a:bodyPr>
          <a:lstStyle/>
          <a:p>
            <a:pPr marL="0" lvl="0" indent="0" algn="ctr" rtl="0">
              <a:lnSpc>
                <a:spcPct val="120000"/>
              </a:lnSpc>
              <a:spcBef>
                <a:spcPts val="0"/>
              </a:spcBef>
              <a:spcAft>
                <a:spcPts val="0"/>
              </a:spcAft>
              <a:buClr>
                <a:schemeClr val="dk1"/>
              </a:buClr>
              <a:buFont typeface="Arial"/>
              <a:buNone/>
            </a:pPr>
            <a:r>
              <a:rPr lang="en-US" sz="12900" b="1">
                <a:solidFill>
                  <a:srgbClr val="CD2355"/>
                </a:solidFill>
                <a:latin typeface="Marcellus"/>
                <a:ea typeface="Marcellus"/>
                <a:cs typeface="Marcellus"/>
                <a:sym typeface="Marcellus"/>
              </a:rPr>
              <a:t>Variety of Boards</a:t>
            </a:r>
            <a:endParaRPr sz="10800" b="1">
              <a:solidFill>
                <a:srgbClr val="CD2355"/>
              </a:solidFill>
            </a:endParaRPr>
          </a:p>
        </p:txBody>
      </p:sp>
      <p:sp>
        <p:nvSpPr>
          <p:cNvPr id="255" name="Google Shape;255;g3cf353c04bd_2_116"/>
          <p:cNvSpPr txBox="1"/>
          <p:nvPr/>
        </p:nvSpPr>
        <p:spPr>
          <a:xfrm>
            <a:off x="1071588" y="8505929"/>
            <a:ext cx="4393500" cy="661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Arduino</a:t>
            </a:r>
            <a:endParaRPr sz="2500">
              <a:latin typeface="Marcellus"/>
              <a:ea typeface="Marcellus"/>
              <a:cs typeface="Marcellus"/>
              <a:sym typeface="Marcellus"/>
            </a:endParaRPr>
          </a:p>
        </p:txBody>
      </p:sp>
      <p:sp>
        <p:nvSpPr>
          <p:cNvPr id="256" name="Google Shape;256;g3cf353c04bd_2_116"/>
          <p:cNvSpPr txBox="1"/>
          <p:nvPr/>
        </p:nvSpPr>
        <p:spPr>
          <a:xfrm>
            <a:off x="6990163" y="8505927"/>
            <a:ext cx="4393500" cy="661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Raspberry Pi Pico</a:t>
            </a:r>
            <a:endParaRPr sz="4300" b="1" i="0" u="none" strike="noStrike" cap="none">
              <a:solidFill>
                <a:srgbClr val="1E1A1B"/>
              </a:solidFill>
              <a:latin typeface="Marcellus"/>
              <a:ea typeface="Marcellus"/>
              <a:cs typeface="Marcellus"/>
              <a:sym typeface="Marcellus"/>
            </a:endParaRPr>
          </a:p>
        </p:txBody>
      </p:sp>
      <p:sp>
        <p:nvSpPr>
          <p:cNvPr id="257" name="Google Shape;257;g3cf353c04bd_2_116"/>
          <p:cNvSpPr txBox="1"/>
          <p:nvPr/>
        </p:nvSpPr>
        <p:spPr>
          <a:xfrm>
            <a:off x="12497963" y="8505925"/>
            <a:ext cx="4804200" cy="661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300" b="1">
                <a:solidFill>
                  <a:srgbClr val="1E1A1B"/>
                </a:solidFill>
                <a:latin typeface="Marcellus"/>
                <a:ea typeface="Marcellus"/>
                <a:cs typeface="Marcellus"/>
                <a:sym typeface="Marcellus"/>
              </a:rPr>
              <a:t>STM 32</a:t>
            </a:r>
            <a:endParaRPr sz="2500">
              <a:latin typeface="Marcellus"/>
              <a:ea typeface="Marcellus"/>
              <a:cs typeface="Marcellus"/>
              <a:sym typeface="Marcellus"/>
            </a:endParaRPr>
          </a:p>
        </p:txBody>
      </p:sp>
      <p:pic>
        <p:nvPicPr>
          <p:cNvPr id="258" name="Google Shape;258;g3cf353c04bd_2_116" title="arduino-uno-rev3.jpg"/>
          <p:cNvPicPr preferRelativeResize="0"/>
          <p:nvPr/>
        </p:nvPicPr>
        <p:blipFill rotWithShape="1">
          <a:blip r:embed="rId3">
            <a:alphaModFix/>
          </a:blip>
          <a:srcRect t="10005" b="11888"/>
          <a:stretch/>
        </p:blipFill>
        <p:spPr>
          <a:xfrm rot="1920326">
            <a:off x="644319" y="3815741"/>
            <a:ext cx="5248037" cy="4099169"/>
          </a:xfrm>
          <a:prstGeom prst="rect">
            <a:avLst/>
          </a:prstGeom>
          <a:noFill/>
          <a:ln>
            <a:noFill/>
          </a:ln>
        </p:spPr>
      </p:pic>
      <p:pic>
        <p:nvPicPr>
          <p:cNvPr id="259" name="Google Shape;259;g3cf353c04bd_2_116" title="pic.png"/>
          <p:cNvPicPr preferRelativeResize="0"/>
          <p:nvPr/>
        </p:nvPicPr>
        <p:blipFill rotWithShape="1">
          <a:blip r:embed="rId4">
            <a:alphaModFix/>
          </a:blip>
          <a:srcRect l="7140" t="8105" r="7346" b="4175"/>
          <a:stretch/>
        </p:blipFill>
        <p:spPr>
          <a:xfrm rot="-3285154">
            <a:off x="6796976" y="4297124"/>
            <a:ext cx="4779672" cy="3136428"/>
          </a:xfrm>
          <a:prstGeom prst="rect">
            <a:avLst/>
          </a:prstGeom>
          <a:noFill/>
          <a:ln>
            <a:noFill/>
          </a:ln>
        </p:spPr>
      </p:pic>
      <p:pic>
        <p:nvPicPr>
          <p:cNvPr id="260" name="Google Shape;260;g3cf353c04bd_2_116"/>
          <p:cNvPicPr preferRelativeResize="0"/>
          <p:nvPr/>
        </p:nvPicPr>
        <p:blipFill rotWithShape="1">
          <a:blip r:embed="rId5">
            <a:alphaModFix/>
          </a:blip>
          <a:srcRect l="16053" t="14537" r="14752" b="12010"/>
          <a:stretch/>
        </p:blipFill>
        <p:spPr>
          <a:xfrm>
            <a:off x="12497963" y="3149700"/>
            <a:ext cx="4804201" cy="51002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grpSp>
        <p:nvGrpSpPr>
          <p:cNvPr id="265" name="Google Shape;265;g3cf353c04bd_2_24"/>
          <p:cNvGrpSpPr/>
          <p:nvPr/>
        </p:nvGrpSpPr>
        <p:grpSpPr>
          <a:xfrm>
            <a:off x="0" y="2521198"/>
            <a:ext cx="18288118" cy="4921710"/>
            <a:chOff x="0" y="-47625"/>
            <a:chExt cx="4816592" cy="1025100"/>
          </a:xfrm>
        </p:grpSpPr>
        <p:sp>
          <p:nvSpPr>
            <p:cNvPr id="266" name="Google Shape;266;g3cf353c04bd_2_24"/>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267" name="Google Shape;267;g3cf353c04bd_2_24"/>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8" name="Google Shape;268;g3cf353c04bd_2_24"/>
          <p:cNvSpPr/>
          <p:nvPr/>
        </p:nvSpPr>
        <p:spPr>
          <a:xfrm>
            <a:off x="495052" y="1422976"/>
            <a:ext cx="7795379" cy="7441044"/>
          </a:xfrm>
          <a:custGeom>
            <a:avLst/>
            <a:gdLst/>
            <a:ahLst/>
            <a:cxnLst/>
            <a:rect l="l" t="t" r="r" b="b"/>
            <a:pathLst>
              <a:path w="6162355" h="6162355" extrusionOk="0">
                <a:moveTo>
                  <a:pt x="0" y="0"/>
                </a:moveTo>
                <a:lnTo>
                  <a:pt x="6162356" y="0"/>
                </a:lnTo>
                <a:lnTo>
                  <a:pt x="6162356" y="6162356"/>
                </a:lnTo>
                <a:lnTo>
                  <a:pt x="0" y="6162356"/>
                </a:lnTo>
                <a:lnTo>
                  <a:pt x="0" y="0"/>
                </a:lnTo>
                <a:close/>
              </a:path>
            </a:pathLst>
          </a:custGeom>
          <a:blipFill rotWithShape="1">
            <a:blip r:embed="rId3">
              <a:alphaModFix/>
            </a:blip>
            <a:stretch>
              <a:fillRect/>
            </a:stretch>
          </a:blipFill>
          <a:ln>
            <a:noFill/>
          </a:ln>
        </p:spPr>
        <p:txBody>
          <a:bodyPr/>
          <a:lstStyle/>
          <a:p>
            <a:endParaRPr lang="en-CA"/>
          </a:p>
        </p:txBody>
      </p:sp>
      <p:sp>
        <p:nvSpPr>
          <p:cNvPr id="269" name="Google Shape;269;g3cf353c04bd_2_24"/>
          <p:cNvSpPr/>
          <p:nvPr/>
        </p:nvSpPr>
        <p:spPr>
          <a:xfrm>
            <a:off x="9928251" y="1422977"/>
            <a:ext cx="7795379" cy="7441044"/>
          </a:xfrm>
          <a:custGeom>
            <a:avLst/>
            <a:gdLst/>
            <a:ahLst/>
            <a:cxnLst/>
            <a:rect l="l" t="t" r="r" b="b"/>
            <a:pathLst>
              <a:path w="6162355" h="6162355" extrusionOk="0">
                <a:moveTo>
                  <a:pt x="0" y="0"/>
                </a:moveTo>
                <a:lnTo>
                  <a:pt x="6162355" y="0"/>
                </a:lnTo>
                <a:lnTo>
                  <a:pt x="6162355" y="6162356"/>
                </a:lnTo>
                <a:lnTo>
                  <a:pt x="0" y="6162356"/>
                </a:lnTo>
                <a:lnTo>
                  <a:pt x="0" y="0"/>
                </a:lnTo>
                <a:close/>
              </a:path>
            </a:pathLst>
          </a:custGeom>
          <a:blipFill rotWithShape="1">
            <a:blip r:embed="rId4">
              <a:alphaModFix/>
            </a:blip>
            <a:stretch>
              <a:fillRect/>
            </a:stretch>
          </a:blipFill>
          <a:ln>
            <a:noFill/>
          </a:ln>
        </p:spPr>
        <p:txBody>
          <a:bodyPr/>
          <a:lstStyle/>
          <a:p>
            <a:endParaRPr lang="en-CA"/>
          </a:p>
        </p:txBody>
      </p:sp>
      <p:sp>
        <p:nvSpPr>
          <p:cNvPr id="270" name="Google Shape;270;g3cf353c04bd_2_24"/>
          <p:cNvSpPr txBox="1"/>
          <p:nvPr/>
        </p:nvSpPr>
        <p:spPr>
          <a:xfrm>
            <a:off x="495075" y="2235950"/>
            <a:ext cx="5946000" cy="1000500"/>
          </a:xfrm>
          <a:prstGeom prst="rect">
            <a:avLst/>
          </a:prstGeom>
          <a:noFill/>
          <a:ln>
            <a:noFill/>
          </a:ln>
        </p:spPr>
        <p:txBody>
          <a:bodyPr spcFirstLastPara="1" wrap="square" lIns="274300" tIns="0" rIns="0" bIns="0" anchor="t" anchorCtr="0">
            <a:spAutoFit/>
          </a:bodyPr>
          <a:lstStyle/>
          <a:p>
            <a:pPr marL="0" marR="0" lvl="0" indent="0" algn="l" rtl="0">
              <a:lnSpc>
                <a:spcPct val="120000"/>
              </a:lnSpc>
              <a:spcBef>
                <a:spcPts val="0"/>
              </a:spcBef>
              <a:spcAft>
                <a:spcPts val="0"/>
              </a:spcAft>
              <a:buNone/>
            </a:pPr>
            <a:r>
              <a:rPr lang="en-US" sz="6500" b="1">
                <a:solidFill>
                  <a:srgbClr val="231F20"/>
                </a:solidFill>
                <a:latin typeface="Marcellus"/>
                <a:ea typeface="Marcellus"/>
                <a:cs typeface="Marcellus"/>
                <a:sym typeface="Marcellus"/>
              </a:rPr>
              <a:t>MicroPython</a:t>
            </a:r>
            <a:endParaRPr>
              <a:latin typeface="Marcellus"/>
              <a:ea typeface="Marcellus"/>
              <a:cs typeface="Marcellus"/>
              <a:sym typeface="Marcellus"/>
            </a:endParaRPr>
          </a:p>
        </p:txBody>
      </p:sp>
      <p:sp>
        <p:nvSpPr>
          <p:cNvPr id="271" name="Google Shape;271;g3cf353c04bd_2_24"/>
          <p:cNvSpPr txBox="1"/>
          <p:nvPr/>
        </p:nvSpPr>
        <p:spPr>
          <a:xfrm>
            <a:off x="495075" y="3929250"/>
            <a:ext cx="7795500" cy="3047700"/>
          </a:xfrm>
          <a:prstGeom prst="rect">
            <a:avLst/>
          </a:prstGeom>
          <a:noFill/>
          <a:ln>
            <a:noFill/>
          </a:ln>
        </p:spPr>
        <p:txBody>
          <a:bodyPr spcFirstLastPara="1" wrap="square" lIns="274300" tIns="0" rIns="0" bIns="0" anchor="t" anchorCtr="0">
            <a:spAutoFit/>
          </a:bodyPr>
          <a:lstStyle/>
          <a:p>
            <a:pPr marL="0" marR="0" lvl="0" indent="0" algn="l" rtl="0">
              <a:lnSpc>
                <a:spcPct val="140000"/>
              </a:lnSpc>
              <a:spcBef>
                <a:spcPts val="0"/>
              </a:spcBef>
              <a:spcAft>
                <a:spcPts val="0"/>
              </a:spcAft>
              <a:buNone/>
            </a:pPr>
            <a:r>
              <a:rPr lang="en-US" sz="3000">
                <a:solidFill>
                  <a:srgbClr val="231F20"/>
                </a:solidFill>
                <a:latin typeface="Marcellus"/>
                <a:ea typeface="Marcellus"/>
                <a:cs typeface="Marcellus"/>
                <a:sym typeface="Marcellus"/>
              </a:rPr>
              <a:t>Ease of use:  Easy</a:t>
            </a:r>
            <a:endParaRPr sz="3000">
              <a:solidFill>
                <a:srgbClr val="231F20"/>
              </a:solidFill>
              <a:latin typeface="Marcellus"/>
              <a:ea typeface="Marcellus"/>
              <a:cs typeface="Marcellus"/>
              <a:sym typeface="Marcellus"/>
            </a:endParaRPr>
          </a:p>
          <a:p>
            <a:pPr marL="0" marR="0" lvl="0" indent="0" algn="l" rtl="0">
              <a:lnSpc>
                <a:spcPct val="140000"/>
              </a:lnSpc>
              <a:spcBef>
                <a:spcPts val="0"/>
              </a:spcBef>
              <a:spcAft>
                <a:spcPts val="0"/>
              </a:spcAft>
              <a:buNone/>
            </a:pPr>
            <a:r>
              <a:rPr lang="en-US" sz="3000">
                <a:solidFill>
                  <a:srgbClr val="231F20"/>
                </a:solidFill>
                <a:latin typeface="Marcellus"/>
                <a:ea typeface="Marcellus"/>
                <a:cs typeface="Marcellus"/>
                <a:sym typeface="Marcellus"/>
              </a:rPr>
              <a:t>Setup: Drag-drop UF2</a:t>
            </a:r>
            <a:endParaRPr sz="3000">
              <a:solidFill>
                <a:srgbClr val="231F20"/>
              </a:solidFill>
              <a:latin typeface="Marcellus"/>
              <a:ea typeface="Marcellus"/>
              <a:cs typeface="Marcellus"/>
              <a:sym typeface="Marcellus"/>
            </a:endParaRPr>
          </a:p>
          <a:p>
            <a:pPr marL="0" marR="0" lvl="0" indent="0" algn="l" rtl="0">
              <a:lnSpc>
                <a:spcPct val="140000"/>
              </a:lnSpc>
              <a:spcBef>
                <a:spcPts val="0"/>
              </a:spcBef>
              <a:spcAft>
                <a:spcPts val="0"/>
              </a:spcAft>
              <a:buNone/>
            </a:pPr>
            <a:r>
              <a:rPr lang="en-US" sz="3000">
                <a:solidFill>
                  <a:srgbClr val="231F20"/>
                </a:solidFill>
                <a:latin typeface="Marcellus"/>
                <a:ea typeface="Marcellus"/>
                <a:cs typeface="Marcellus"/>
                <a:sym typeface="Marcellus"/>
              </a:rPr>
              <a:t>Performance: Good enough</a:t>
            </a:r>
            <a:endParaRPr sz="3000">
              <a:solidFill>
                <a:srgbClr val="231F20"/>
              </a:solidFill>
              <a:latin typeface="Marcellus"/>
              <a:ea typeface="Marcellus"/>
              <a:cs typeface="Marcellus"/>
              <a:sym typeface="Marcellus"/>
            </a:endParaRPr>
          </a:p>
          <a:p>
            <a:pPr marL="0" marR="0" lvl="0" indent="0" algn="l" rtl="0">
              <a:lnSpc>
                <a:spcPct val="140000"/>
              </a:lnSpc>
              <a:spcBef>
                <a:spcPts val="0"/>
              </a:spcBef>
              <a:spcAft>
                <a:spcPts val="0"/>
              </a:spcAft>
              <a:buNone/>
            </a:pPr>
            <a:r>
              <a:rPr lang="en-US" sz="3000">
                <a:solidFill>
                  <a:srgbClr val="231F20"/>
                </a:solidFill>
                <a:latin typeface="Marcellus"/>
                <a:ea typeface="Marcellus"/>
                <a:cs typeface="Marcellus"/>
                <a:sym typeface="Marcellus"/>
              </a:rPr>
              <a:t>Hardware access: High-level Abstraction</a:t>
            </a:r>
            <a:endParaRPr sz="3000">
              <a:solidFill>
                <a:srgbClr val="231F20"/>
              </a:solidFill>
              <a:latin typeface="Marcellus"/>
              <a:ea typeface="Marcellus"/>
              <a:cs typeface="Marcellus"/>
              <a:sym typeface="Marcellus"/>
            </a:endParaRPr>
          </a:p>
          <a:p>
            <a:pPr marL="0" marR="0" lvl="0" indent="0" algn="l" rtl="0">
              <a:lnSpc>
                <a:spcPct val="140000"/>
              </a:lnSpc>
              <a:spcBef>
                <a:spcPts val="0"/>
              </a:spcBef>
              <a:spcAft>
                <a:spcPts val="0"/>
              </a:spcAft>
              <a:buNone/>
            </a:pPr>
            <a:r>
              <a:rPr lang="en-US" sz="3000">
                <a:solidFill>
                  <a:srgbClr val="231F20"/>
                </a:solidFill>
                <a:latin typeface="Marcellus"/>
                <a:ea typeface="Marcellus"/>
                <a:cs typeface="Marcellus"/>
                <a:sym typeface="Marcellus"/>
              </a:rPr>
              <a:t>Debugging: REPL / print</a:t>
            </a:r>
            <a:endParaRPr sz="3000">
              <a:solidFill>
                <a:srgbClr val="231F20"/>
              </a:solidFill>
              <a:latin typeface="Marcellus"/>
              <a:ea typeface="Marcellus"/>
              <a:cs typeface="Marcellus"/>
              <a:sym typeface="Marcellus"/>
            </a:endParaRPr>
          </a:p>
        </p:txBody>
      </p:sp>
      <p:sp>
        <p:nvSpPr>
          <p:cNvPr id="272" name="Google Shape;272;g3cf353c04bd_2_24"/>
          <p:cNvSpPr txBox="1"/>
          <p:nvPr/>
        </p:nvSpPr>
        <p:spPr>
          <a:xfrm>
            <a:off x="9945473" y="2235950"/>
            <a:ext cx="7795500" cy="1000500"/>
          </a:xfrm>
          <a:prstGeom prst="rect">
            <a:avLst/>
          </a:prstGeom>
          <a:noFill/>
          <a:ln>
            <a:noFill/>
          </a:ln>
        </p:spPr>
        <p:txBody>
          <a:bodyPr spcFirstLastPara="1" wrap="square" lIns="274300" tIns="0" rIns="0" bIns="0" anchor="t" anchorCtr="0">
            <a:spAutoFit/>
          </a:bodyPr>
          <a:lstStyle/>
          <a:p>
            <a:pPr marL="0" marR="0" lvl="0" indent="0" algn="l" rtl="0">
              <a:lnSpc>
                <a:spcPct val="120000"/>
              </a:lnSpc>
              <a:spcBef>
                <a:spcPts val="0"/>
              </a:spcBef>
              <a:spcAft>
                <a:spcPts val="0"/>
              </a:spcAft>
              <a:buNone/>
            </a:pPr>
            <a:r>
              <a:rPr lang="en-US" sz="6500" b="1">
                <a:solidFill>
                  <a:srgbClr val="231F20"/>
                </a:solidFill>
                <a:latin typeface="Marcellus"/>
                <a:ea typeface="Marcellus"/>
                <a:cs typeface="Marcellus"/>
                <a:sym typeface="Marcellus"/>
              </a:rPr>
              <a:t>C/ C++ </a:t>
            </a:r>
            <a:r>
              <a:rPr lang="en-US" sz="4100" b="1">
                <a:solidFill>
                  <a:srgbClr val="231F20"/>
                </a:solidFill>
                <a:latin typeface="Marcellus"/>
                <a:ea typeface="Marcellus"/>
                <a:cs typeface="Marcellus"/>
                <a:sym typeface="Marcellus"/>
              </a:rPr>
              <a:t>(Pico SDK)</a:t>
            </a:r>
            <a:endParaRPr sz="100">
              <a:latin typeface="Marcellus"/>
              <a:ea typeface="Marcellus"/>
              <a:cs typeface="Marcellus"/>
              <a:sym typeface="Marcellus"/>
            </a:endParaRPr>
          </a:p>
        </p:txBody>
      </p:sp>
      <p:sp>
        <p:nvSpPr>
          <p:cNvPr id="273" name="Google Shape;273;g3cf353c04bd_2_24"/>
          <p:cNvSpPr txBox="1"/>
          <p:nvPr/>
        </p:nvSpPr>
        <p:spPr>
          <a:xfrm>
            <a:off x="9945475" y="3182511"/>
            <a:ext cx="7795500" cy="6010800"/>
          </a:xfrm>
          <a:prstGeom prst="rect">
            <a:avLst/>
          </a:prstGeom>
          <a:noFill/>
          <a:ln>
            <a:noFill/>
          </a:ln>
        </p:spPr>
        <p:txBody>
          <a:bodyPr spcFirstLastPara="1" wrap="square" lIns="27430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3000">
                <a:solidFill>
                  <a:srgbClr val="231F20"/>
                </a:solidFill>
                <a:latin typeface="Marcellus"/>
                <a:ea typeface="Marcellus"/>
                <a:cs typeface="Marcellus"/>
                <a:sym typeface="Marcellus"/>
              </a:rPr>
              <a:t>Ease of Use: Moderate (requires compilation)</a:t>
            </a:r>
            <a:endParaRPr sz="3000">
              <a:solidFill>
                <a:srgbClr val="231F20"/>
              </a:solidFill>
              <a:latin typeface="Marcellus"/>
              <a:ea typeface="Marcellus"/>
              <a:cs typeface="Marcellus"/>
              <a:sym typeface="Marcellus"/>
            </a:endParaRPr>
          </a:p>
          <a:p>
            <a:pPr marL="0" lvl="0" indent="0" algn="l" rtl="0">
              <a:lnSpc>
                <a:spcPct val="115000"/>
              </a:lnSpc>
              <a:spcBef>
                <a:spcPts val="1200"/>
              </a:spcBef>
              <a:spcAft>
                <a:spcPts val="0"/>
              </a:spcAft>
              <a:buClr>
                <a:schemeClr val="dk1"/>
              </a:buClr>
              <a:buSzPts val="1100"/>
              <a:buFont typeface="Arial"/>
              <a:buNone/>
            </a:pPr>
            <a:r>
              <a:rPr lang="en-US" sz="3000">
                <a:solidFill>
                  <a:srgbClr val="231F20"/>
                </a:solidFill>
                <a:latin typeface="Marcellus"/>
                <a:ea typeface="Marcellus"/>
                <a:cs typeface="Marcellus"/>
                <a:sym typeface="Marcellus"/>
              </a:rPr>
              <a:t>Setup Time: Slower (CMake and toolchain setup)</a:t>
            </a:r>
            <a:endParaRPr sz="3000">
              <a:solidFill>
                <a:srgbClr val="231F20"/>
              </a:solidFill>
              <a:latin typeface="Marcellus"/>
              <a:ea typeface="Marcellus"/>
              <a:cs typeface="Marcellus"/>
              <a:sym typeface="Marcellus"/>
            </a:endParaRPr>
          </a:p>
          <a:p>
            <a:pPr marL="0" lvl="0" indent="0" algn="l" rtl="0">
              <a:lnSpc>
                <a:spcPct val="115000"/>
              </a:lnSpc>
              <a:spcBef>
                <a:spcPts val="1200"/>
              </a:spcBef>
              <a:spcAft>
                <a:spcPts val="0"/>
              </a:spcAft>
              <a:buClr>
                <a:schemeClr val="dk1"/>
              </a:buClr>
              <a:buSzPts val="1100"/>
              <a:buFont typeface="Arial"/>
              <a:buNone/>
            </a:pPr>
            <a:r>
              <a:rPr lang="en-US" sz="3000">
                <a:solidFill>
                  <a:srgbClr val="231F20"/>
                </a:solidFill>
                <a:latin typeface="Marcellus"/>
                <a:ea typeface="Marcellus"/>
                <a:cs typeface="Marcellus"/>
                <a:sym typeface="Marcellus"/>
              </a:rPr>
              <a:t>Performance: Max performance (up to ~250× faster)</a:t>
            </a:r>
            <a:endParaRPr sz="3000">
              <a:solidFill>
                <a:srgbClr val="231F20"/>
              </a:solidFill>
              <a:latin typeface="Marcellus"/>
              <a:ea typeface="Marcellus"/>
              <a:cs typeface="Marcellus"/>
              <a:sym typeface="Marcellus"/>
            </a:endParaRPr>
          </a:p>
          <a:p>
            <a:pPr marL="0" lvl="0" indent="0" algn="l" rtl="0">
              <a:lnSpc>
                <a:spcPct val="115000"/>
              </a:lnSpc>
              <a:spcBef>
                <a:spcPts val="1200"/>
              </a:spcBef>
              <a:spcAft>
                <a:spcPts val="0"/>
              </a:spcAft>
              <a:buClr>
                <a:schemeClr val="dk1"/>
              </a:buClr>
              <a:buSzPts val="1100"/>
              <a:buFont typeface="Arial"/>
              <a:buNone/>
            </a:pPr>
            <a:r>
              <a:rPr lang="en-US" sz="3000">
                <a:solidFill>
                  <a:srgbClr val="231F20"/>
                </a:solidFill>
                <a:latin typeface="Marcellus"/>
                <a:ea typeface="Marcellus"/>
                <a:cs typeface="Marcellus"/>
                <a:sym typeface="Marcellus"/>
              </a:rPr>
              <a:t>Control: Direct register and hardware access</a:t>
            </a:r>
            <a:endParaRPr sz="3000">
              <a:solidFill>
                <a:srgbClr val="231F20"/>
              </a:solidFill>
              <a:latin typeface="Marcellus"/>
              <a:ea typeface="Marcellus"/>
              <a:cs typeface="Marcellus"/>
              <a:sym typeface="Marcellus"/>
            </a:endParaRPr>
          </a:p>
          <a:p>
            <a:pPr marL="0" lvl="0" indent="0" algn="l" rtl="0">
              <a:lnSpc>
                <a:spcPct val="115000"/>
              </a:lnSpc>
              <a:spcBef>
                <a:spcPts val="1200"/>
              </a:spcBef>
              <a:spcAft>
                <a:spcPts val="0"/>
              </a:spcAft>
              <a:buClr>
                <a:schemeClr val="dk1"/>
              </a:buClr>
              <a:buSzPts val="1100"/>
              <a:buFont typeface="Arial"/>
              <a:buNone/>
            </a:pPr>
            <a:r>
              <a:rPr lang="en-US" sz="3000">
                <a:solidFill>
                  <a:srgbClr val="231F20"/>
                </a:solidFill>
                <a:latin typeface="Marcellus"/>
                <a:ea typeface="Marcellus"/>
                <a:cs typeface="Marcellus"/>
                <a:sym typeface="Marcellus"/>
              </a:rPr>
              <a:t>Debugging: SWD, debug probes, and GDB</a:t>
            </a:r>
            <a:endParaRPr sz="3000">
              <a:solidFill>
                <a:srgbClr val="231F20"/>
              </a:solidFill>
              <a:latin typeface="Marcellus"/>
              <a:ea typeface="Marcellus"/>
              <a:cs typeface="Marcellus"/>
              <a:sym typeface="Marcellus"/>
            </a:endParaRPr>
          </a:p>
          <a:p>
            <a:pPr marL="0" marR="0" lvl="0" indent="0" algn="l" rtl="0">
              <a:lnSpc>
                <a:spcPct val="140000"/>
              </a:lnSpc>
              <a:spcBef>
                <a:spcPts val="1200"/>
              </a:spcBef>
              <a:spcAft>
                <a:spcPts val="0"/>
              </a:spcAft>
              <a:buNone/>
            </a:pPr>
            <a:endParaRPr sz="3000">
              <a:solidFill>
                <a:srgbClr val="231F20"/>
              </a:solidFill>
              <a:latin typeface="Marcellus"/>
              <a:ea typeface="Marcellus"/>
              <a:cs typeface="Marcellus"/>
              <a:sym typeface="Marcellus"/>
            </a:endParaRPr>
          </a:p>
        </p:txBody>
      </p:sp>
      <p:sp>
        <p:nvSpPr>
          <p:cNvPr id="274" name="Google Shape;274;g3cf353c04bd_2_24"/>
          <p:cNvSpPr txBox="1"/>
          <p:nvPr/>
        </p:nvSpPr>
        <p:spPr>
          <a:xfrm>
            <a:off x="8509036" y="4643250"/>
            <a:ext cx="1218000" cy="1000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500" b="1">
                <a:solidFill>
                  <a:srgbClr val="231F20"/>
                </a:solidFill>
                <a:latin typeface="Marcellus"/>
                <a:ea typeface="Marcellus"/>
                <a:cs typeface="Marcellus"/>
                <a:sym typeface="Marcellus"/>
              </a:rPr>
              <a:t>VS</a:t>
            </a:r>
            <a:endParaRPr>
              <a:latin typeface="Marcellus"/>
              <a:ea typeface="Marcellus"/>
              <a:cs typeface="Marcellus"/>
              <a:sym typeface="Marcellu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g3cf353c04bd_2_221"/>
          <p:cNvSpPr/>
          <p:nvPr/>
        </p:nvSpPr>
        <p:spPr>
          <a:xfrm>
            <a:off x="683326" y="769050"/>
            <a:ext cx="6929453" cy="8748906"/>
          </a:xfrm>
          <a:custGeom>
            <a:avLst/>
            <a:gdLst/>
            <a:ahLst/>
            <a:cxnLst/>
            <a:rect l="l" t="t" r="r" b="b"/>
            <a:pathLst>
              <a:path w="10785141" h="8748906" extrusionOk="0">
                <a:moveTo>
                  <a:pt x="0" y="0"/>
                </a:moveTo>
                <a:lnTo>
                  <a:pt x="10785141" y="0"/>
                </a:lnTo>
                <a:lnTo>
                  <a:pt x="10785141" y="8748906"/>
                </a:lnTo>
                <a:lnTo>
                  <a:pt x="0" y="8748906"/>
                </a:lnTo>
                <a:lnTo>
                  <a:pt x="0" y="0"/>
                </a:lnTo>
                <a:close/>
              </a:path>
            </a:pathLst>
          </a:custGeom>
          <a:blipFill rotWithShape="1">
            <a:blip r:embed="rId3">
              <a:alphaModFix/>
            </a:blip>
            <a:stretch>
              <a:fillRect/>
            </a:stretch>
          </a:blipFill>
          <a:ln>
            <a:noFill/>
          </a:ln>
        </p:spPr>
        <p:txBody>
          <a:bodyPr/>
          <a:lstStyle/>
          <a:p>
            <a:endParaRPr lang="en-CA"/>
          </a:p>
        </p:txBody>
      </p:sp>
      <p:sp>
        <p:nvSpPr>
          <p:cNvPr id="280" name="Google Shape;280;g3cf353c04bd_2_221"/>
          <p:cNvSpPr/>
          <p:nvPr/>
        </p:nvSpPr>
        <p:spPr>
          <a:xfrm>
            <a:off x="7127772" y="2601184"/>
            <a:ext cx="2128196" cy="1555518"/>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4">
              <a:alphaModFix/>
            </a:blip>
            <a:stretch>
              <a:fillRect/>
            </a:stretch>
          </a:blipFill>
          <a:ln>
            <a:noFill/>
          </a:ln>
        </p:spPr>
        <p:txBody>
          <a:bodyPr/>
          <a:lstStyle/>
          <a:p>
            <a:endParaRPr lang="en-CA"/>
          </a:p>
        </p:txBody>
      </p:sp>
      <p:sp>
        <p:nvSpPr>
          <p:cNvPr id="281" name="Google Shape;281;g3cf353c04bd_2_221"/>
          <p:cNvSpPr/>
          <p:nvPr/>
        </p:nvSpPr>
        <p:spPr>
          <a:xfrm>
            <a:off x="7236022" y="5054076"/>
            <a:ext cx="2128196" cy="1555518"/>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4">
              <a:alphaModFix/>
            </a:blip>
            <a:stretch>
              <a:fillRect/>
            </a:stretch>
          </a:blipFill>
          <a:ln>
            <a:noFill/>
          </a:ln>
        </p:spPr>
        <p:txBody>
          <a:bodyPr/>
          <a:lstStyle/>
          <a:p>
            <a:endParaRPr lang="en-CA"/>
          </a:p>
        </p:txBody>
      </p:sp>
      <p:sp>
        <p:nvSpPr>
          <p:cNvPr id="282" name="Google Shape;282;g3cf353c04bd_2_221"/>
          <p:cNvSpPr txBox="1"/>
          <p:nvPr/>
        </p:nvSpPr>
        <p:spPr>
          <a:xfrm rot="-5400000">
            <a:off x="-927569" y="6273375"/>
            <a:ext cx="5226600" cy="800400"/>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5199" b="1">
                <a:solidFill>
                  <a:srgbClr val="231F20"/>
                </a:solidFill>
                <a:latin typeface="Marcellus"/>
                <a:ea typeface="Marcellus"/>
                <a:cs typeface="Marcellus"/>
                <a:sym typeface="Marcellus"/>
              </a:rPr>
              <a:t>Raspberry Pi Pico</a:t>
            </a:r>
            <a:endParaRPr sz="100">
              <a:latin typeface="Marcellus"/>
              <a:ea typeface="Marcellus"/>
              <a:cs typeface="Marcellus"/>
              <a:sym typeface="Marcellus"/>
            </a:endParaRPr>
          </a:p>
        </p:txBody>
      </p:sp>
      <p:grpSp>
        <p:nvGrpSpPr>
          <p:cNvPr id="283" name="Google Shape;283;g3cf353c04bd_2_221"/>
          <p:cNvGrpSpPr/>
          <p:nvPr/>
        </p:nvGrpSpPr>
        <p:grpSpPr>
          <a:xfrm>
            <a:off x="9484566" y="2333922"/>
            <a:ext cx="8422517" cy="1928228"/>
            <a:chOff x="9484566" y="2333922"/>
            <a:chExt cx="8422517" cy="1928228"/>
          </a:xfrm>
        </p:grpSpPr>
        <p:sp>
          <p:nvSpPr>
            <p:cNvPr id="284" name="Google Shape;284;g3cf353c04bd_2_221"/>
            <p:cNvSpPr txBox="1"/>
            <p:nvPr/>
          </p:nvSpPr>
          <p:spPr>
            <a:xfrm>
              <a:off x="9484566" y="2333922"/>
              <a:ext cx="4584000" cy="569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00" dirty="0">
                  <a:solidFill>
                    <a:srgbClr val="227459"/>
                  </a:solidFill>
                  <a:latin typeface="Ruda Black"/>
                  <a:ea typeface="Ruda Black"/>
                  <a:cs typeface="Ruda Black"/>
                  <a:sym typeface="Ruda Black"/>
                </a:rPr>
                <a:t>Powerful Hardware</a:t>
              </a:r>
              <a:endParaRPr sz="1900" dirty="0"/>
            </a:p>
          </p:txBody>
        </p:sp>
        <p:sp>
          <p:nvSpPr>
            <p:cNvPr id="285" name="Google Shape;285;g3cf353c04bd_2_221"/>
            <p:cNvSpPr txBox="1"/>
            <p:nvPr/>
          </p:nvSpPr>
          <p:spPr>
            <a:xfrm>
              <a:off x="9484583" y="2923550"/>
              <a:ext cx="8422500" cy="1338600"/>
            </a:xfrm>
            <a:prstGeom prst="rect">
              <a:avLst/>
            </a:prstGeom>
            <a:noFill/>
            <a:ln>
              <a:noFill/>
            </a:ln>
          </p:spPr>
          <p:txBody>
            <a:bodyPr spcFirstLastPara="1" wrap="square" lIns="0" tIns="0" rIns="0" bIns="0" anchor="t" anchorCtr="0">
              <a:spAutoFit/>
            </a:bodyPr>
            <a:lstStyle/>
            <a:p>
              <a:pPr marL="457200" marR="0" lvl="0" indent="-412686" algn="l" rtl="0">
                <a:lnSpc>
                  <a:spcPct val="100000"/>
                </a:lnSpc>
                <a:spcBef>
                  <a:spcPts val="0"/>
                </a:spcBef>
                <a:spcAft>
                  <a:spcPts val="0"/>
                </a:spcAft>
                <a:buClr>
                  <a:srgbClr val="231F20"/>
                </a:buClr>
                <a:buSzPts val="2899"/>
                <a:buFont typeface="Roboto Slab"/>
                <a:buChar char="-"/>
              </a:pPr>
              <a:r>
                <a:rPr lang="en-US" sz="2899">
                  <a:solidFill>
                    <a:srgbClr val="231F20"/>
                  </a:solidFill>
                  <a:latin typeface="Roboto Slab"/>
                  <a:ea typeface="Roboto Slab"/>
                  <a:cs typeface="Roboto Slab"/>
                  <a:sym typeface="Roboto Slab"/>
                </a:rPr>
                <a:t>Dual-core ARM Cortex-M0+</a:t>
              </a:r>
              <a:endParaRPr sz="2899">
                <a:solidFill>
                  <a:srgbClr val="231F20"/>
                </a:solidFill>
                <a:latin typeface="Roboto Slab"/>
                <a:ea typeface="Roboto Slab"/>
                <a:cs typeface="Roboto Slab"/>
                <a:sym typeface="Roboto Slab"/>
              </a:endParaRPr>
            </a:p>
            <a:p>
              <a:pPr marL="457200" marR="0" lvl="0" indent="-412686" algn="l" rtl="0">
                <a:lnSpc>
                  <a:spcPct val="100000"/>
                </a:lnSpc>
                <a:spcBef>
                  <a:spcPts val="0"/>
                </a:spcBef>
                <a:spcAft>
                  <a:spcPts val="0"/>
                </a:spcAft>
                <a:buClr>
                  <a:srgbClr val="231F20"/>
                </a:buClr>
                <a:buSzPts val="2899"/>
                <a:buFont typeface="Roboto Slab"/>
                <a:buChar char="-"/>
              </a:pPr>
              <a:r>
                <a:rPr lang="en-US" sz="2899">
                  <a:solidFill>
                    <a:srgbClr val="231F20"/>
                  </a:solidFill>
                  <a:latin typeface="Roboto Slab"/>
                  <a:ea typeface="Roboto Slab"/>
                  <a:cs typeface="Roboto Slab"/>
                  <a:sym typeface="Roboto Slab"/>
                </a:rPr>
                <a:t>Up to 133 MHz</a:t>
              </a:r>
              <a:endParaRPr sz="2899">
                <a:solidFill>
                  <a:srgbClr val="231F20"/>
                </a:solidFill>
                <a:latin typeface="Roboto Slab"/>
                <a:ea typeface="Roboto Slab"/>
                <a:cs typeface="Roboto Slab"/>
                <a:sym typeface="Roboto Slab"/>
              </a:endParaRPr>
            </a:p>
            <a:p>
              <a:pPr marL="457200" marR="0" lvl="0" indent="-412686" algn="l" rtl="0">
                <a:lnSpc>
                  <a:spcPct val="100000"/>
                </a:lnSpc>
                <a:spcBef>
                  <a:spcPts val="0"/>
                </a:spcBef>
                <a:spcAft>
                  <a:spcPts val="0"/>
                </a:spcAft>
                <a:buClr>
                  <a:srgbClr val="231F20"/>
                </a:buClr>
                <a:buSzPts val="2899"/>
                <a:buFont typeface="Roboto Slab"/>
                <a:buChar char="-"/>
              </a:pPr>
              <a:r>
                <a:rPr lang="en-US" sz="2899">
                  <a:solidFill>
                    <a:srgbClr val="231F20"/>
                  </a:solidFill>
                  <a:latin typeface="Roboto Slab"/>
                  <a:ea typeface="Roboto Slab"/>
                  <a:cs typeface="Roboto Slab"/>
                  <a:sym typeface="Roboto Slab"/>
                </a:rPr>
                <a:t>264 KB RAM</a:t>
              </a:r>
              <a:endParaRPr sz="2899">
                <a:solidFill>
                  <a:srgbClr val="231F20"/>
                </a:solidFill>
                <a:latin typeface="Roboto Slab"/>
                <a:ea typeface="Roboto Slab"/>
                <a:cs typeface="Roboto Slab"/>
                <a:sym typeface="Roboto Slab"/>
              </a:endParaRPr>
            </a:p>
          </p:txBody>
        </p:sp>
      </p:grpSp>
      <p:grpSp>
        <p:nvGrpSpPr>
          <p:cNvPr id="286" name="Google Shape;286;g3cf353c04bd_2_221"/>
          <p:cNvGrpSpPr/>
          <p:nvPr/>
        </p:nvGrpSpPr>
        <p:grpSpPr>
          <a:xfrm>
            <a:off x="9484491" y="4957075"/>
            <a:ext cx="8422516" cy="1876913"/>
            <a:chOff x="12756816" y="6682300"/>
            <a:chExt cx="8422516" cy="1876913"/>
          </a:xfrm>
        </p:grpSpPr>
        <p:sp>
          <p:nvSpPr>
            <p:cNvPr id="287" name="Google Shape;287;g3cf353c04bd_2_221"/>
            <p:cNvSpPr txBox="1"/>
            <p:nvPr/>
          </p:nvSpPr>
          <p:spPr>
            <a:xfrm>
              <a:off x="12756816" y="6682300"/>
              <a:ext cx="4584000" cy="569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00" dirty="0">
                  <a:solidFill>
                    <a:srgbClr val="227459"/>
                  </a:solidFill>
                  <a:latin typeface="Ruda Black"/>
                  <a:ea typeface="Ruda Black"/>
                  <a:cs typeface="Ruda Black"/>
                  <a:sym typeface="Ruda Black"/>
                </a:rPr>
                <a:t>Lots of Feature</a:t>
              </a:r>
              <a:endParaRPr sz="1900" dirty="0"/>
            </a:p>
          </p:txBody>
        </p:sp>
        <p:sp>
          <p:nvSpPr>
            <p:cNvPr id="288" name="Google Shape;288;g3cf353c04bd_2_221"/>
            <p:cNvSpPr txBox="1"/>
            <p:nvPr/>
          </p:nvSpPr>
          <p:spPr>
            <a:xfrm>
              <a:off x="12756832" y="7220613"/>
              <a:ext cx="8422500" cy="1338600"/>
            </a:xfrm>
            <a:prstGeom prst="rect">
              <a:avLst/>
            </a:prstGeom>
            <a:noFill/>
            <a:ln>
              <a:noFill/>
            </a:ln>
          </p:spPr>
          <p:txBody>
            <a:bodyPr spcFirstLastPara="1" wrap="square" lIns="0" tIns="0" rIns="0" bIns="0" anchor="t" anchorCtr="0">
              <a:spAutoFit/>
            </a:bodyPr>
            <a:lstStyle/>
            <a:p>
              <a:pPr marL="457200" marR="0" lvl="0" indent="-412686" algn="l" rtl="0">
                <a:lnSpc>
                  <a:spcPct val="100000"/>
                </a:lnSpc>
                <a:spcBef>
                  <a:spcPts val="0"/>
                </a:spcBef>
                <a:spcAft>
                  <a:spcPts val="0"/>
                </a:spcAft>
                <a:buClr>
                  <a:srgbClr val="231F20"/>
                </a:buClr>
                <a:buSzPts val="2899"/>
                <a:buFont typeface="Roboto Slab"/>
                <a:buChar char="-"/>
              </a:pPr>
              <a:r>
                <a:rPr lang="en-US" sz="2899">
                  <a:solidFill>
                    <a:srgbClr val="231F20"/>
                  </a:solidFill>
                  <a:latin typeface="Roboto Slab"/>
                  <a:ea typeface="Roboto Slab"/>
                  <a:cs typeface="Roboto Slab"/>
                  <a:sym typeface="Roboto Slab"/>
                </a:rPr>
                <a:t>26 GPIO pins</a:t>
              </a:r>
              <a:endParaRPr sz="2899">
                <a:solidFill>
                  <a:srgbClr val="231F20"/>
                </a:solidFill>
                <a:latin typeface="Roboto Slab"/>
                <a:ea typeface="Roboto Slab"/>
                <a:cs typeface="Roboto Slab"/>
                <a:sym typeface="Roboto Slab"/>
              </a:endParaRPr>
            </a:p>
            <a:p>
              <a:pPr marL="457200" marR="0" lvl="0" indent="-412686" algn="l" rtl="0">
                <a:lnSpc>
                  <a:spcPct val="100000"/>
                </a:lnSpc>
                <a:spcBef>
                  <a:spcPts val="0"/>
                </a:spcBef>
                <a:spcAft>
                  <a:spcPts val="0"/>
                </a:spcAft>
                <a:buClr>
                  <a:srgbClr val="231F20"/>
                </a:buClr>
                <a:buSzPts val="2899"/>
                <a:buFont typeface="Roboto Slab"/>
                <a:buChar char="-"/>
              </a:pPr>
              <a:r>
                <a:rPr lang="en-US" sz="2899">
                  <a:solidFill>
                    <a:srgbClr val="231F20"/>
                  </a:solidFill>
                  <a:latin typeface="Roboto Slab"/>
                  <a:ea typeface="Roboto Slab"/>
                  <a:cs typeface="Roboto Slab"/>
                  <a:sym typeface="Roboto Slab"/>
                </a:rPr>
                <a:t>ADC, PWM, I²C, SPI, UART</a:t>
              </a:r>
              <a:endParaRPr sz="2899">
                <a:solidFill>
                  <a:srgbClr val="231F20"/>
                </a:solidFill>
                <a:latin typeface="Roboto Slab"/>
                <a:ea typeface="Roboto Slab"/>
                <a:cs typeface="Roboto Slab"/>
                <a:sym typeface="Roboto Slab"/>
              </a:endParaRPr>
            </a:p>
            <a:p>
              <a:pPr marL="457200" marR="0" lvl="0" indent="-412686" algn="l" rtl="0">
                <a:lnSpc>
                  <a:spcPct val="100000"/>
                </a:lnSpc>
                <a:spcBef>
                  <a:spcPts val="0"/>
                </a:spcBef>
                <a:spcAft>
                  <a:spcPts val="0"/>
                </a:spcAft>
                <a:buClr>
                  <a:srgbClr val="231F20"/>
                </a:buClr>
                <a:buSzPts val="2899"/>
                <a:buFont typeface="Roboto Slab"/>
                <a:buChar char="-"/>
              </a:pPr>
              <a:r>
                <a:rPr lang="en-US" sz="2899">
                  <a:solidFill>
                    <a:srgbClr val="231F20"/>
                  </a:solidFill>
                  <a:latin typeface="Roboto Slab"/>
                  <a:ea typeface="Roboto Slab"/>
                  <a:cs typeface="Roboto Slab"/>
                  <a:sym typeface="Roboto Slab"/>
                </a:rPr>
                <a:t>Programmable I/O (PIO)</a:t>
              </a:r>
              <a:endParaRPr sz="2899">
                <a:solidFill>
                  <a:srgbClr val="231F20"/>
                </a:solidFill>
                <a:latin typeface="Roboto Slab"/>
                <a:ea typeface="Roboto Slab"/>
                <a:cs typeface="Roboto Slab"/>
                <a:sym typeface="Roboto Slab"/>
              </a:endParaRPr>
            </a:p>
          </p:txBody>
        </p:sp>
      </p:grpSp>
      <p:pic>
        <p:nvPicPr>
          <p:cNvPr id="289" name="Google Shape;289;g3cf353c04bd_2_221" title="pico-w.png"/>
          <p:cNvPicPr preferRelativeResize="0"/>
          <p:nvPr/>
        </p:nvPicPr>
        <p:blipFill>
          <a:blip r:embed="rId5">
            <a:alphaModFix/>
          </a:blip>
          <a:stretch>
            <a:fillRect/>
          </a:stretch>
        </p:blipFill>
        <p:spPr>
          <a:xfrm rot="5400000">
            <a:off x="989313" y="3797138"/>
            <a:ext cx="8037000" cy="3614825"/>
          </a:xfrm>
          <a:prstGeom prst="rect">
            <a:avLst/>
          </a:prstGeom>
          <a:noFill/>
          <a:ln>
            <a:noFill/>
          </a:ln>
        </p:spPr>
      </p:pic>
      <p:sp>
        <p:nvSpPr>
          <p:cNvPr id="290" name="Google Shape;290;g3cf353c04bd_2_221"/>
          <p:cNvSpPr txBox="1"/>
          <p:nvPr/>
        </p:nvSpPr>
        <p:spPr>
          <a:xfrm>
            <a:off x="7848600" y="838200"/>
            <a:ext cx="10058400" cy="10929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0"/>
              </a:spcAft>
              <a:buClr>
                <a:schemeClr val="dk1"/>
              </a:buClr>
              <a:buFont typeface="Arial"/>
              <a:buNone/>
            </a:pPr>
            <a:r>
              <a:rPr lang="en-US" sz="7100" b="1">
                <a:solidFill>
                  <a:srgbClr val="CD2355"/>
                </a:solidFill>
                <a:latin typeface="Marcellus"/>
                <a:ea typeface="Marcellus"/>
                <a:cs typeface="Marcellus"/>
                <a:sym typeface="Marcellus"/>
              </a:rPr>
              <a:t>Why Raspberry Pi Pico?</a:t>
            </a:r>
            <a:endParaRPr sz="5000" b="1">
              <a:solidFill>
                <a:srgbClr val="CD2355"/>
              </a:solidFill>
            </a:endParaRPr>
          </a:p>
        </p:txBody>
      </p:sp>
      <p:sp>
        <p:nvSpPr>
          <p:cNvPr id="291" name="Google Shape;291;g3cf353c04bd_2_221"/>
          <p:cNvSpPr/>
          <p:nvPr/>
        </p:nvSpPr>
        <p:spPr>
          <a:xfrm>
            <a:off x="7236022" y="7731364"/>
            <a:ext cx="2128196" cy="1555518"/>
          </a:xfrm>
          <a:custGeom>
            <a:avLst/>
            <a:gdLst/>
            <a:ahLst/>
            <a:cxnLst/>
            <a:rect l="l" t="t" r="r" b="b"/>
            <a:pathLst>
              <a:path w="2128196" h="1555518" extrusionOk="0">
                <a:moveTo>
                  <a:pt x="0" y="0"/>
                </a:moveTo>
                <a:lnTo>
                  <a:pt x="2128196" y="0"/>
                </a:lnTo>
                <a:lnTo>
                  <a:pt x="2128196" y="1555518"/>
                </a:lnTo>
                <a:lnTo>
                  <a:pt x="0" y="1555518"/>
                </a:lnTo>
                <a:lnTo>
                  <a:pt x="0" y="0"/>
                </a:lnTo>
                <a:close/>
              </a:path>
            </a:pathLst>
          </a:custGeom>
          <a:blipFill rotWithShape="1">
            <a:blip r:embed="rId4">
              <a:alphaModFix/>
            </a:blip>
            <a:stretch>
              <a:fillRect/>
            </a:stretch>
          </a:blipFill>
          <a:ln>
            <a:noFill/>
          </a:ln>
        </p:spPr>
        <p:txBody>
          <a:bodyPr/>
          <a:lstStyle/>
          <a:p>
            <a:endParaRPr lang="en-CA"/>
          </a:p>
        </p:txBody>
      </p:sp>
      <p:grpSp>
        <p:nvGrpSpPr>
          <p:cNvPr id="292" name="Google Shape;292;g3cf353c04bd_2_221"/>
          <p:cNvGrpSpPr/>
          <p:nvPr/>
        </p:nvGrpSpPr>
        <p:grpSpPr>
          <a:xfrm>
            <a:off x="9484491" y="7650264"/>
            <a:ext cx="8422508" cy="1414911"/>
            <a:chOff x="12756816" y="6698202"/>
            <a:chExt cx="8422508" cy="1414911"/>
          </a:xfrm>
        </p:grpSpPr>
        <p:sp>
          <p:nvSpPr>
            <p:cNvPr id="293" name="Google Shape;293;g3cf353c04bd_2_221"/>
            <p:cNvSpPr txBox="1"/>
            <p:nvPr/>
          </p:nvSpPr>
          <p:spPr>
            <a:xfrm>
              <a:off x="12756816" y="6698202"/>
              <a:ext cx="4584000" cy="569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00" dirty="0">
                  <a:solidFill>
                    <a:srgbClr val="227459"/>
                  </a:solidFill>
                  <a:latin typeface="Ruda Black"/>
                  <a:ea typeface="Ruda Black"/>
                  <a:cs typeface="Ruda Black"/>
                  <a:sym typeface="Ruda Black"/>
                </a:rPr>
                <a:t>Easy development</a:t>
              </a:r>
              <a:endParaRPr sz="1900" dirty="0"/>
            </a:p>
          </p:txBody>
        </p:sp>
        <p:sp>
          <p:nvSpPr>
            <p:cNvPr id="294" name="Google Shape;294;g3cf353c04bd_2_221"/>
            <p:cNvSpPr txBox="1"/>
            <p:nvPr/>
          </p:nvSpPr>
          <p:spPr>
            <a:xfrm>
              <a:off x="12756824" y="7220613"/>
              <a:ext cx="8422500" cy="892500"/>
            </a:xfrm>
            <a:prstGeom prst="rect">
              <a:avLst/>
            </a:prstGeom>
            <a:noFill/>
            <a:ln>
              <a:noFill/>
            </a:ln>
          </p:spPr>
          <p:txBody>
            <a:bodyPr spcFirstLastPara="1" wrap="square" lIns="0" tIns="0" rIns="0" bIns="0" anchor="t" anchorCtr="0">
              <a:spAutoFit/>
            </a:bodyPr>
            <a:lstStyle/>
            <a:p>
              <a:pPr marL="457200" marR="0" lvl="0" indent="-412686" algn="l" rtl="0">
                <a:lnSpc>
                  <a:spcPct val="100000"/>
                </a:lnSpc>
                <a:spcBef>
                  <a:spcPts val="0"/>
                </a:spcBef>
                <a:spcAft>
                  <a:spcPts val="0"/>
                </a:spcAft>
                <a:buClr>
                  <a:srgbClr val="231F20"/>
                </a:buClr>
                <a:buSzPts val="2899"/>
                <a:buFont typeface="Roboto Slab"/>
                <a:buChar char="-"/>
              </a:pPr>
              <a:r>
                <a:rPr lang="en-US" sz="2899">
                  <a:solidFill>
                    <a:srgbClr val="231F20"/>
                  </a:solidFill>
                  <a:latin typeface="Roboto Slab"/>
                  <a:ea typeface="Roboto Slab"/>
                  <a:cs typeface="Roboto Slab"/>
                  <a:sym typeface="Roboto Slab"/>
                </a:rPr>
                <a:t>Supports MicroPython and C/C++</a:t>
              </a:r>
              <a:endParaRPr sz="2899">
                <a:solidFill>
                  <a:srgbClr val="231F20"/>
                </a:solidFill>
                <a:latin typeface="Roboto Slab"/>
                <a:ea typeface="Roboto Slab"/>
                <a:cs typeface="Roboto Slab"/>
                <a:sym typeface="Roboto Slab"/>
              </a:endParaRPr>
            </a:p>
            <a:p>
              <a:pPr marL="457200" marR="0" lvl="0" indent="-412686" algn="l" rtl="0">
                <a:lnSpc>
                  <a:spcPct val="100000"/>
                </a:lnSpc>
                <a:spcBef>
                  <a:spcPts val="0"/>
                </a:spcBef>
                <a:spcAft>
                  <a:spcPts val="0"/>
                </a:spcAft>
                <a:buClr>
                  <a:srgbClr val="231F20"/>
                </a:buClr>
                <a:buSzPts val="2899"/>
                <a:buFont typeface="Roboto Slab"/>
                <a:buChar char="-"/>
              </a:pPr>
              <a:r>
                <a:rPr lang="en-US" sz="2899">
                  <a:solidFill>
                    <a:srgbClr val="231F20"/>
                  </a:solidFill>
                  <a:latin typeface="Roboto Slab"/>
                  <a:ea typeface="Roboto Slab"/>
                  <a:cs typeface="Roboto Slab"/>
                  <a:sym typeface="Roboto Slab"/>
                </a:rPr>
                <a:t>Simple setup with Thonny</a:t>
              </a:r>
              <a:endParaRPr sz="2899">
                <a:solidFill>
                  <a:srgbClr val="231F20"/>
                </a:solidFill>
                <a:latin typeface="Roboto Slab"/>
                <a:ea typeface="Roboto Slab"/>
                <a:cs typeface="Roboto Slab"/>
                <a:sym typeface="Roboto Slab"/>
              </a:endParaRPr>
            </a:p>
          </p:txBody>
        </p:sp>
      </p:grpSp>
      <p:pic>
        <p:nvPicPr>
          <p:cNvPr id="295" name="Google Shape;295;g3cf353c04bd_2_221" title="berry.png"/>
          <p:cNvPicPr preferRelativeResize="0"/>
          <p:nvPr/>
        </p:nvPicPr>
        <p:blipFill>
          <a:blip r:embed="rId6">
            <a:alphaModFix/>
          </a:blip>
          <a:stretch>
            <a:fillRect/>
          </a:stretch>
        </p:blipFill>
        <p:spPr>
          <a:xfrm>
            <a:off x="831499" y="2025351"/>
            <a:ext cx="1327450" cy="1327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grpSp>
        <p:nvGrpSpPr>
          <p:cNvPr id="300" name="Google Shape;300;g3cf353c04bd_2_324"/>
          <p:cNvGrpSpPr/>
          <p:nvPr/>
        </p:nvGrpSpPr>
        <p:grpSpPr>
          <a:xfrm>
            <a:off x="25" y="2590793"/>
            <a:ext cx="18288118" cy="7696246"/>
            <a:chOff x="0" y="-47625"/>
            <a:chExt cx="4816592" cy="1025100"/>
          </a:xfrm>
        </p:grpSpPr>
        <p:sp>
          <p:nvSpPr>
            <p:cNvPr id="301" name="Google Shape;301;g3cf353c04bd_2_324"/>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302" name="Google Shape;302;g3cf353c04bd_2_324"/>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03" name="Google Shape;303;g3cf353c04bd_2_324"/>
          <p:cNvSpPr txBox="1"/>
          <p:nvPr/>
        </p:nvSpPr>
        <p:spPr>
          <a:xfrm>
            <a:off x="75" y="2590800"/>
            <a:ext cx="14630400" cy="7696200"/>
          </a:xfrm>
          <a:prstGeom prst="rect">
            <a:avLst/>
          </a:prstGeom>
          <a:noFill/>
          <a:ln>
            <a:noFill/>
          </a:ln>
        </p:spPr>
        <p:txBody>
          <a:bodyPr spcFirstLastPara="1" wrap="square" lIns="548625" tIns="274300" rIns="274300" bIns="274300" anchor="ctr" anchorCtr="0">
            <a:noAutofit/>
          </a:bodyPr>
          <a:lstStyle/>
          <a:p>
            <a:pPr marL="457200" marR="0" lvl="0" indent="-469900" algn="l" rtl="0">
              <a:lnSpc>
                <a:spcPct val="139977"/>
              </a:lnSpc>
              <a:spcBef>
                <a:spcPts val="0"/>
              </a:spcBef>
              <a:spcAft>
                <a:spcPts val="0"/>
              </a:spcAft>
              <a:buClr>
                <a:srgbClr val="242424"/>
              </a:buClr>
              <a:buSzPts val="3800"/>
              <a:buFont typeface="Marcellus"/>
              <a:buAutoNum type="arabicPeriod"/>
            </a:pPr>
            <a:r>
              <a:rPr lang="en-US" sz="3800" b="1">
                <a:solidFill>
                  <a:srgbClr val="242424"/>
                </a:solidFill>
                <a:latin typeface="Marcellus"/>
                <a:ea typeface="Marcellus"/>
                <a:cs typeface="Marcellus"/>
                <a:sym typeface="Marcellus"/>
              </a:rPr>
              <a:t>Install Thonny IDE from: https://thonny.org/</a:t>
            </a:r>
            <a:endParaRPr sz="3800" b="1">
              <a:solidFill>
                <a:srgbClr val="242424"/>
              </a:solidFill>
              <a:latin typeface="Marcellus"/>
              <a:ea typeface="Marcellus"/>
              <a:cs typeface="Marcellus"/>
              <a:sym typeface="Marcellus"/>
            </a:endParaRPr>
          </a:p>
          <a:p>
            <a:pPr marL="457200" marR="0" lvl="0" indent="-469900" algn="l" rtl="0">
              <a:lnSpc>
                <a:spcPct val="139977"/>
              </a:lnSpc>
              <a:spcBef>
                <a:spcPts val="0"/>
              </a:spcBef>
              <a:spcAft>
                <a:spcPts val="0"/>
              </a:spcAft>
              <a:buClr>
                <a:srgbClr val="242424"/>
              </a:buClr>
              <a:buSzPts val="3800"/>
              <a:buFont typeface="Marcellus"/>
              <a:buAutoNum type="arabicPeriod"/>
            </a:pPr>
            <a:r>
              <a:rPr lang="en-US" sz="3800" b="1">
                <a:solidFill>
                  <a:srgbClr val="242424"/>
                </a:solidFill>
                <a:latin typeface="Marcellus"/>
                <a:ea typeface="Marcellus"/>
                <a:cs typeface="Marcellus"/>
                <a:sym typeface="Marcellus"/>
              </a:rPr>
              <a:t>Open Thonny, go to tools→ options → Interpreter </a:t>
            </a:r>
            <a:endParaRPr sz="3800" b="1">
              <a:solidFill>
                <a:srgbClr val="242424"/>
              </a:solidFill>
              <a:latin typeface="Marcellus"/>
              <a:ea typeface="Marcellus"/>
              <a:cs typeface="Marcellus"/>
              <a:sym typeface="Marcellus"/>
            </a:endParaRPr>
          </a:p>
          <a:p>
            <a:pPr marL="457200" marR="0" lvl="0" indent="-469900" algn="l" rtl="0">
              <a:lnSpc>
                <a:spcPct val="139977"/>
              </a:lnSpc>
              <a:spcBef>
                <a:spcPts val="0"/>
              </a:spcBef>
              <a:spcAft>
                <a:spcPts val="0"/>
              </a:spcAft>
              <a:buClr>
                <a:srgbClr val="242424"/>
              </a:buClr>
              <a:buSzPts val="3800"/>
              <a:buFont typeface="Marcellus"/>
              <a:buAutoNum type="arabicPeriod"/>
            </a:pPr>
            <a:r>
              <a:rPr lang="en-US" sz="3800" b="1">
                <a:solidFill>
                  <a:srgbClr val="242424"/>
                </a:solidFill>
                <a:latin typeface="Marcellus"/>
                <a:ea typeface="Marcellus"/>
                <a:cs typeface="Marcellus"/>
                <a:sym typeface="Marcellus"/>
              </a:rPr>
              <a:t>Change “Local Python 3” to “MicroPython (Raspberry Pi Pico)”</a:t>
            </a:r>
            <a:endParaRPr sz="3800" b="1">
              <a:solidFill>
                <a:srgbClr val="242424"/>
              </a:solidFill>
              <a:latin typeface="Marcellus"/>
              <a:ea typeface="Marcellus"/>
              <a:cs typeface="Marcellus"/>
              <a:sym typeface="Marcellus"/>
            </a:endParaRPr>
          </a:p>
          <a:p>
            <a:pPr marL="457200" marR="0" lvl="0" indent="-469900" algn="l" rtl="0">
              <a:lnSpc>
                <a:spcPct val="139977"/>
              </a:lnSpc>
              <a:spcBef>
                <a:spcPts val="0"/>
              </a:spcBef>
              <a:spcAft>
                <a:spcPts val="0"/>
              </a:spcAft>
              <a:buClr>
                <a:srgbClr val="242424"/>
              </a:buClr>
              <a:buSzPts val="3800"/>
              <a:buFont typeface="Marcellus"/>
              <a:buAutoNum type="arabicPeriod"/>
            </a:pPr>
            <a:r>
              <a:rPr lang="en-US" sz="3800" b="1">
                <a:solidFill>
                  <a:srgbClr val="242424"/>
                </a:solidFill>
                <a:latin typeface="Marcellus"/>
                <a:ea typeface="Marcellus"/>
                <a:cs typeface="Marcellus"/>
                <a:sym typeface="Marcellus"/>
              </a:rPr>
              <a:t>Select Micropython (Raspberry Pi Pico)</a:t>
            </a:r>
            <a:endParaRPr sz="3800" b="1">
              <a:solidFill>
                <a:srgbClr val="242424"/>
              </a:solidFill>
              <a:latin typeface="Marcellus"/>
              <a:ea typeface="Marcellus"/>
              <a:cs typeface="Marcellus"/>
              <a:sym typeface="Marcellus"/>
            </a:endParaRPr>
          </a:p>
          <a:p>
            <a:pPr marL="457200" marR="0" lvl="0" indent="-469900" algn="l" rtl="0">
              <a:lnSpc>
                <a:spcPct val="139977"/>
              </a:lnSpc>
              <a:spcBef>
                <a:spcPts val="0"/>
              </a:spcBef>
              <a:spcAft>
                <a:spcPts val="0"/>
              </a:spcAft>
              <a:buClr>
                <a:srgbClr val="242424"/>
              </a:buClr>
              <a:buSzPts val="3800"/>
              <a:buFont typeface="Marcellus"/>
              <a:buAutoNum type="arabicPeriod"/>
            </a:pPr>
            <a:r>
              <a:rPr lang="en-US" sz="3800" b="1">
                <a:solidFill>
                  <a:srgbClr val="242424"/>
                </a:solidFill>
                <a:latin typeface="Marcellus"/>
                <a:ea typeface="Marcellus"/>
                <a:cs typeface="Marcellus"/>
                <a:sym typeface="Marcellus"/>
              </a:rPr>
              <a:t>Hold the BOOTSEL button</a:t>
            </a:r>
            <a:endParaRPr sz="3800" b="1">
              <a:solidFill>
                <a:srgbClr val="242424"/>
              </a:solidFill>
              <a:latin typeface="Marcellus"/>
              <a:ea typeface="Marcellus"/>
              <a:cs typeface="Marcellus"/>
              <a:sym typeface="Marcellus"/>
            </a:endParaRPr>
          </a:p>
          <a:p>
            <a:pPr marL="457200" marR="0" lvl="0" indent="-469900" algn="l" rtl="0">
              <a:lnSpc>
                <a:spcPct val="139977"/>
              </a:lnSpc>
              <a:spcBef>
                <a:spcPts val="0"/>
              </a:spcBef>
              <a:spcAft>
                <a:spcPts val="0"/>
              </a:spcAft>
              <a:buClr>
                <a:srgbClr val="242424"/>
              </a:buClr>
              <a:buSzPts val="3800"/>
              <a:buFont typeface="Marcellus"/>
              <a:buAutoNum type="arabicPeriod"/>
            </a:pPr>
            <a:r>
              <a:rPr lang="en-US" sz="3800" b="1">
                <a:solidFill>
                  <a:srgbClr val="242424"/>
                </a:solidFill>
                <a:latin typeface="Marcellus"/>
                <a:ea typeface="Marcellus"/>
                <a:cs typeface="Marcellus"/>
                <a:sym typeface="Marcellus"/>
              </a:rPr>
              <a:t>Plug the Pico into USB.</a:t>
            </a:r>
            <a:endParaRPr sz="3800" b="1">
              <a:solidFill>
                <a:srgbClr val="242424"/>
              </a:solidFill>
              <a:latin typeface="Marcellus"/>
              <a:ea typeface="Marcellus"/>
              <a:cs typeface="Marcellus"/>
              <a:sym typeface="Marcellus"/>
            </a:endParaRPr>
          </a:p>
          <a:p>
            <a:pPr marL="457200" marR="0" lvl="0" indent="-469900" algn="l" rtl="0">
              <a:lnSpc>
                <a:spcPct val="139977"/>
              </a:lnSpc>
              <a:spcBef>
                <a:spcPts val="0"/>
              </a:spcBef>
              <a:spcAft>
                <a:spcPts val="0"/>
              </a:spcAft>
              <a:buClr>
                <a:srgbClr val="242424"/>
              </a:buClr>
              <a:buSzPts val="3800"/>
              <a:buFont typeface="Marcellus"/>
              <a:buAutoNum type="arabicPeriod"/>
            </a:pPr>
            <a:r>
              <a:rPr lang="en-US" sz="3800" b="1">
                <a:solidFill>
                  <a:srgbClr val="242424"/>
                </a:solidFill>
                <a:latin typeface="Marcellus"/>
                <a:ea typeface="Marcellus"/>
                <a:cs typeface="Marcellus"/>
                <a:sym typeface="Marcellus"/>
              </a:rPr>
              <a:t>Flash Pico (Instructions coming in the next few slides)</a:t>
            </a:r>
            <a:endParaRPr sz="3800" b="1">
              <a:solidFill>
                <a:srgbClr val="242424"/>
              </a:solidFill>
              <a:latin typeface="Marcellus"/>
              <a:ea typeface="Marcellus"/>
              <a:cs typeface="Marcellus"/>
              <a:sym typeface="Marcellus"/>
            </a:endParaRPr>
          </a:p>
        </p:txBody>
      </p:sp>
      <p:sp>
        <p:nvSpPr>
          <p:cNvPr id="304" name="Google Shape;304;g3cf353c04bd_2_324"/>
          <p:cNvSpPr txBox="1"/>
          <p:nvPr/>
        </p:nvSpPr>
        <p:spPr>
          <a:xfrm>
            <a:off x="718149" y="600075"/>
            <a:ext cx="12143700" cy="1693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b="1">
                <a:solidFill>
                  <a:srgbClr val="CD2355"/>
                </a:solidFill>
                <a:latin typeface="Marcellus"/>
                <a:ea typeface="Marcellus"/>
                <a:cs typeface="Marcellus"/>
                <a:sym typeface="Marcellus"/>
              </a:rPr>
              <a:t>Software Setup</a:t>
            </a:r>
            <a:endParaRPr sz="3400">
              <a:solidFill>
                <a:srgbClr val="CD2355"/>
              </a:solidFill>
              <a:latin typeface="Marcellus"/>
              <a:ea typeface="Marcellus"/>
              <a:cs typeface="Marcellus"/>
              <a:sym typeface="Marcellus"/>
            </a:endParaRPr>
          </a:p>
        </p:txBody>
      </p:sp>
      <p:pic>
        <p:nvPicPr>
          <p:cNvPr id="305" name="Google Shape;305;g3cf353c04bd_2_324" title="thonny.png"/>
          <p:cNvPicPr preferRelativeResize="0"/>
          <p:nvPr/>
        </p:nvPicPr>
        <p:blipFill>
          <a:blip r:embed="rId3">
            <a:alphaModFix/>
          </a:blip>
          <a:stretch>
            <a:fillRect/>
          </a:stretch>
        </p:blipFill>
        <p:spPr>
          <a:xfrm>
            <a:off x="12805432" y="600075"/>
            <a:ext cx="3717825" cy="3717825"/>
          </a:xfrm>
          <a:prstGeom prst="rect">
            <a:avLst/>
          </a:prstGeom>
          <a:noFill/>
          <a:ln>
            <a:noFill/>
          </a:ln>
        </p:spPr>
      </p:pic>
      <p:pic>
        <p:nvPicPr>
          <p:cNvPr id="306" name="Google Shape;306;g3cf353c04bd_2_324" title="berry.png"/>
          <p:cNvPicPr preferRelativeResize="0"/>
          <p:nvPr/>
        </p:nvPicPr>
        <p:blipFill>
          <a:blip r:embed="rId4">
            <a:alphaModFix/>
          </a:blip>
          <a:stretch>
            <a:fillRect/>
          </a:stretch>
        </p:blipFill>
        <p:spPr>
          <a:xfrm rot="1324758">
            <a:off x="15656199" y="345825"/>
            <a:ext cx="2285992" cy="2285992"/>
          </a:xfrm>
          <a:prstGeom prst="rect">
            <a:avLst/>
          </a:prstGeom>
          <a:noFill/>
          <a:ln>
            <a:noFill/>
          </a:ln>
        </p:spPr>
      </p:pic>
      <p:pic>
        <p:nvPicPr>
          <p:cNvPr id="307" name="Google Shape;307;g3cf353c04bd_2_324" title="pico-w.png"/>
          <p:cNvPicPr preferRelativeResize="0"/>
          <p:nvPr/>
        </p:nvPicPr>
        <p:blipFill>
          <a:blip r:embed="rId5">
            <a:alphaModFix/>
          </a:blip>
          <a:stretch>
            <a:fillRect/>
          </a:stretch>
        </p:blipFill>
        <p:spPr>
          <a:xfrm rot="5400000">
            <a:off x="12877387" y="5668113"/>
            <a:ext cx="6371951" cy="2865926"/>
          </a:xfrm>
          <a:prstGeom prst="rect">
            <a:avLst/>
          </a:prstGeom>
          <a:noFill/>
          <a:ln>
            <a:noFill/>
          </a:ln>
        </p:spPr>
      </p:pic>
      <p:cxnSp>
        <p:nvCxnSpPr>
          <p:cNvPr id="308" name="Google Shape;308;g3cf353c04bd_2_324"/>
          <p:cNvCxnSpPr>
            <a:stCxn id="309" idx="0"/>
          </p:cNvCxnSpPr>
          <p:nvPr/>
        </p:nvCxnSpPr>
        <p:spPr>
          <a:xfrm rot="10800000" flipH="1">
            <a:off x="13834125" y="5867325"/>
            <a:ext cx="1863000" cy="895200"/>
          </a:xfrm>
          <a:prstGeom prst="straightConnector1">
            <a:avLst/>
          </a:prstGeom>
          <a:noFill/>
          <a:ln w="76200" cap="flat" cmpd="sng">
            <a:solidFill>
              <a:srgbClr val="B03856"/>
            </a:solidFill>
            <a:prstDash val="solid"/>
            <a:round/>
            <a:headEnd type="none" w="med" len="med"/>
            <a:tailEnd type="triangle" w="med" len="med"/>
          </a:ln>
        </p:spPr>
      </p:cxnSp>
      <p:sp>
        <p:nvSpPr>
          <p:cNvPr id="309" name="Google Shape;309;g3cf353c04bd_2_324"/>
          <p:cNvSpPr txBox="1"/>
          <p:nvPr/>
        </p:nvSpPr>
        <p:spPr>
          <a:xfrm>
            <a:off x="12805425" y="6762525"/>
            <a:ext cx="2057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a:solidFill>
                  <a:schemeClr val="dk1"/>
                </a:solidFill>
                <a:latin typeface="Marcellus"/>
                <a:ea typeface="Marcellus"/>
                <a:cs typeface="Marcellus"/>
                <a:sym typeface="Marcellus"/>
              </a:rPr>
              <a:t>BOOTSEL</a:t>
            </a:r>
            <a:endParaRPr sz="3200" b="1">
              <a:solidFill>
                <a:schemeClr val="dk1"/>
              </a:solidFill>
              <a:latin typeface="Marcellus"/>
              <a:ea typeface="Marcellus"/>
              <a:cs typeface="Marcellus"/>
              <a:sym typeface="Marcellu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13"/>
        <p:cNvGrpSpPr/>
        <p:nvPr/>
      </p:nvGrpSpPr>
      <p:grpSpPr>
        <a:xfrm>
          <a:off x="0" y="0"/>
          <a:ext cx="0" cy="0"/>
          <a:chOff x="0" y="0"/>
          <a:chExt cx="0" cy="0"/>
        </a:xfrm>
      </p:grpSpPr>
      <p:pic>
        <p:nvPicPr>
          <p:cNvPr id="314" name="Google Shape;314;g3cf353c04bd_2_321" title="pico_as_drive.png"/>
          <p:cNvPicPr preferRelativeResize="0"/>
          <p:nvPr/>
        </p:nvPicPr>
        <p:blipFill>
          <a:blip r:embed="rId3">
            <a:alphaModFix/>
          </a:blip>
          <a:stretch>
            <a:fillRect/>
          </a:stretch>
        </p:blipFill>
        <p:spPr>
          <a:xfrm>
            <a:off x="1974238" y="1531487"/>
            <a:ext cx="14339476" cy="8367026"/>
          </a:xfrm>
          <a:prstGeom prst="rect">
            <a:avLst/>
          </a:prstGeom>
          <a:noFill/>
          <a:ln>
            <a:noFill/>
          </a:ln>
        </p:spPr>
      </p:pic>
      <p:sp>
        <p:nvSpPr>
          <p:cNvPr id="315" name="Google Shape;315;g3cf353c04bd_2_321"/>
          <p:cNvSpPr txBox="1"/>
          <p:nvPr/>
        </p:nvSpPr>
        <p:spPr>
          <a:xfrm>
            <a:off x="987138" y="388488"/>
            <a:ext cx="16313700" cy="1143000"/>
          </a:xfrm>
          <a:prstGeom prst="rect">
            <a:avLst/>
          </a:prstGeom>
          <a:noFill/>
          <a:ln>
            <a:noFill/>
          </a:ln>
        </p:spPr>
        <p:txBody>
          <a:bodyPr spcFirstLastPara="1" wrap="square" lIns="548625" tIns="274300" rIns="274300" bIns="274300" anchor="ctr" anchorCtr="0">
            <a:noAutofit/>
          </a:bodyPr>
          <a:lstStyle/>
          <a:p>
            <a:pPr marL="457200" marR="0" lvl="0" indent="0" algn="l" rtl="0">
              <a:lnSpc>
                <a:spcPct val="139977"/>
              </a:lnSpc>
              <a:spcBef>
                <a:spcPts val="0"/>
              </a:spcBef>
              <a:spcAft>
                <a:spcPts val="0"/>
              </a:spcAft>
              <a:buNone/>
            </a:pPr>
            <a:r>
              <a:rPr lang="en-US" sz="3800" b="1">
                <a:solidFill>
                  <a:srgbClr val="242424"/>
                </a:solidFill>
                <a:latin typeface="Marcellus"/>
                <a:ea typeface="Marcellus"/>
                <a:cs typeface="Marcellus"/>
                <a:sym typeface="Marcellus"/>
              </a:rPr>
              <a:t>Once Pico is plugged into USB it should show up as a flashdrive!</a:t>
            </a:r>
            <a:endParaRPr sz="3800" b="1">
              <a:solidFill>
                <a:srgbClr val="242424"/>
              </a:solidFill>
              <a:latin typeface="Marcellus"/>
              <a:ea typeface="Marcellus"/>
              <a:cs typeface="Marcellus"/>
              <a:sym typeface="Marcell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19"/>
        <p:cNvGrpSpPr/>
        <p:nvPr/>
      </p:nvGrpSpPr>
      <p:grpSpPr>
        <a:xfrm>
          <a:off x="0" y="0"/>
          <a:ext cx="0" cy="0"/>
          <a:chOff x="0" y="0"/>
          <a:chExt cx="0" cy="0"/>
        </a:xfrm>
      </p:grpSpPr>
      <p:pic>
        <p:nvPicPr>
          <p:cNvPr id="320" name="Google Shape;320;g3cf353c04bd_2_347" title="select_micropython.png"/>
          <p:cNvPicPr preferRelativeResize="0"/>
          <p:nvPr/>
        </p:nvPicPr>
        <p:blipFill>
          <a:blip r:embed="rId3">
            <a:alphaModFix/>
          </a:blip>
          <a:stretch>
            <a:fillRect/>
          </a:stretch>
        </p:blipFill>
        <p:spPr>
          <a:xfrm>
            <a:off x="1364650" y="1052425"/>
            <a:ext cx="15558676" cy="9078424"/>
          </a:xfrm>
          <a:prstGeom prst="rect">
            <a:avLst/>
          </a:prstGeom>
          <a:noFill/>
          <a:ln>
            <a:noFill/>
          </a:ln>
        </p:spPr>
      </p:pic>
      <p:sp>
        <p:nvSpPr>
          <p:cNvPr id="321" name="Google Shape;321;g3cf353c04bd_2_347"/>
          <p:cNvSpPr txBox="1"/>
          <p:nvPr/>
        </p:nvSpPr>
        <p:spPr>
          <a:xfrm>
            <a:off x="374100" y="156150"/>
            <a:ext cx="17539800" cy="1143000"/>
          </a:xfrm>
          <a:prstGeom prst="rect">
            <a:avLst/>
          </a:prstGeom>
          <a:noFill/>
          <a:ln>
            <a:noFill/>
          </a:ln>
        </p:spPr>
        <p:txBody>
          <a:bodyPr spcFirstLastPara="1" wrap="square" lIns="548625" tIns="274300" rIns="274300" bIns="274300" anchor="ctr" anchorCtr="0">
            <a:noAutofit/>
          </a:bodyPr>
          <a:lstStyle/>
          <a:p>
            <a:pPr marL="457200" marR="0" lvl="0" indent="0" algn="ctr" rtl="0">
              <a:lnSpc>
                <a:spcPct val="139977"/>
              </a:lnSpc>
              <a:spcBef>
                <a:spcPts val="0"/>
              </a:spcBef>
              <a:spcAft>
                <a:spcPts val="0"/>
              </a:spcAft>
              <a:buNone/>
            </a:pPr>
            <a:r>
              <a:rPr lang="en-US" sz="3800" b="1">
                <a:solidFill>
                  <a:srgbClr val="242424"/>
                </a:solidFill>
                <a:latin typeface="Marcellus"/>
                <a:ea typeface="Marcellus"/>
                <a:cs typeface="Marcellus"/>
                <a:sym typeface="Marcellus"/>
              </a:rPr>
              <a:t>Then Open Thonny and Click on the backend in the bottom right corner, then select “Install MicroPython”</a:t>
            </a:r>
            <a:endParaRPr sz="3800" b="1">
              <a:solidFill>
                <a:srgbClr val="242424"/>
              </a:solidFill>
              <a:latin typeface="Marcellus"/>
              <a:ea typeface="Marcellus"/>
              <a:cs typeface="Marcellus"/>
              <a:sym typeface="Marcellu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25"/>
        <p:cNvGrpSpPr/>
        <p:nvPr/>
      </p:nvGrpSpPr>
      <p:grpSpPr>
        <a:xfrm>
          <a:off x="0" y="0"/>
          <a:ext cx="0" cy="0"/>
          <a:chOff x="0" y="0"/>
          <a:chExt cx="0" cy="0"/>
        </a:xfrm>
      </p:grpSpPr>
      <p:pic>
        <p:nvPicPr>
          <p:cNvPr id="326" name="Google Shape;326;g3cf353c04bd_2_351" title="install_micropython.png"/>
          <p:cNvPicPr preferRelativeResize="0"/>
          <p:nvPr/>
        </p:nvPicPr>
        <p:blipFill rotWithShape="1">
          <a:blip r:embed="rId3">
            <a:alphaModFix/>
          </a:blip>
          <a:srcRect l="23618" t="15589" r="22923" b="18382"/>
          <a:stretch/>
        </p:blipFill>
        <p:spPr>
          <a:xfrm>
            <a:off x="4679363" y="1299150"/>
            <a:ext cx="8929275" cy="6435150"/>
          </a:xfrm>
          <a:prstGeom prst="rect">
            <a:avLst/>
          </a:prstGeom>
          <a:noFill/>
          <a:ln>
            <a:noFill/>
          </a:ln>
        </p:spPr>
      </p:pic>
      <p:sp>
        <p:nvSpPr>
          <p:cNvPr id="327" name="Google Shape;327;g3cf353c04bd_2_351"/>
          <p:cNvSpPr txBox="1"/>
          <p:nvPr/>
        </p:nvSpPr>
        <p:spPr>
          <a:xfrm>
            <a:off x="374100" y="156150"/>
            <a:ext cx="17539800" cy="1143000"/>
          </a:xfrm>
          <a:prstGeom prst="rect">
            <a:avLst/>
          </a:prstGeom>
          <a:noFill/>
          <a:ln>
            <a:noFill/>
          </a:ln>
        </p:spPr>
        <p:txBody>
          <a:bodyPr spcFirstLastPara="1" wrap="square" lIns="548625" tIns="274300" rIns="274300" bIns="274300" anchor="ctr" anchorCtr="0">
            <a:noAutofit/>
          </a:bodyPr>
          <a:lstStyle/>
          <a:p>
            <a:pPr marL="457200" marR="0" lvl="0" indent="0" algn="ctr" rtl="0">
              <a:lnSpc>
                <a:spcPct val="100000"/>
              </a:lnSpc>
              <a:spcBef>
                <a:spcPts val="0"/>
              </a:spcBef>
              <a:spcAft>
                <a:spcPts val="0"/>
              </a:spcAft>
              <a:buNone/>
            </a:pPr>
            <a:r>
              <a:rPr lang="en-US" sz="3800" b="1">
                <a:solidFill>
                  <a:srgbClr val="242424"/>
                </a:solidFill>
                <a:latin typeface="Marcellus"/>
                <a:ea typeface="Marcellus"/>
                <a:cs typeface="Marcellus"/>
                <a:sym typeface="Marcellus"/>
              </a:rPr>
              <a:t>Choose the name that showed up as a drive as target Volume </a:t>
            </a:r>
            <a:endParaRPr sz="3800" b="1">
              <a:solidFill>
                <a:srgbClr val="242424"/>
              </a:solidFill>
              <a:latin typeface="Marcellus"/>
              <a:ea typeface="Marcellus"/>
              <a:cs typeface="Marcellus"/>
              <a:sym typeface="Marcellus"/>
            </a:endParaRPr>
          </a:p>
          <a:p>
            <a:pPr marL="457200" marR="0" lvl="0" indent="0" algn="ctr" rtl="0">
              <a:lnSpc>
                <a:spcPct val="100000"/>
              </a:lnSpc>
              <a:spcBef>
                <a:spcPts val="0"/>
              </a:spcBef>
              <a:spcAft>
                <a:spcPts val="0"/>
              </a:spcAft>
              <a:buNone/>
            </a:pPr>
            <a:r>
              <a:rPr lang="en-US" sz="3800" b="1">
                <a:solidFill>
                  <a:srgbClr val="242424"/>
                </a:solidFill>
                <a:latin typeface="Marcellus"/>
                <a:ea typeface="Marcellus"/>
                <a:cs typeface="Marcellus"/>
                <a:sym typeface="Marcellus"/>
              </a:rPr>
              <a:t>and Pico W/WH as the variant and install</a:t>
            </a:r>
            <a:endParaRPr sz="3800" b="1">
              <a:solidFill>
                <a:srgbClr val="242424"/>
              </a:solidFill>
              <a:latin typeface="Marcellus"/>
              <a:ea typeface="Marcellus"/>
              <a:cs typeface="Marcellus"/>
              <a:sym typeface="Marcellus"/>
            </a:endParaRPr>
          </a:p>
        </p:txBody>
      </p:sp>
      <p:sp>
        <p:nvSpPr>
          <p:cNvPr id="328" name="Google Shape;328;g3cf353c04bd_2_351"/>
          <p:cNvSpPr txBox="1"/>
          <p:nvPr/>
        </p:nvSpPr>
        <p:spPr>
          <a:xfrm>
            <a:off x="374112" y="7924800"/>
            <a:ext cx="17539800" cy="1143000"/>
          </a:xfrm>
          <a:prstGeom prst="rect">
            <a:avLst/>
          </a:prstGeom>
          <a:noFill/>
          <a:ln>
            <a:noFill/>
          </a:ln>
        </p:spPr>
        <p:txBody>
          <a:bodyPr spcFirstLastPara="1" wrap="square" lIns="548625" tIns="274300" rIns="274300" bIns="274300" anchor="ctr" anchorCtr="0">
            <a:noAutofit/>
          </a:bodyPr>
          <a:lstStyle/>
          <a:p>
            <a:pPr marL="457200" marR="0" lvl="0" indent="0" algn="ctr" rtl="0">
              <a:lnSpc>
                <a:spcPct val="100000"/>
              </a:lnSpc>
              <a:spcBef>
                <a:spcPts val="0"/>
              </a:spcBef>
              <a:spcAft>
                <a:spcPts val="0"/>
              </a:spcAft>
              <a:buNone/>
            </a:pPr>
            <a:r>
              <a:rPr lang="en-US" sz="3800" b="1">
                <a:solidFill>
                  <a:srgbClr val="242424"/>
                </a:solidFill>
                <a:latin typeface="Marcellus"/>
                <a:ea typeface="Marcellus"/>
                <a:cs typeface="Marcellus"/>
                <a:sym typeface="Marcellus"/>
              </a:rPr>
              <a:t>Wait for the pico to reboot! (no need to unplug)</a:t>
            </a:r>
            <a:endParaRPr sz="3800" b="1">
              <a:solidFill>
                <a:srgbClr val="242424"/>
              </a:solidFill>
              <a:latin typeface="Marcellus"/>
              <a:ea typeface="Marcellus"/>
              <a:cs typeface="Marcellus"/>
              <a:sym typeface="Marcellus"/>
            </a:endParaRPr>
          </a:p>
          <a:p>
            <a:pPr marL="457200" marR="0" lvl="0" indent="0" algn="ctr" rtl="0">
              <a:lnSpc>
                <a:spcPct val="100000"/>
              </a:lnSpc>
              <a:spcBef>
                <a:spcPts val="0"/>
              </a:spcBef>
              <a:spcAft>
                <a:spcPts val="0"/>
              </a:spcAft>
              <a:buNone/>
            </a:pPr>
            <a:r>
              <a:rPr lang="en-US" sz="3800" b="1">
                <a:solidFill>
                  <a:srgbClr val="242424"/>
                </a:solidFill>
                <a:latin typeface="Marcellus"/>
                <a:ea typeface="Marcellus"/>
                <a:cs typeface="Marcellus"/>
                <a:sym typeface="Marcellus"/>
              </a:rPr>
              <a:t>Once rebooted you should be able to select it as a backend with a communication port attached to it.</a:t>
            </a:r>
            <a:endParaRPr sz="3800" b="1">
              <a:solidFill>
                <a:srgbClr val="242424"/>
              </a:solidFill>
              <a:latin typeface="Marcellus"/>
              <a:ea typeface="Marcellus"/>
              <a:cs typeface="Marcellus"/>
              <a:sym typeface="Marcellus"/>
            </a:endParaRPr>
          </a:p>
        </p:txBody>
      </p:sp>
      <p:sp>
        <p:nvSpPr>
          <p:cNvPr id="329" name="Google Shape;329;g3cf353c04bd_2_351"/>
          <p:cNvSpPr txBox="1"/>
          <p:nvPr/>
        </p:nvSpPr>
        <p:spPr>
          <a:xfrm>
            <a:off x="374112" y="9067800"/>
            <a:ext cx="17539800" cy="1143000"/>
          </a:xfrm>
          <a:prstGeom prst="rect">
            <a:avLst/>
          </a:prstGeom>
          <a:noFill/>
          <a:ln>
            <a:noFill/>
          </a:ln>
        </p:spPr>
        <p:txBody>
          <a:bodyPr spcFirstLastPara="1" wrap="square" lIns="548625" tIns="274300" rIns="274300" bIns="274300" anchor="ctr" anchorCtr="0">
            <a:noAutofit/>
          </a:bodyPr>
          <a:lstStyle/>
          <a:p>
            <a:pPr marL="457200" marR="0" lvl="0" indent="0" algn="ctr" rtl="0">
              <a:lnSpc>
                <a:spcPct val="100000"/>
              </a:lnSpc>
              <a:spcBef>
                <a:spcPts val="0"/>
              </a:spcBef>
              <a:spcAft>
                <a:spcPts val="0"/>
              </a:spcAft>
              <a:buNone/>
            </a:pPr>
            <a:r>
              <a:rPr lang="en-US" sz="1600" b="1">
                <a:solidFill>
                  <a:srgbClr val="242424"/>
                </a:solidFill>
                <a:latin typeface="Marcellus"/>
                <a:ea typeface="Marcellus"/>
                <a:cs typeface="Marcellus"/>
                <a:sym typeface="Marcellus"/>
              </a:rPr>
              <a:t>Note: If this process doesn’t work, you can download the file directly from the Raspberry Pi Pico website and drag it on to the flashdrive. This will automatically reboot the pico and should work as normal.</a:t>
            </a:r>
            <a:endParaRPr sz="1600" b="1">
              <a:solidFill>
                <a:srgbClr val="242424"/>
              </a:solidFill>
              <a:latin typeface="Marcellus"/>
              <a:ea typeface="Marcellus"/>
              <a:cs typeface="Marcellus"/>
              <a:sym typeface="Marcellu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grpSp>
        <p:nvGrpSpPr>
          <p:cNvPr id="334" name="Google Shape;334;g3cf353c04bd_2_355"/>
          <p:cNvGrpSpPr/>
          <p:nvPr/>
        </p:nvGrpSpPr>
        <p:grpSpPr>
          <a:xfrm>
            <a:off x="25" y="2590793"/>
            <a:ext cx="18288118" cy="7696246"/>
            <a:chOff x="0" y="-47625"/>
            <a:chExt cx="4816592" cy="1025100"/>
          </a:xfrm>
        </p:grpSpPr>
        <p:sp>
          <p:nvSpPr>
            <p:cNvPr id="335" name="Google Shape;335;g3cf353c04bd_2_355"/>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336" name="Google Shape;336;g3cf353c04bd_2_355"/>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7" name="Google Shape;337;g3cf353c04bd_2_355"/>
          <p:cNvSpPr txBox="1"/>
          <p:nvPr/>
        </p:nvSpPr>
        <p:spPr>
          <a:xfrm>
            <a:off x="75" y="2590800"/>
            <a:ext cx="14630400" cy="1324200"/>
          </a:xfrm>
          <a:prstGeom prst="rect">
            <a:avLst/>
          </a:prstGeom>
          <a:noFill/>
          <a:ln>
            <a:noFill/>
          </a:ln>
        </p:spPr>
        <p:txBody>
          <a:bodyPr spcFirstLastPara="1" wrap="square" lIns="548625" tIns="274300" rIns="274300" bIns="274300" anchor="ctr" anchorCtr="0">
            <a:noAutofit/>
          </a:bodyPr>
          <a:lstStyle/>
          <a:p>
            <a:pPr marL="0" marR="0" lvl="0" indent="0" algn="l" rtl="0">
              <a:lnSpc>
                <a:spcPct val="139977"/>
              </a:lnSpc>
              <a:spcBef>
                <a:spcPts val="0"/>
              </a:spcBef>
              <a:spcAft>
                <a:spcPts val="0"/>
              </a:spcAft>
              <a:buNone/>
            </a:pPr>
            <a:endParaRPr sz="3800" b="1">
              <a:solidFill>
                <a:srgbClr val="242424"/>
              </a:solidFill>
              <a:latin typeface="Marcellus"/>
              <a:ea typeface="Marcellus"/>
              <a:cs typeface="Marcellus"/>
              <a:sym typeface="Marcellus"/>
            </a:endParaRPr>
          </a:p>
        </p:txBody>
      </p:sp>
      <p:sp>
        <p:nvSpPr>
          <p:cNvPr id="338" name="Google Shape;338;g3cf353c04bd_2_355"/>
          <p:cNvSpPr txBox="1"/>
          <p:nvPr/>
        </p:nvSpPr>
        <p:spPr>
          <a:xfrm>
            <a:off x="718149" y="600075"/>
            <a:ext cx="12143700" cy="1693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b="1">
                <a:solidFill>
                  <a:srgbClr val="CD2355"/>
                </a:solidFill>
                <a:latin typeface="Marcellus"/>
                <a:ea typeface="Marcellus"/>
                <a:cs typeface="Marcellus"/>
                <a:sym typeface="Marcellus"/>
              </a:rPr>
              <a:t>Blink onboard LED</a:t>
            </a:r>
            <a:endParaRPr sz="3400">
              <a:solidFill>
                <a:srgbClr val="CD2355"/>
              </a:solidFill>
              <a:latin typeface="Marcellus"/>
              <a:ea typeface="Marcellus"/>
              <a:cs typeface="Marcellus"/>
              <a:sym typeface="Marcellus"/>
            </a:endParaRPr>
          </a:p>
        </p:txBody>
      </p:sp>
      <p:pic>
        <p:nvPicPr>
          <p:cNvPr id="339" name="Google Shape;339;g3cf353c04bd_2_355" title="berry.png"/>
          <p:cNvPicPr preferRelativeResize="0"/>
          <p:nvPr/>
        </p:nvPicPr>
        <p:blipFill>
          <a:blip r:embed="rId3">
            <a:alphaModFix/>
          </a:blip>
          <a:stretch>
            <a:fillRect/>
          </a:stretch>
        </p:blipFill>
        <p:spPr>
          <a:xfrm rot="1324758">
            <a:off x="15656199" y="345825"/>
            <a:ext cx="2285992" cy="2285992"/>
          </a:xfrm>
          <a:prstGeom prst="rect">
            <a:avLst/>
          </a:prstGeom>
          <a:noFill/>
          <a:ln>
            <a:noFill/>
          </a:ln>
        </p:spPr>
      </p:pic>
      <p:pic>
        <p:nvPicPr>
          <p:cNvPr id="340" name="Google Shape;340;g3cf353c04bd_2_355" title="pico-w.png"/>
          <p:cNvPicPr preferRelativeResize="0"/>
          <p:nvPr/>
        </p:nvPicPr>
        <p:blipFill>
          <a:blip r:embed="rId4">
            <a:alphaModFix/>
          </a:blip>
          <a:stretch>
            <a:fillRect/>
          </a:stretch>
        </p:blipFill>
        <p:spPr>
          <a:xfrm rot="5400000">
            <a:off x="12877387" y="5668113"/>
            <a:ext cx="6371951" cy="2865926"/>
          </a:xfrm>
          <a:prstGeom prst="rect">
            <a:avLst/>
          </a:prstGeom>
          <a:noFill/>
          <a:ln>
            <a:noFill/>
          </a:ln>
        </p:spPr>
      </p:pic>
      <p:cxnSp>
        <p:nvCxnSpPr>
          <p:cNvPr id="341" name="Google Shape;341;g3cf353c04bd_2_355"/>
          <p:cNvCxnSpPr>
            <a:stCxn id="342" idx="2"/>
          </p:cNvCxnSpPr>
          <p:nvPr/>
        </p:nvCxnSpPr>
        <p:spPr>
          <a:xfrm flipH="1">
            <a:off x="15583963" y="3784913"/>
            <a:ext cx="479400" cy="1110000"/>
          </a:xfrm>
          <a:prstGeom prst="straightConnector1">
            <a:avLst/>
          </a:prstGeom>
          <a:noFill/>
          <a:ln w="76200" cap="flat" cmpd="sng">
            <a:solidFill>
              <a:srgbClr val="B03856"/>
            </a:solidFill>
            <a:prstDash val="solid"/>
            <a:round/>
            <a:headEnd type="none" w="med" len="med"/>
            <a:tailEnd type="triangle" w="med" len="med"/>
          </a:ln>
        </p:spPr>
      </p:cxnSp>
      <p:sp>
        <p:nvSpPr>
          <p:cNvPr id="342" name="Google Shape;342;g3cf353c04bd_2_355"/>
          <p:cNvSpPr txBox="1"/>
          <p:nvPr/>
        </p:nvSpPr>
        <p:spPr>
          <a:xfrm>
            <a:off x="14630413" y="3107813"/>
            <a:ext cx="28659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a:solidFill>
                  <a:schemeClr val="dk1"/>
                </a:solidFill>
                <a:latin typeface="Marcellus"/>
                <a:ea typeface="Marcellus"/>
                <a:cs typeface="Marcellus"/>
                <a:sym typeface="Marcellus"/>
              </a:rPr>
              <a:t>Onboard LED</a:t>
            </a:r>
            <a:endParaRPr sz="3200" b="1">
              <a:solidFill>
                <a:schemeClr val="dk1"/>
              </a:solidFill>
              <a:latin typeface="Marcellus"/>
              <a:ea typeface="Marcellus"/>
              <a:cs typeface="Marcellus"/>
              <a:sym typeface="Marcellus"/>
            </a:endParaRPr>
          </a:p>
        </p:txBody>
      </p:sp>
      <p:pic>
        <p:nvPicPr>
          <p:cNvPr id="343" name="Google Shape;343;g3cf353c04bd_2_355" title="blink.png"/>
          <p:cNvPicPr preferRelativeResize="0"/>
          <p:nvPr/>
        </p:nvPicPr>
        <p:blipFill>
          <a:blip r:embed="rId5">
            <a:alphaModFix/>
          </a:blip>
          <a:stretch>
            <a:fillRect/>
          </a:stretch>
        </p:blipFill>
        <p:spPr>
          <a:xfrm>
            <a:off x="718152" y="2849337"/>
            <a:ext cx="11033086" cy="7179176"/>
          </a:xfrm>
          <a:prstGeom prst="rect">
            <a:avLst/>
          </a:prstGeom>
          <a:noFill/>
          <a:ln>
            <a:noFill/>
          </a:ln>
        </p:spPr>
      </p:pic>
      <p:sp>
        <p:nvSpPr>
          <p:cNvPr id="344" name="Google Shape;344;g3cf353c04bd_2_355"/>
          <p:cNvSpPr txBox="1"/>
          <p:nvPr/>
        </p:nvSpPr>
        <p:spPr>
          <a:xfrm>
            <a:off x="5113513" y="3784913"/>
            <a:ext cx="28659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a:solidFill>
                  <a:schemeClr val="dk1"/>
                </a:solidFill>
                <a:latin typeface="Marcellus"/>
                <a:ea typeface="Marcellus"/>
                <a:cs typeface="Marcellus"/>
                <a:sym typeface="Marcellus"/>
              </a:rPr>
              <a:t>Pin Access</a:t>
            </a:r>
            <a:endParaRPr sz="3200" b="1">
              <a:solidFill>
                <a:schemeClr val="dk1"/>
              </a:solidFill>
              <a:latin typeface="Marcellus"/>
              <a:ea typeface="Marcellus"/>
              <a:cs typeface="Marcellus"/>
              <a:sym typeface="Marcellus"/>
            </a:endParaRPr>
          </a:p>
        </p:txBody>
      </p:sp>
      <p:sp>
        <p:nvSpPr>
          <p:cNvPr id="345" name="Google Shape;345;g3cf353c04bd_2_355"/>
          <p:cNvSpPr txBox="1"/>
          <p:nvPr/>
        </p:nvSpPr>
        <p:spPr>
          <a:xfrm>
            <a:off x="5748504" y="4462025"/>
            <a:ext cx="37683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a:solidFill>
                  <a:schemeClr val="dk1"/>
                </a:solidFill>
                <a:latin typeface="Marcellus"/>
                <a:ea typeface="Marcellus"/>
                <a:cs typeface="Marcellus"/>
                <a:sym typeface="Marcellus"/>
              </a:rPr>
              <a:t>Timing Functions</a:t>
            </a:r>
            <a:endParaRPr sz="3200" b="1">
              <a:solidFill>
                <a:schemeClr val="dk1"/>
              </a:solidFill>
              <a:latin typeface="Marcellus"/>
              <a:ea typeface="Marcellus"/>
              <a:cs typeface="Marcellus"/>
              <a:sym typeface="Marcellus"/>
            </a:endParaRPr>
          </a:p>
        </p:txBody>
      </p:sp>
      <p:cxnSp>
        <p:nvCxnSpPr>
          <p:cNvPr id="346" name="Google Shape;346;g3cf353c04bd_2_355"/>
          <p:cNvCxnSpPr/>
          <p:nvPr/>
        </p:nvCxnSpPr>
        <p:spPr>
          <a:xfrm flipH="1">
            <a:off x="3636725" y="4820225"/>
            <a:ext cx="2136000" cy="259800"/>
          </a:xfrm>
          <a:prstGeom prst="straightConnector1">
            <a:avLst/>
          </a:prstGeom>
          <a:noFill/>
          <a:ln w="76200" cap="flat" cmpd="sng">
            <a:solidFill>
              <a:schemeClr val="dk2"/>
            </a:solidFill>
            <a:prstDash val="solid"/>
            <a:round/>
            <a:headEnd type="none" w="med" len="med"/>
            <a:tailEnd type="triangle" w="med" len="med"/>
          </a:ln>
        </p:spPr>
      </p:cxnSp>
      <p:cxnSp>
        <p:nvCxnSpPr>
          <p:cNvPr id="347" name="Google Shape;347;g3cf353c04bd_2_355"/>
          <p:cNvCxnSpPr>
            <a:stCxn id="344" idx="1"/>
          </p:cNvCxnSpPr>
          <p:nvPr/>
        </p:nvCxnSpPr>
        <p:spPr>
          <a:xfrm flipH="1">
            <a:off x="4069813" y="4123463"/>
            <a:ext cx="1043700" cy="552300"/>
          </a:xfrm>
          <a:prstGeom prst="straightConnector1">
            <a:avLst/>
          </a:prstGeom>
          <a:noFill/>
          <a:ln w="76200" cap="flat" cmpd="sng">
            <a:solidFill>
              <a:schemeClr val="dk2"/>
            </a:solidFill>
            <a:prstDash val="solid"/>
            <a:round/>
            <a:headEnd type="none" w="med" len="med"/>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grpSp>
        <p:nvGrpSpPr>
          <p:cNvPr id="352" name="Google Shape;352;g3c5c0a11321_0_6"/>
          <p:cNvGrpSpPr/>
          <p:nvPr/>
        </p:nvGrpSpPr>
        <p:grpSpPr>
          <a:xfrm>
            <a:off x="25" y="2590793"/>
            <a:ext cx="18288118" cy="7696246"/>
            <a:chOff x="0" y="-47625"/>
            <a:chExt cx="4816592" cy="1025100"/>
          </a:xfrm>
        </p:grpSpPr>
        <p:sp>
          <p:nvSpPr>
            <p:cNvPr id="353" name="Google Shape;353;g3c5c0a11321_0_6"/>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354" name="Google Shape;354;g3c5c0a11321_0_6"/>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5" name="Google Shape;355;g3c5c0a11321_0_6"/>
          <p:cNvSpPr txBox="1"/>
          <p:nvPr/>
        </p:nvSpPr>
        <p:spPr>
          <a:xfrm>
            <a:off x="3257250" y="2590800"/>
            <a:ext cx="11773500" cy="1324200"/>
          </a:xfrm>
          <a:prstGeom prst="rect">
            <a:avLst/>
          </a:prstGeom>
          <a:noFill/>
          <a:ln>
            <a:noFill/>
          </a:ln>
        </p:spPr>
        <p:txBody>
          <a:bodyPr spcFirstLastPara="1" wrap="square" lIns="548625" tIns="274300" rIns="274300" bIns="274300" anchor="ctr" anchorCtr="0">
            <a:noAutofit/>
          </a:bodyPr>
          <a:lstStyle/>
          <a:p>
            <a:pPr marL="0" marR="0" lvl="0" indent="0" algn="ctr" rtl="0">
              <a:lnSpc>
                <a:spcPct val="139977"/>
              </a:lnSpc>
              <a:spcBef>
                <a:spcPts val="0"/>
              </a:spcBef>
              <a:spcAft>
                <a:spcPts val="0"/>
              </a:spcAft>
              <a:buNone/>
            </a:pPr>
            <a:r>
              <a:rPr lang="en-US" sz="3800" b="1">
                <a:solidFill>
                  <a:srgbClr val="242424"/>
                </a:solidFill>
                <a:latin typeface="Marcellus"/>
                <a:ea typeface="Marcellus"/>
                <a:cs typeface="Marcellus"/>
                <a:sym typeface="Marcellus"/>
              </a:rPr>
              <a:t>GPIO = General Purpose Input/ Output</a:t>
            </a:r>
            <a:endParaRPr sz="3800" b="1">
              <a:solidFill>
                <a:srgbClr val="242424"/>
              </a:solidFill>
              <a:latin typeface="Marcellus"/>
              <a:ea typeface="Marcellus"/>
              <a:cs typeface="Marcellus"/>
              <a:sym typeface="Marcellus"/>
            </a:endParaRPr>
          </a:p>
        </p:txBody>
      </p:sp>
      <p:sp>
        <p:nvSpPr>
          <p:cNvPr id="356" name="Google Shape;356;g3c5c0a11321_0_6"/>
          <p:cNvSpPr txBox="1"/>
          <p:nvPr/>
        </p:nvSpPr>
        <p:spPr>
          <a:xfrm>
            <a:off x="3072236" y="600075"/>
            <a:ext cx="12143700" cy="1693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1000" b="1">
                <a:solidFill>
                  <a:srgbClr val="CD2355"/>
                </a:solidFill>
                <a:latin typeface="Marcellus"/>
                <a:ea typeface="Marcellus"/>
                <a:cs typeface="Marcellus"/>
                <a:sym typeface="Marcellus"/>
              </a:rPr>
              <a:t>What is GPIO?</a:t>
            </a:r>
            <a:endParaRPr sz="3400">
              <a:solidFill>
                <a:srgbClr val="CD2355"/>
              </a:solidFill>
              <a:latin typeface="Marcellus"/>
              <a:ea typeface="Marcellus"/>
              <a:cs typeface="Marcellus"/>
              <a:sym typeface="Marcellus"/>
            </a:endParaRPr>
          </a:p>
        </p:txBody>
      </p:sp>
      <p:pic>
        <p:nvPicPr>
          <p:cNvPr id="357" name="Google Shape;357;g3c5c0a11321_0_6" title="leds.png"/>
          <p:cNvPicPr preferRelativeResize="0"/>
          <p:nvPr/>
        </p:nvPicPr>
        <p:blipFill>
          <a:blip r:embed="rId3">
            <a:alphaModFix/>
          </a:blip>
          <a:stretch>
            <a:fillRect/>
          </a:stretch>
        </p:blipFill>
        <p:spPr>
          <a:xfrm>
            <a:off x="7065800" y="7446825"/>
            <a:ext cx="3886200" cy="2215135"/>
          </a:xfrm>
          <a:prstGeom prst="rect">
            <a:avLst/>
          </a:prstGeom>
          <a:noFill/>
          <a:ln>
            <a:noFill/>
          </a:ln>
        </p:spPr>
      </p:pic>
      <p:pic>
        <p:nvPicPr>
          <p:cNvPr id="358" name="Google Shape;358;g3c5c0a11321_0_6" title="stepper-motor.png"/>
          <p:cNvPicPr preferRelativeResize="0"/>
          <p:nvPr/>
        </p:nvPicPr>
        <p:blipFill>
          <a:blip r:embed="rId4">
            <a:alphaModFix/>
          </a:blip>
          <a:stretch>
            <a:fillRect/>
          </a:stretch>
        </p:blipFill>
        <p:spPr>
          <a:xfrm rot="1046843">
            <a:off x="12869036" y="5395247"/>
            <a:ext cx="4819504" cy="4739182"/>
          </a:xfrm>
          <a:prstGeom prst="rect">
            <a:avLst/>
          </a:prstGeom>
          <a:noFill/>
          <a:ln>
            <a:noFill/>
          </a:ln>
        </p:spPr>
      </p:pic>
      <p:pic>
        <p:nvPicPr>
          <p:cNvPr id="359" name="Google Shape;359;g3c5c0a11321_0_6" title="tactiele-button-6x6x5mm_x.png"/>
          <p:cNvPicPr preferRelativeResize="0"/>
          <p:nvPr/>
        </p:nvPicPr>
        <p:blipFill>
          <a:blip r:embed="rId5">
            <a:alphaModFix/>
          </a:blip>
          <a:stretch>
            <a:fillRect/>
          </a:stretch>
        </p:blipFill>
        <p:spPr>
          <a:xfrm>
            <a:off x="12672312" y="3914994"/>
            <a:ext cx="2003927" cy="2215125"/>
          </a:xfrm>
          <a:prstGeom prst="rect">
            <a:avLst/>
          </a:prstGeom>
          <a:noFill/>
          <a:ln>
            <a:noFill/>
          </a:ln>
        </p:spPr>
      </p:pic>
      <p:pic>
        <p:nvPicPr>
          <p:cNvPr id="360" name="Google Shape;360;g3c5c0a11321_0_6" title="Ultrasonic-Sensor.png"/>
          <p:cNvPicPr preferRelativeResize="0"/>
          <p:nvPr/>
        </p:nvPicPr>
        <p:blipFill>
          <a:blip r:embed="rId6">
            <a:alphaModFix/>
          </a:blip>
          <a:stretch>
            <a:fillRect/>
          </a:stretch>
        </p:blipFill>
        <p:spPr>
          <a:xfrm>
            <a:off x="14792000" y="2832850"/>
            <a:ext cx="2930675" cy="1948900"/>
          </a:xfrm>
          <a:prstGeom prst="rect">
            <a:avLst/>
          </a:prstGeom>
          <a:noFill/>
          <a:ln>
            <a:noFill/>
          </a:ln>
        </p:spPr>
      </p:pic>
      <p:sp>
        <p:nvSpPr>
          <p:cNvPr id="361" name="Google Shape;361;g3c5c0a11321_0_6"/>
          <p:cNvSpPr txBox="1"/>
          <p:nvPr/>
        </p:nvSpPr>
        <p:spPr>
          <a:xfrm>
            <a:off x="369450" y="3914990"/>
            <a:ext cx="11773500" cy="2964300"/>
          </a:xfrm>
          <a:prstGeom prst="rect">
            <a:avLst/>
          </a:prstGeom>
          <a:noFill/>
          <a:ln>
            <a:noFill/>
          </a:ln>
        </p:spPr>
        <p:txBody>
          <a:bodyPr spcFirstLastPara="1" wrap="square" lIns="548625" tIns="274300" rIns="274300" bIns="274300" anchor="ctr" anchorCtr="0">
            <a:noAutofit/>
          </a:bodyPr>
          <a:lstStyle/>
          <a:p>
            <a:pPr marL="0" marR="0" lvl="0" indent="0" algn="l" rtl="0">
              <a:lnSpc>
                <a:spcPct val="139977"/>
              </a:lnSpc>
              <a:spcBef>
                <a:spcPts val="0"/>
              </a:spcBef>
              <a:spcAft>
                <a:spcPts val="0"/>
              </a:spcAft>
              <a:buNone/>
            </a:pPr>
            <a:r>
              <a:rPr lang="en-US" sz="3800" b="1">
                <a:solidFill>
                  <a:srgbClr val="242424"/>
                </a:solidFill>
                <a:latin typeface="Marcellus"/>
                <a:ea typeface="Marcellus"/>
                <a:cs typeface="Marcellus"/>
                <a:sym typeface="Marcellus"/>
              </a:rPr>
              <a:t>Uses digital input (1 and 0)</a:t>
            </a:r>
            <a:endParaRPr sz="3800" b="1">
              <a:solidFill>
                <a:srgbClr val="242424"/>
              </a:solidFill>
              <a:latin typeface="Marcellus"/>
              <a:ea typeface="Marcellus"/>
              <a:cs typeface="Marcellus"/>
              <a:sym typeface="Marcellus"/>
            </a:endParaRPr>
          </a:p>
          <a:p>
            <a:pPr marL="0" marR="0" lvl="0" indent="0" algn="l" rtl="0">
              <a:lnSpc>
                <a:spcPct val="139977"/>
              </a:lnSpc>
              <a:spcBef>
                <a:spcPts val="0"/>
              </a:spcBef>
              <a:spcAft>
                <a:spcPts val="0"/>
              </a:spcAft>
              <a:buNone/>
            </a:pPr>
            <a:r>
              <a:rPr lang="en-US" sz="3800" b="1">
                <a:solidFill>
                  <a:srgbClr val="242424"/>
                </a:solidFill>
                <a:latin typeface="Marcellus"/>
                <a:ea typeface="Marcellus"/>
                <a:cs typeface="Marcellus"/>
                <a:sym typeface="Marcellus"/>
              </a:rPr>
              <a:t>As input, peripheral requires external power</a:t>
            </a:r>
            <a:endParaRPr sz="3800" b="1">
              <a:solidFill>
                <a:srgbClr val="242424"/>
              </a:solidFill>
              <a:latin typeface="Marcellus"/>
              <a:ea typeface="Marcellus"/>
              <a:cs typeface="Marcellus"/>
              <a:sym typeface="Marcellus"/>
            </a:endParaRPr>
          </a:p>
          <a:p>
            <a:pPr marL="0" marR="0" lvl="0" indent="0" algn="l" rtl="0">
              <a:lnSpc>
                <a:spcPct val="139977"/>
              </a:lnSpc>
              <a:spcBef>
                <a:spcPts val="0"/>
              </a:spcBef>
              <a:spcAft>
                <a:spcPts val="0"/>
              </a:spcAft>
              <a:buNone/>
            </a:pPr>
            <a:r>
              <a:rPr lang="en-US" sz="3800" b="1">
                <a:solidFill>
                  <a:srgbClr val="242424"/>
                </a:solidFill>
                <a:latin typeface="Marcellus"/>
                <a:ea typeface="Marcellus"/>
                <a:cs typeface="Marcellus"/>
                <a:sym typeface="Marcellus"/>
              </a:rPr>
              <a:t>As output, typically provides peripheral with some sort of power</a:t>
            </a:r>
            <a:endParaRPr sz="3800" b="1">
              <a:solidFill>
                <a:srgbClr val="242424"/>
              </a:solidFill>
              <a:latin typeface="Marcellus"/>
              <a:ea typeface="Marcellus"/>
              <a:cs typeface="Marcellus"/>
              <a:sym typeface="Marcellus"/>
            </a:endParaRPr>
          </a:p>
          <a:p>
            <a:pPr marL="457200" marR="0" lvl="0" indent="-469900" algn="l" rtl="0">
              <a:lnSpc>
                <a:spcPct val="139977"/>
              </a:lnSpc>
              <a:spcBef>
                <a:spcPts val="0"/>
              </a:spcBef>
              <a:spcAft>
                <a:spcPts val="0"/>
              </a:spcAft>
              <a:buClr>
                <a:srgbClr val="242424"/>
              </a:buClr>
              <a:buSzPts val="3800"/>
              <a:buFont typeface="Marcellus"/>
              <a:buChar char="-"/>
            </a:pPr>
            <a:r>
              <a:rPr lang="en-US" sz="3800" b="1">
                <a:solidFill>
                  <a:srgbClr val="242424"/>
                </a:solidFill>
                <a:latin typeface="Marcellus"/>
                <a:ea typeface="Marcellus"/>
                <a:cs typeface="Marcellus"/>
                <a:sym typeface="Marcellus"/>
              </a:rPr>
              <a:t>note: sometimes external power is still required</a:t>
            </a:r>
            <a:endParaRPr sz="3800" b="1">
              <a:solidFill>
                <a:srgbClr val="242424"/>
              </a:solidFill>
              <a:latin typeface="Marcellus"/>
              <a:ea typeface="Marcellus"/>
              <a:cs typeface="Marcellus"/>
              <a:sym typeface="Marcellu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grpSp>
        <p:nvGrpSpPr>
          <p:cNvPr id="366" name="Google Shape;366;g3cf353c04bd_2_381"/>
          <p:cNvGrpSpPr/>
          <p:nvPr/>
        </p:nvGrpSpPr>
        <p:grpSpPr>
          <a:xfrm>
            <a:off x="25" y="2590793"/>
            <a:ext cx="18288118" cy="7696246"/>
            <a:chOff x="0" y="-47625"/>
            <a:chExt cx="4816592" cy="1025100"/>
          </a:xfrm>
        </p:grpSpPr>
        <p:sp>
          <p:nvSpPr>
            <p:cNvPr id="367" name="Google Shape;367;g3cf353c04bd_2_381"/>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368" name="Google Shape;368;g3cf353c04bd_2_381"/>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9" name="Google Shape;369;g3cf353c04bd_2_381"/>
          <p:cNvSpPr txBox="1"/>
          <p:nvPr/>
        </p:nvSpPr>
        <p:spPr>
          <a:xfrm>
            <a:off x="75" y="2590800"/>
            <a:ext cx="14630400" cy="1324200"/>
          </a:xfrm>
          <a:prstGeom prst="rect">
            <a:avLst/>
          </a:prstGeom>
          <a:noFill/>
          <a:ln>
            <a:noFill/>
          </a:ln>
        </p:spPr>
        <p:txBody>
          <a:bodyPr spcFirstLastPara="1" wrap="square" lIns="548625" tIns="274300" rIns="274300" bIns="274300" anchor="ctr" anchorCtr="0">
            <a:noAutofit/>
          </a:bodyPr>
          <a:lstStyle/>
          <a:p>
            <a:pPr marL="0" marR="0" lvl="0" indent="0" algn="l" rtl="0">
              <a:lnSpc>
                <a:spcPct val="139977"/>
              </a:lnSpc>
              <a:spcBef>
                <a:spcPts val="0"/>
              </a:spcBef>
              <a:spcAft>
                <a:spcPts val="0"/>
              </a:spcAft>
              <a:buNone/>
            </a:pPr>
            <a:endParaRPr sz="3800" b="1">
              <a:solidFill>
                <a:srgbClr val="242424"/>
              </a:solidFill>
              <a:latin typeface="Marcellus"/>
              <a:ea typeface="Marcellus"/>
              <a:cs typeface="Marcellus"/>
              <a:sym typeface="Marcellus"/>
            </a:endParaRPr>
          </a:p>
        </p:txBody>
      </p:sp>
      <p:sp>
        <p:nvSpPr>
          <p:cNvPr id="370" name="Google Shape;370;g3cf353c04bd_2_381"/>
          <p:cNvSpPr txBox="1"/>
          <p:nvPr/>
        </p:nvSpPr>
        <p:spPr>
          <a:xfrm>
            <a:off x="718149" y="600075"/>
            <a:ext cx="12143700" cy="1693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b="1">
                <a:solidFill>
                  <a:srgbClr val="CD2355"/>
                </a:solidFill>
                <a:latin typeface="Marcellus"/>
                <a:ea typeface="Marcellus"/>
                <a:cs typeface="Marcellus"/>
                <a:sym typeface="Marcellus"/>
              </a:rPr>
              <a:t>Electronics Basics</a:t>
            </a:r>
            <a:endParaRPr sz="3400">
              <a:solidFill>
                <a:srgbClr val="CD2355"/>
              </a:solidFill>
              <a:latin typeface="Marcellus"/>
              <a:ea typeface="Marcellus"/>
              <a:cs typeface="Marcellus"/>
              <a:sym typeface="Marcellus"/>
            </a:endParaRPr>
          </a:p>
        </p:txBody>
      </p:sp>
      <p:pic>
        <p:nvPicPr>
          <p:cNvPr id="371" name="Google Shape;371;g3cf353c04bd_2_381" title="leds.png"/>
          <p:cNvPicPr preferRelativeResize="0"/>
          <p:nvPr/>
        </p:nvPicPr>
        <p:blipFill>
          <a:blip r:embed="rId3">
            <a:alphaModFix/>
          </a:blip>
          <a:stretch>
            <a:fillRect/>
          </a:stretch>
        </p:blipFill>
        <p:spPr>
          <a:xfrm>
            <a:off x="12503975" y="600075"/>
            <a:ext cx="5273900" cy="3006124"/>
          </a:xfrm>
          <a:prstGeom prst="rect">
            <a:avLst/>
          </a:prstGeom>
          <a:noFill/>
          <a:ln>
            <a:noFill/>
          </a:ln>
        </p:spPr>
      </p:pic>
      <p:sp>
        <p:nvSpPr>
          <p:cNvPr id="372" name="Google Shape;372;g3cf353c04bd_2_381"/>
          <p:cNvSpPr txBox="1"/>
          <p:nvPr/>
        </p:nvSpPr>
        <p:spPr>
          <a:xfrm>
            <a:off x="1380575" y="3135100"/>
            <a:ext cx="6386100" cy="1077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5800">
                <a:solidFill>
                  <a:schemeClr val="dk1"/>
                </a:solidFill>
                <a:latin typeface="Marcellus"/>
                <a:ea typeface="Marcellus"/>
                <a:cs typeface="Marcellus"/>
                <a:sym typeface="Marcellus"/>
              </a:rPr>
              <a:t>OHM’S LAW: V=IR</a:t>
            </a:r>
            <a:endParaRPr sz="5800">
              <a:solidFill>
                <a:schemeClr val="dk1"/>
              </a:solidFill>
              <a:latin typeface="Marcellus"/>
              <a:ea typeface="Marcellus"/>
              <a:cs typeface="Marcellus"/>
              <a:sym typeface="Marcellus"/>
            </a:endParaRPr>
          </a:p>
        </p:txBody>
      </p:sp>
      <p:sp>
        <p:nvSpPr>
          <p:cNvPr id="373" name="Google Shape;373;g3cf353c04bd_2_381"/>
          <p:cNvSpPr txBox="1"/>
          <p:nvPr/>
        </p:nvSpPr>
        <p:spPr>
          <a:xfrm>
            <a:off x="1380575" y="4735850"/>
            <a:ext cx="9784800" cy="207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100">
                <a:solidFill>
                  <a:schemeClr val="dk1"/>
                </a:solidFill>
                <a:latin typeface="Marcellus"/>
                <a:ea typeface="Marcellus"/>
                <a:cs typeface="Marcellus"/>
                <a:sym typeface="Marcellus"/>
              </a:rPr>
              <a:t>Pico GPIO pin voltage: 3.3 V</a:t>
            </a:r>
            <a:endParaRPr sz="4100">
              <a:solidFill>
                <a:schemeClr val="dk1"/>
              </a:solidFill>
              <a:latin typeface="Marcellus"/>
              <a:ea typeface="Marcellus"/>
              <a:cs typeface="Marcellus"/>
              <a:sym typeface="Marcellus"/>
            </a:endParaRPr>
          </a:p>
          <a:p>
            <a:pPr marL="0" lvl="0" indent="0" algn="l" rtl="0">
              <a:spcBef>
                <a:spcPts val="0"/>
              </a:spcBef>
              <a:spcAft>
                <a:spcPts val="0"/>
              </a:spcAft>
              <a:buNone/>
            </a:pPr>
            <a:r>
              <a:rPr lang="en-US" sz="4100">
                <a:solidFill>
                  <a:schemeClr val="dk1"/>
                </a:solidFill>
                <a:latin typeface="Marcellus"/>
                <a:ea typeface="Marcellus"/>
                <a:cs typeface="Marcellus"/>
                <a:sym typeface="Marcellus"/>
              </a:rPr>
              <a:t>LED voltage drop: 2.0 V</a:t>
            </a:r>
            <a:endParaRPr sz="4100">
              <a:solidFill>
                <a:schemeClr val="dk1"/>
              </a:solidFill>
              <a:latin typeface="Marcellus"/>
              <a:ea typeface="Marcellus"/>
              <a:cs typeface="Marcellus"/>
              <a:sym typeface="Marcellus"/>
            </a:endParaRPr>
          </a:p>
          <a:p>
            <a:pPr marL="0" lvl="0" indent="0" algn="l" rtl="0">
              <a:spcBef>
                <a:spcPts val="0"/>
              </a:spcBef>
              <a:spcAft>
                <a:spcPts val="0"/>
              </a:spcAft>
              <a:buNone/>
            </a:pPr>
            <a:r>
              <a:rPr lang="en-US" sz="4100">
                <a:solidFill>
                  <a:schemeClr val="dk1"/>
                </a:solidFill>
                <a:latin typeface="Marcellus"/>
                <a:ea typeface="Marcellus"/>
                <a:cs typeface="Marcellus"/>
                <a:sym typeface="Marcellus"/>
              </a:rPr>
              <a:t>Safe LED Current: 10-30 mA</a:t>
            </a:r>
            <a:endParaRPr sz="3800">
              <a:solidFill>
                <a:schemeClr val="dk1"/>
              </a:solidFill>
              <a:latin typeface="Marcellus"/>
              <a:ea typeface="Marcellus"/>
              <a:cs typeface="Marcellus"/>
              <a:sym typeface="Marcellus"/>
            </a:endParaRPr>
          </a:p>
        </p:txBody>
      </p:sp>
      <p:sp>
        <p:nvSpPr>
          <p:cNvPr id="374" name="Google Shape;374;g3cf353c04bd_2_381"/>
          <p:cNvSpPr txBox="1"/>
          <p:nvPr/>
        </p:nvSpPr>
        <p:spPr>
          <a:xfrm>
            <a:off x="1380575" y="7634500"/>
            <a:ext cx="1365000" cy="1077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5800">
                <a:solidFill>
                  <a:schemeClr val="dk1"/>
                </a:solidFill>
                <a:latin typeface="Marcellus"/>
                <a:ea typeface="Marcellus"/>
                <a:cs typeface="Marcellus"/>
                <a:sym typeface="Marcellus"/>
              </a:rPr>
              <a:t>R= </a:t>
            </a:r>
            <a:endParaRPr sz="5800">
              <a:solidFill>
                <a:schemeClr val="dk1"/>
              </a:solidFill>
              <a:latin typeface="Marcellus"/>
              <a:ea typeface="Marcellus"/>
              <a:cs typeface="Marcellus"/>
              <a:sym typeface="Marcellus"/>
            </a:endParaRPr>
          </a:p>
        </p:txBody>
      </p:sp>
      <p:sp>
        <p:nvSpPr>
          <p:cNvPr id="375" name="Google Shape;375;g3cf353c04bd_2_381"/>
          <p:cNvSpPr txBox="1"/>
          <p:nvPr/>
        </p:nvSpPr>
        <p:spPr>
          <a:xfrm>
            <a:off x="2544900" y="7240550"/>
            <a:ext cx="3298200" cy="815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4100">
                <a:solidFill>
                  <a:schemeClr val="dk1"/>
                </a:solidFill>
                <a:latin typeface="Marcellus"/>
                <a:ea typeface="Marcellus"/>
                <a:cs typeface="Marcellus"/>
                <a:sym typeface="Marcellus"/>
              </a:rPr>
              <a:t>3.3 V - 2.0 V</a:t>
            </a:r>
            <a:endParaRPr sz="3800">
              <a:solidFill>
                <a:schemeClr val="dk1"/>
              </a:solidFill>
              <a:latin typeface="Marcellus"/>
              <a:ea typeface="Marcellus"/>
              <a:cs typeface="Marcellus"/>
              <a:sym typeface="Marcellus"/>
            </a:endParaRPr>
          </a:p>
        </p:txBody>
      </p:sp>
      <p:sp>
        <p:nvSpPr>
          <p:cNvPr id="376" name="Google Shape;376;g3cf353c04bd_2_381"/>
          <p:cNvSpPr txBox="1"/>
          <p:nvPr/>
        </p:nvSpPr>
        <p:spPr>
          <a:xfrm>
            <a:off x="2544900" y="8193500"/>
            <a:ext cx="3298200" cy="815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4100">
                <a:solidFill>
                  <a:schemeClr val="dk1"/>
                </a:solidFill>
                <a:latin typeface="Marcellus"/>
                <a:ea typeface="Marcellus"/>
                <a:cs typeface="Marcellus"/>
                <a:sym typeface="Marcellus"/>
              </a:rPr>
              <a:t>0.02 A</a:t>
            </a:r>
            <a:endParaRPr sz="3800">
              <a:solidFill>
                <a:schemeClr val="dk1"/>
              </a:solidFill>
              <a:latin typeface="Marcellus"/>
              <a:ea typeface="Marcellus"/>
              <a:cs typeface="Marcellus"/>
              <a:sym typeface="Marcellus"/>
            </a:endParaRPr>
          </a:p>
        </p:txBody>
      </p:sp>
      <p:cxnSp>
        <p:nvCxnSpPr>
          <p:cNvPr id="377" name="Google Shape;377;g3cf353c04bd_2_381"/>
          <p:cNvCxnSpPr/>
          <p:nvPr/>
        </p:nvCxnSpPr>
        <p:spPr>
          <a:xfrm>
            <a:off x="2513850" y="8173150"/>
            <a:ext cx="3360300" cy="0"/>
          </a:xfrm>
          <a:prstGeom prst="straightConnector1">
            <a:avLst/>
          </a:prstGeom>
          <a:noFill/>
          <a:ln w="76200" cap="flat" cmpd="sng">
            <a:solidFill>
              <a:schemeClr val="dk1"/>
            </a:solidFill>
            <a:prstDash val="solid"/>
            <a:round/>
            <a:headEnd type="none" w="med" len="med"/>
            <a:tailEnd type="none" w="med" len="med"/>
          </a:ln>
        </p:spPr>
      </p:cxnSp>
      <p:sp>
        <p:nvSpPr>
          <p:cNvPr id="378" name="Google Shape;378;g3cf353c04bd_2_381"/>
          <p:cNvSpPr txBox="1"/>
          <p:nvPr/>
        </p:nvSpPr>
        <p:spPr>
          <a:xfrm>
            <a:off x="6013250" y="7634500"/>
            <a:ext cx="2989200" cy="1077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5800">
                <a:solidFill>
                  <a:schemeClr val="dk1"/>
                </a:solidFill>
                <a:latin typeface="Marcellus"/>
                <a:ea typeface="Marcellus"/>
                <a:cs typeface="Marcellus"/>
                <a:sym typeface="Marcellus"/>
              </a:rPr>
              <a:t>= 65 Ω</a:t>
            </a:r>
            <a:endParaRPr sz="5800">
              <a:solidFill>
                <a:schemeClr val="dk1"/>
              </a:solidFill>
              <a:latin typeface="Marcellus"/>
              <a:ea typeface="Marcellus"/>
              <a:cs typeface="Marcellus"/>
              <a:sym typeface="Marcellus"/>
            </a:endParaRPr>
          </a:p>
        </p:txBody>
      </p:sp>
      <p:sp>
        <p:nvSpPr>
          <p:cNvPr id="379" name="Google Shape;379;g3cf353c04bd_2_381"/>
          <p:cNvSpPr txBox="1"/>
          <p:nvPr/>
        </p:nvSpPr>
        <p:spPr>
          <a:xfrm>
            <a:off x="9141550" y="7634500"/>
            <a:ext cx="8636400" cy="908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4700">
                <a:solidFill>
                  <a:schemeClr val="dk1"/>
                </a:solidFill>
                <a:latin typeface="Marcellus"/>
                <a:ea typeface="Marcellus"/>
                <a:cs typeface="Marcellus"/>
                <a:sym typeface="Marcellus"/>
              </a:rPr>
              <a:t>Choose closest value available! </a:t>
            </a:r>
            <a:endParaRPr sz="4700">
              <a:solidFill>
                <a:schemeClr val="dk1"/>
              </a:solidFill>
              <a:latin typeface="Marcellus"/>
              <a:ea typeface="Marcellus"/>
              <a:cs typeface="Marcellus"/>
              <a:sym typeface="Marcellus"/>
            </a:endParaRPr>
          </a:p>
        </p:txBody>
      </p:sp>
      <p:sp>
        <p:nvSpPr>
          <p:cNvPr id="380" name="Google Shape;380;g3cf353c04bd_2_381"/>
          <p:cNvSpPr txBox="1"/>
          <p:nvPr/>
        </p:nvSpPr>
        <p:spPr>
          <a:xfrm>
            <a:off x="9172600" y="8542600"/>
            <a:ext cx="8636400" cy="692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300">
                <a:solidFill>
                  <a:schemeClr val="dk1"/>
                </a:solidFill>
                <a:latin typeface="Marcellus"/>
                <a:ea typeface="Marcellus"/>
                <a:cs typeface="Marcellus"/>
                <a:sym typeface="Marcellus"/>
              </a:rPr>
              <a:t>(I used 220 Ω) </a:t>
            </a:r>
            <a:endParaRPr sz="3300">
              <a:solidFill>
                <a:schemeClr val="dk1"/>
              </a:solidFill>
              <a:latin typeface="Marcellus"/>
              <a:ea typeface="Marcellus"/>
              <a:cs typeface="Marcellus"/>
              <a:sym typeface="Marcellus"/>
            </a:endParaRPr>
          </a:p>
        </p:txBody>
      </p:sp>
      <p:pic>
        <p:nvPicPr>
          <p:cNvPr id="381" name="Google Shape;381;g3cf353c04bd_2_381" title="LED_circuit.svg.png"/>
          <p:cNvPicPr preferRelativeResize="0"/>
          <p:nvPr/>
        </p:nvPicPr>
        <p:blipFill>
          <a:blip r:embed="rId4">
            <a:alphaModFix/>
          </a:blip>
          <a:stretch>
            <a:fillRect/>
          </a:stretch>
        </p:blipFill>
        <p:spPr>
          <a:xfrm>
            <a:off x="9002450" y="3647713"/>
            <a:ext cx="3945275" cy="3945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385"/>
        <p:cNvGrpSpPr/>
        <p:nvPr/>
      </p:nvGrpSpPr>
      <p:grpSpPr>
        <a:xfrm>
          <a:off x="0" y="0"/>
          <a:ext cx="0" cy="0"/>
          <a:chOff x="0" y="0"/>
          <a:chExt cx="0" cy="0"/>
        </a:xfrm>
      </p:grpSpPr>
      <p:grpSp>
        <p:nvGrpSpPr>
          <p:cNvPr id="386" name="Google Shape;386;g3cf353c04bd_2_399"/>
          <p:cNvGrpSpPr/>
          <p:nvPr/>
        </p:nvGrpSpPr>
        <p:grpSpPr>
          <a:xfrm>
            <a:off x="1028675" y="2535299"/>
            <a:ext cx="7885903" cy="6917460"/>
            <a:chOff x="0" y="-57150"/>
            <a:chExt cx="2076932" cy="734400"/>
          </a:xfrm>
        </p:grpSpPr>
        <p:sp>
          <p:nvSpPr>
            <p:cNvPr id="387" name="Google Shape;387;g3cf353c04bd_2_399"/>
            <p:cNvSpPr/>
            <p:nvPr/>
          </p:nvSpPr>
          <p:spPr>
            <a:xfrm>
              <a:off x="0" y="0"/>
              <a:ext cx="2076932" cy="677156"/>
            </a:xfrm>
            <a:custGeom>
              <a:avLst/>
              <a:gdLst/>
              <a:ahLst/>
              <a:cxnLst/>
              <a:rect l="l" t="t" r="r" b="b"/>
              <a:pathLst>
                <a:path w="2076932" h="677156" extrusionOk="0">
                  <a:moveTo>
                    <a:pt x="49087" y="0"/>
                  </a:moveTo>
                  <a:lnTo>
                    <a:pt x="2027845" y="0"/>
                  </a:lnTo>
                  <a:cubicBezTo>
                    <a:pt x="2040863" y="0"/>
                    <a:pt x="2053349" y="5172"/>
                    <a:pt x="2062555" y="14377"/>
                  </a:cubicBezTo>
                  <a:cubicBezTo>
                    <a:pt x="2071760" y="23583"/>
                    <a:pt x="2076932" y="36069"/>
                    <a:pt x="2076932" y="49087"/>
                  </a:cubicBezTo>
                  <a:lnTo>
                    <a:pt x="2076932" y="628069"/>
                  </a:lnTo>
                  <a:cubicBezTo>
                    <a:pt x="2076932" y="655179"/>
                    <a:pt x="2054955" y="677156"/>
                    <a:pt x="2027845" y="677156"/>
                  </a:cubicBezTo>
                  <a:lnTo>
                    <a:pt x="49087" y="677156"/>
                  </a:lnTo>
                  <a:cubicBezTo>
                    <a:pt x="36069" y="677156"/>
                    <a:pt x="23583" y="671984"/>
                    <a:pt x="14377" y="662779"/>
                  </a:cubicBezTo>
                  <a:cubicBezTo>
                    <a:pt x="5172" y="653573"/>
                    <a:pt x="0" y="641087"/>
                    <a:pt x="0" y="628069"/>
                  </a:cubicBezTo>
                  <a:lnTo>
                    <a:pt x="0" y="49087"/>
                  </a:lnTo>
                  <a:cubicBezTo>
                    <a:pt x="0" y="36069"/>
                    <a:pt x="5172" y="23583"/>
                    <a:pt x="14377" y="14377"/>
                  </a:cubicBezTo>
                  <a:cubicBezTo>
                    <a:pt x="23583" y="5172"/>
                    <a:pt x="36069" y="0"/>
                    <a:pt x="490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g3cf353c04bd_2_399"/>
            <p:cNvSpPr txBox="1"/>
            <p:nvPr/>
          </p:nvSpPr>
          <p:spPr>
            <a:xfrm>
              <a:off x="0" y="-57150"/>
              <a:ext cx="2076900" cy="734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9" name="Google Shape;389;g3cf353c04bd_2_399"/>
          <p:cNvGrpSpPr/>
          <p:nvPr/>
        </p:nvGrpSpPr>
        <p:grpSpPr>
          <a:xfrm>
            <a:off x="9430375" y="2535299"/>
            <a:ext cx="7885903" cy="7091807"/>
            <a:chOff x="0" y="-57150"/>
            <a:chExt cx="2076932" cy="734400"/>
          </a:xfrm>
        </p:grpSpPr>
        <p:sp>
          <p:nvSpPr>
            <p:cNvPr id="390" name="Google Shape;390;g3cf353c04bd_2_399"/>
            <p:cNvSpPr/>
            <p:nvPr/>
          </p:nvSpPr>
          <p:spPr>
            <a:xfrm>
              <a:off x="0" y="0"/>
              <a:ext cx="2076932" cy="677156"/>
            </a:xfrm>
            <a:custGeom>
              <a:avLst/>
              <a:gdLst/>
              <a:ahLst/>
              <a:cxnLst/>
              <a:rect l="l" t="t" r="r" b="b"/>
              <a:pathLst>
                <a:path w="2076932" h="677156" extrusionOk="0">
                  <a:moveTo>
                    <a:pt x="49087" y="0"/>
                  </a:moveTo>
                  <a:lnTo>
                    <a:pt x="2027845" y="0"/>
                  </a:lnTo>
                  <a:cubicBezTo>
                    <a:pt x="2040863" y="0"/>
                    <a:pt x="2053349" y="5172"/>
                    <a:pt x="2062555" y="14377"/>
                  </a:cubicBezTo>
                  <a:cubicBezTo>
                    <a:pt x="2071760" y="23583"/>
                    <a:pt x="2076932" y="36069"/>
                    <a:pt x="2076932" y="49087"/>
                  </a:cubicBezTo>
                  <a:lnTo>
                    <a:pt x="2076932" y="628069"/>
                  </a:lnTo>
                  <a:cubicBezTo>
                    <a:pt x="2076932" y="655179"/>
                    <a:pt x="2054955" y="677156"/>
                    <a:pt x="2027845" y="677156"/>
                  </a:cubicBezTo>
                  <a:lnTo>
                    <a:pt x="49087" y="677156"/>
                  </a:lnTo>
                  <a:cubicBezTo>
                    <a:pt x="36069" y="677156"/>
                    <a:pt x="23583" y="671984"/>
                    <a:pt x="14377" y="662779"/>
                  </a:cubicBezTo>
                  <a:cubicBezTo>
                    <a:pt x="5172" y="653573"/>
                    <a:pt x="0" y="641087"/>
                    <a:pt x="0" y="628069"/>
                  </a:cubicBezTo>
                  <a:lnTo>
                    <a:pt x="0" y="49087"/>
                  </a:lnTo>
                  <a:cubicBezTo>
                    <a:pt x="0" y="36069"/>
                    <a:pt x="5172" y="23583"/>
                    <a:pt x="14377" y="14377"/>
                  </a:cubicBezTo>
                  <a:cubicBezTo>
                    <a:pt x="23583" y="5172"/>
                    <a:pt x="36069" y="0"/>
                    <a:pt x="490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g3cf353c04bd_2_399"/>
            <p:cNvSpPr txBox="1"/>
            <p:nvPr/>
          </p:nvSpPr>
          <p:spPr>
            <a:xfrm>
              <a:off x="0" y="-57150"/>
              <a:ext cx="2076900" cy="734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2" name="Google Shape;392;g3cf353c04bd_2_399"/>
          <p:cNvSpPr txBox="1"/>
          <p:nvPr/>
        </p:nvSpPr>
        <p:spPr>
          <a:xfrm>
            <a:off x="1028700" y="1152525"/>
            <a:ext cx="10231200" cy="1354500"/>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8799" b="1">
                <a:solidFill>
                  <a:srgbClr val="B03856"/>
                </a:solidFill>
                <a:latin typeface="Marcellus"/>
                <a:ea typeface="Marcellus"/>
                <a:cs typeface="Marcellus"/>
                <a:sym typeface="Marcellus"/>
              </a:rPr>
              <a:t>Hands-On Tutorials</a:t>
            </a:r>
            <a:endParaRPr b="1">
              <a:solidFill>
                <a:srgbClr val="B03856"/>
              </a:solidFill>
            </a:endParaRPr>
          </a:p>
        </p:txBody>
      </p:sp>
      <p:sp>
        <p:nvSpPr>
          <p:cNvPr id="393" name="Google Shape;393;g3cf353c04bd_2_399"/>
          <p:cNvSpPr txBox="1"/>
          <p:nvPr/>
        </p:nvSpPr>
        <p:spPr>
          <a:xfrm>
            <a:off x="1028725" y="3045700"/>
            <a:ext cx="7885800" cy="1403400"/>
          </a:xfrm>
          <a:prstGeom prst="rect">
            <a:avLst/>
          </a:prstGeom>
          <a:noFill/>
          <a:ln>
            <a:noFill/>
          </a:ln>
        </p:spPr>
        <p:txBody>
          <a:bodyPr spcFirstLastPara="1" wrap="square" lIns="0" tIns="0" rIns="0" bIns="0" anchor="t" anchorCtr="0">
            <a:spAutoFit/>
          </a:bodyPr>
          <a:lstStyle/>
          <a:p>
            <a:pPr marL="457200" marR="0" lvl="0" indent="-381000" algn="l" rtl="0">
              <a:lnSpc>
                <a:spcPct val="139958"/>
              </a:lnSpc>
              <a:spcBef>
                <a:spcPts val="0"/>
              </a:spcBef>
              <a:spcAft>
                <a:spcPts val="0"/>
              </a:spcAft>
              <a:buClr>
                <a:srgbClr val="1B092D"/>
              </a:buClr>
              <a:buSzPts val="2400"/>
              <a:buFont typeface="Marcellus"/>
              <a:buChar char="-"/>
            </a:pPr>
            <a:r>
              <a:rPr lang="en-US" sz="2400">
                <a:solidFill>
                  <a:srgbClr val="1B092D"/>
                </a:solidFill>
                <a:latin typeface="Marcellus"/>
                <a:ea typeface="Marcellus"/>
                <a:cs typeface="Marcellus"/>
                <a:sym typeface="Marcellus"/>
              </a:rPr>
              <a:t>Wire up an LED to a GPIO pin</a:t>
            </a:r>
            <a:endParaRPr sz="2400">
              <a:solidFill>
                <a:srgbClr val="1B092D"/>
              </a:solidFill>
              <a:latin typeface="Marcellus"/>
              <a:ea typeface="Marcellus"/>
              <a:cs typeface="Marcellus"/>
              <a:sym typeface="Marcellus"/>
            </a:endParaRPr>
          </a:p>
          <a:p>
            <a:pPr marL="457200" marR="0" lvl="0" indent="-381000" algn="l" rtl="0">
              <a:lnSpc>
                <a:spcPct val="139958"/>
              </a:lnSpc>
              <a:spcBef>
                <a:spcPts val="0"/>
              </a:spcBef>
              <a:spcAft>
                <a:spcPts val="0"/>
              </a:spcAft>
              <a:buClr>
                <a:srgbClr val="1B092D"/>
              </a:buClr>
              <a:buSzPts val="2400"/>
              <a:buFont typeface="Marcellus"/>
              <a:buChar char="-"/>
            </a:pPr>
            <a:r>
              <a:rPr lang="en-US" sz="2400">
                <a:solidFill>
                  <a:srgbClr val="1B092D"/>
                </a:solidFill>
                <a:latin typeface="Marcellus"/>
                <a:ea typeface="Marcellus"/>
                <a:cs typeface="Marcellus"/>
                <a:sym typeface="Marcellus"/>
              </a:rPr>
              <a:t>Write  MicroPython Program to Blink the LED</a:t>
            </a:r>
            <a:endParaRPr sz="2400">
              <a:solidFill>
                <a:srgbClr val="1B092D"/>
              </a:solidFill>
              <a:latin typeface="Marcellus"/>
              <a:ea typeface="Marcellus"/>
              <a:cs typeface="Marcellus"/>
              <a:sym typeface="Marcellus"/>
            </a:endParaRPr>
          </a:p>
          <a:p>
            <a:pPr marL="457200" marR="0" lvl="0" indent="-381000" algn="l" rtl="0">
              <a:lnSpc>
                <a:spcPct val="139958"/>
              </a:lnSpc>
              <a:spcBef>
                <a:spcPts val="0"/>
              </a:spcBef>
              <a:spcAft>
                <a:spcPts val="0"/>
              </a:spcAft>
              <a:buClr>
                <a:srgbClr val="1B092D"/>
              </a:buClr>
              <a:buSzPts val="2400"/>
              <a:buFont typeface="Marcellus"/>
              <a:buChar char="-"/>
            </a:pPr>
            <a:r>
              <a:rPr lang="en-US" sz="2400">
                <a:solidFill>
                  <a:srgbClr val="1B092D"/>
                </a:solidFill>
                <a:latin typeface="Marcellus"/>
                <a:ea typeface="Marcellus"/>
                <a:cs typeface="Marcellus"/>
                <a:sym typeface="Marcellus"/>
              </a:rPr>
              <a:t>Play with Blink timing</a:t>
            </a:r>
            <a:endParaRPr sz="2400">
              <a:solidFill>
                <a:srgbClr val="1B092D"/>
              </a:solidFill>
              <a:latin typeface="Marcellus"/>
              <a:ea typeface="Marcellus"/>
              <a:cs typeface="Marcellus"/>
              <a:sym typeface="Marcellus"/>
            </a:endParaRPr>
          </a:p>
        </p:txBody>
      </p:sp>
      <p:sp>
        <p:nvSpPr>
          <p:cNvPr id="394" name="Google Shape;394;g3cf353c04bd_2_399"/>
          <p:cNvSpPr txBox="1"/>
          <p:nvPr/>
        </p:nvSpPr>
        <p:spPr>
          <a:xfrm>
            <a:off x="1770650" y="2507025"/>
            <a:ext cx="2072100" cy="492600"/>
          </a:xfrm>
          <a:prstGeom prst="rect">
            <a:avLst/>
          </a:prstGeom>
          <a:solidFill>
            <a:srgbClr val="227459"/>
          </a:solid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200">
                <a:solidFill>
                  <a:srgbClr val="FFFFFF"/>
                </a:solidFill>
                <a:latin typeface="Marcellus"/>
                <a:ea typeface="Marcellus"/>
                <a:cs typeface="Marcellus"/>
                <a:sym typeface="Marcellus"/>
              </a:rPr>
              <a:t>Blink LED</a:t>
            </a:r>
            <a:endParaRPr/>
          </a:p>
        </p:txBody>
      </p:sp>
      <p:sp>
        <p:nvSpPr>
          <p:cNvPr id="395" name="Google Shape;395;g3cf353c04bd_2_399"/>
          <p:cNvSpPr txBox="1"/>
          <p:nvPr/>
        </p:nvSpPr>
        <p:spPr>
          <a:xfrm>
            <a:off x="9373475" y="3045700"/>
            <a:ext cx="7885800" cy="4505700"/>
          </a:xfrm>
          <a:prstGeom prst="rect">
            <a:avLst/>
          </a:prstGeom>
          <a:noFill/>
          <a:ln>
            <a:noFill/>
          </a:ln>
        </p:spPr>
        <p:txBody>
          <a:bodyPr spcFirstLastPara="1" wrap="square" lIns="0" tIns="0" rIns="0" bIns="0" anchor="t" anchorCtr="0">
            <a:spAutoFit/>
          </a:bodyPr>
          <a:lstStyle/>
          <a:p>
            <a:pPr marL="457200" marR="0" lvl="0" indent="-381000" algn="l" rtl="0">
              <a:lnSpc>
                <a:spcPct val="139958"/>
              </a:lnSpc>
              <a:spcBef>
                <a:spcPts val="0"/>
              </a:spcBef>
              <a:spcAft>
                <a:spcPts val="0"/>
              </a:spcAft>
              <a:buClr>
                <a:srgbClr val="1B092D"/>
              </a:buClr>
              <a:buSzPts val="2400"/>
              <a:buFont typeface="Marcellus"/>
              <a:buChar char="-"/>
            </a:pPr>
            <a:r>
              <a:rPr lang="en-US" sz="2400">
                <a:solidFill>
                  <a:srgbClr val="1B092D"/>
                </a:solidFill>
                <a:latin typeface="Marcellus"/>
                <a:ea typeface="Marcellus"/>
                <a:cs typeface="Marcellus"/>
                <a:sym typeface="Marcellus"/>
              </a:rPr>
              <a:t>What are pull-up and pull-down resistors? (look it up and we will discuss later!)</a:t>
            </a:r>
            <a:endParaRPr sz="2400">
              <a:solidFill>
                <a:srgbClr val="1B092D"/>
              </a:solidFill>
              <a:latin typeface="Marcellus"/>
              <a:ea typeface="Marcellus"/>
              <a:cs typeface="Marcellus"/>
              <a:sym typeface="Marcellus"/>
            </a:endParaRPr>
          </a:p>
          <a:p>
            <a:pPr marL="457200" marR="0" lvl="0" indent="-381000" algn="l" rtl="0">
              <a:lnSpc>
                <a:spcPct val="139958"/>
              </a:lnSpc>
              <a:spcBef>
                <a:spcPts val="0"/>
              </a:spcBef>
              <a:spcAft>
                <a:spcPts val="0"/>
              </a:spcAft>
              <a:buClr>
                <a:srgbClr val="1B092D"/>
              </a:buClr>
              <a:buSzPts val="2400"/>
              <a:buFont typeface="Marcellus"/>
              <a:buChar char="-"/>
            </a:pPr>
            <a:r>
              <a:rPr lang="en-US" sz="2400">
                <a:solidFill>
                  <a:srgbClr val="1B092D"/>
                </a:solidFill>
                <a:latin typeface="Marcellus"/>
                <a:ea typeface="Marcellus"/>
                <a:cs typeface="Marcellus"/>
                <a:sym typeface="Marcellus"/>
              </a:rPr>
              <a:t>Wire up a Button to a GPIO pin</a:t>
            </a:r>
            <a:endParaRPr sz="2400">
              <a:solidFill>
                <a:srgbClr val="1B092D"/>
              </a:solidFill>
              <a:latin typeface="Marcellus"/>
              <a:ea typeface="Marcellus"/>
              <a:cs typeface="Marcellus"/>
              <a:sym typeface="Marcellus"/>
            </a:endParaRPr>
          </a:p>
          <a:p>
            <a:pPr marL="457200" marR="0" lvl="0" indent="-381000" algn="l" rtl="0">
              <a:lnSpc>
                <a:spcPct val="139958"/>
              </a:lnSpc>
              <a:spcBef>
                <a:spcPts val="0"/>
              </a:spcBef>
              <a:spcAft>
                <a:spcPts val="0"/>
              </a:spcAft>
              <a:buClr>
                <a:srgbClr val="1B092D"/>
              </a:buClr>
              <a:buSzPts val="2400"/>
              <a:buFont typeface="Marcellus"/>
              <a:buChar char="-"/>
            </a:pPr>
            <a:r>
              <a:rPr lang="en-US" sz="2400">
                <a:solidFill>
                  <a:srgbClr val="1B092D"/>
                </a:solidFill>
                <a:latin typeface="Marcellus"/>
                <a:ea typeface="Marcellus"/>
                <a:cs typeface="Marcellus"/>
                <a:sym typeface="Marcellus"/>
              </a:rPr>
              <a:t>See if you can output a message when button status changes!</a:t>
            </a:r>
            <a:endParaRPr sz="2400">
              <a:solidFill>
                <a:srgbClr val="1B092D"/>
              </a:solidFill>
              <a:latin typeface="Marcellus"/>
              <a:ea typeface="Marcellus"/>
              <a:cs typeface="Marcellus"/>
              <a:sym typeface="Marcellus"/>
            </a:endParaRPr>
          </a:p>
          <a:p>
            <a:pPr marL="457200" marR="0" lvl="0" indent="-381000" algn="l" rtl="0">
              <a:lnSpc>
                <a:spcPct val="139958"/>
              </a:lnSpc>
              <a:spcBef>
                <a:spcPts val="0"/>
              </a:spcBef>
              <a:spcAft>
                <a:spcPts val="0"/>
              </a:spcAft>
              <a:buClr>
                <a:srgbClr val="1B092D"/>
              </a:buClr>
              <a:buSzPts val="2400"/>
              <a:buFont typeface="Marcellus"/>
              <a:buChar char="-"/>
            </a:pPr>
            <a:r>
              <a:rPr lang="en-US" sz="2400">
                <a:solidFill>
                  <a:srgbClr val="1B092D"/>
                </a:solidFill>
                <a:latin typeface="Marcellus"/>
                <a:ea typeface="Marcellus"/>
                <a:cs typeface="Marcellus"/>
                <a:sym typeface="Marcellus"/>
              </a:rPr>
              <a:t>Write a program that uses the button to control the LED</a:t>
            </a:r>
            <a:endParaRPr sz="2400">
              <a:solidFill>
                <a:srgbClr val="1B092D"/>
              </a:solidFill>
              <a:latin typeface="Marcellus"/>
              <a:ea typeface="Marcellus"/>
              <a:cs typeface="Marcellus"/>
              <a:sym typeface="Marcellus"/>
            </a:endParaRPr>
          </a:p>
          <a:p>
            <a:pPr marL="457200" lvl="0" indent="-381000" algn="l" rtl="0">
              <a:lnSpc>
                <a:spcPct val="139958"/>
              </a:lnSpc>
              <a:spcBef>
                <a:spcPts val="0"/>
              </a:spcBef>
              <a:spcAft>
                <a:spcPts val="0"/>
              </a:spcAft>
              <a:buClr>
                <a:srgbClr val="1B092D"/>
              </a:buClr>
              <a:buSzPts val="2400"/>
              <a:buFont typeface="Marcellus"/>
              <a:buChar char="-"/>
            </a:pPr>
            <a:r>
              <a:rPr lang="en-US" sz="2400">
                <a:solidFill>
                  <a:srgbClr val="1B092D"/>
                </a:solidFill>
                <a:latin typeface="Marcellus"/>
                <a:ea typeface="Marcellus"/>
                <a:cs typeface="Marcellus"/>
                <a:sym typeface="Marcellus"/>
              </a:rPr>
              <a:t>You can add more buttons and LEDs and play around with the functionality!</a:t>
            </a:r>
            <a:endParaRPr sz="2400">
              <a:solidFill>
                <a:srgbClr val="1B092D"/>
              </a:solidFill>
              <a:latin typeface="Marcellus"/>
              <a:ea typeface="Marcellus"/>
              <a:cs typeface="Marcellus"/>
              <a:sym typeface="Marcellus"/>
            </a:endParaRPr>
          </a:p>
        </p:txBody>
      </p:sp>
      <p:sp>
        <p:nvSpPr>
          <p:cNvPr id="396" name="Google Shape;396;g3cf353c04bd_2_399"/>
          <p:cNvSpPr txBox="1"/>
          <p:nvPr/>
        </p:nvSpPr>
        <p:spPr>
          <a:xfrm>
            <a:off x="10115400" y="2507025"/>
            <a:ext cx="3145800" cy="492600"/>
          </a:xfrm>
          <a:prstGeom prst="rect">
            <a:avLst/>
          </a:prstGeom>
          <a:solidFill>
            <a:srgbClr val="227459"/>
          </a:solid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200">
                <a:solidFill>
                  <a:srgbClr val="FFFFFF"/>
                </a:solidFill>
                <a:latin typeface="Marcellus"/>
                <a:ea typeface="Marcellus"/>
                <a:cs typeface="Marcellus"/>
                <a:sym typeface="Marcellus"/>
              </a:rPr>
              <a:t>Set-up button</a:t>
            </a:r>
            <a:endParaRPr/>
          </a:p>
        </p:txBody>
      </p:sp>
      <p:grpSp>
        <p:nvGrpSpPr>
          <p:cNvPr id="397" name="Google Shape;397;g3cf353c04bd_2_399"/>
          <p:cNvGrpSpPr/>
          <p:nvPr/>
        </p:nvGrpSpPr>
        <p:grpSpPr>
          <a:xfrm>
            <a:off x="9430375" y="7597478"/>
            <a:ext cx="3793475" cy="1271447"/>
            <a:chOff x="9430375" y="8088003"/>
            <a:chExt cx="3793475" cy="1271447"/>
          </a:xfrm>
        </p:grpSpPr>
        <p:sp>
          <p:nvSpPr>
            <p:cNvPr id="398" name="Google Shape;398;g3cf353c04bd_2_399"/>
            <p:cNvSpPr txBox="1"/>
            <p:nvPr/>
          </p:nvSpPr>
          <p:spPr>
            <a:xfrm>
              <a:off x="9430375" y="8539775"/>
              <a:ext cx="1152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a:solidFill>
                    <a:schemeClr val="dk1"/>
                  </a:solidFill>
                  <a:latin typeface="Marcellus"/>
                  <a:ea typeface="Marcellus"/>
                  <a:cs typeface="Marcellus"/>
                  <a:sym typeface="Marcellus"/>
                </a:rPr>
                <a:t>3V3(OUT)</a:t>
              </a:r>
              <a:endParaRPr sz="1600">
                <a:solidFill>
                  <a:schemeClr val="dk1"/>
                </a:solidFill>
                <a:latin typeface="Marcellus"/>
                <a:ea typeface="Marcellus"/>
                <a:cs typeface="Marcellus"/>
                <a:sym typeface="Marcellus"/>
              </a:endParaRPr>
            </a:p>
          </p:txBody>
        </p:sp>
        <p:sp>
          <p:nvSpPr>
            <p:cNvPr id="399" name="Google Shape;399;g3cf353c04bd_2_399"/>
            <p:cNvSpPr txBox="1"/>
            <p:nvPr/>
          </p:nvSpPr>
          <p:spPr>
            <a:xfrm>
              <a:off x="10033600" y="8427975"/>
              <a:ext cx="1863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a:solidFill>
                    <a:schemeClr val="dk1"/>
                  </a:solidFill>
                  <a:latin typeface="Marcellus"/>
                  <a:ea typeface="Marcellus"/>
                  <a:cs typeface="Marcellus"/>
                  <a:sym typeface="Marcellus"/>
                </a:rPr>
                <a:t>Pull-UP</a:t>
              </a:r>
              <a:endParaRPr sz="1600">
                <a:solidFill>
                  <a:schemeClr val="dk1"/>
                </a:solidFill>
                <a:latin typeface="Marcellus"/>
                <a:ea typeface="Marcellus"/>
                <a:cs typeface="Marcellus"/>
                <a:sym typeface="Marcellus"/>
              </a:endParaRPr>
            </a:p>
            <a:p>
              <a:pPr marL="0" lvl="0" indent="0" algn="ctr" rtl="0">
                <a:spcBef>
                  <a:spcPts val="0"/>
                </a:spcBef>
                <a:spcAft>
                  <a:spcPts val="0"/>
                </a:spcAft>
                <a:buNone/>
              </a:pPr>
              <a:r>
                <a:rPr lang="en-US" sz="1600">
                  <a:solidFill>
                    <a:schemeClr val="dk1"/>
                  </a:solidFill>
                  <a:latin typeface="Marcellus"/>
                  <a:ea typeface="Marcellus"/>
                  <a:cs typeface="Marcellus"/>
                  <a:sym typeface="Marcellus"/>
                </a:rPr>
                <a:t>Resistor </a:t>
              </a:r>
              <a:endParaRPr sz="1600">
                <a:solidFill>
                  <a:schemeClr val="dk1"/>
                </a:solidFill>
                <a:latin typeface="Marcellus"/>
                <a:ea typeface="Marcellus"/>
                <a:cs typeface="Marcellus"/>
                <a:sym typeface="Marcellus"/>
              </a:endParaRPr>
            </a:p>
            <a:p>
              <a:pPr marL="0" lvl="0" indent="0" algn="ctr" rtl="0">
                <a:spcBef>
                  <a:spcPts val="0"/>
                </a:spcBef>
                <a:spcAft>
                  <a:spcPts val="0"/>
                </a:spcAft>
                <a:buNone/>
              </a:pPr>
              <a:r>
                <a:rPr lang="en-US" sz="1600">
                  <a:solidFill>
                    <a:schemeClr val="dk1"/>
                  </a:solidFill>
                  <a:latin typeface="Marcellus"/>
                  <a:ea typeface="Marcellus"/>
                  <a:cs typeface="Marcellus"/>
                  <a:sym typeface="Marcellus"/>
                </a:rPr>
                <a:t>(10 kΩ)</a:t>
              </a:r>
              <a:endParaRPr sz="1600">
                <a:solidFill>
                  <a:schemeClr val="dk1"/>
                </a:solidFill>
                <a:latin typeface="Marcellus"/>
                <a:ea typeface="Marcellus"/>
                <a:cs typeface="Marcellus"/>
                <a:sym typeface="Marcellus"/>
              </a:endParaRPr>
            </a:p>
          </p:txBody>
        </p:sp>
        <p:pic>
          <p:nvPicPr>
            <p:cNvPr id="400" name="Google Shape;400;g3cf353c04bd_2_399" title="gnd-symbol.png"/>
            <p:cNvPicPr preferRelativeResize="0"/>
            <p:nvPr/>
          </p:nvPicPr>
          <p:blipFill>
            <a:blip r:embed="rId3">
              <a:alphaModFix/>
            </a:blip>
            <a:stretch>
              <a:fillRect/>
            </a:stretch>
          </p:blipFill>
          <p:spPr>
            <a:xfrm>
              <a:off x="12731250" y="8206324"/>
              <a:ext cx="492600" cy="492600"/>
            </a:xfrm>
            <a:prstGeom prst="rect">
              <a:avLst/>
            </a:prstGeom>
            <a:noFill/>
            <a:ln>
              <a:noFill/>
            </a:ln>
          </p:spPr>
        </p:pic>
        <p:cxnSp>
          <p:nvCxnSpPr>
            <p:cNvPr id="401" name="Google Shape;401;g3cf353c04bd_2_399"/>
            <p:cNvCxnSpPr/>
            <p:nvPr/>
          </p:nvCxnSpPr>
          <p:spPr>
            <a:xfrm rot="10800000">
              <a:off x="12527650" y="8304721"/>
              <a:ext cx="459300" cy="0"/>
            </a:xfrm>
            <a:prstGeom prst="straightConnector1">
              <a:avLst/>
            </a:prstGeom>
            <a:noFill/>
            <a:ln w="28575" cap="flat" cmpd="sng">
              <a:solidFill>
                <a:schemeClr val="dk1"/>
              </a:solidFill>
              <a:prstDash val="solid"/>
              <a:round/>
              <a:headEnd type="none" w="med" len="med"/>
              <a:tailEnd type="none" w="med" len="med"/>
            </a:ln>
          </p:spPr>
        </p:cxnSp>
        <p:pic>
          <p:nvPicPr>
            <p:cNvPr id="402" name="Google Shape;402;g3cf353c04bd_2_399" title="resistor.png"/>
            <p:cNvPicPr preferRelativeResize="0"/>
            <p:nvPr/>
          </p:nvPicPr>
          <p:blipFill rotWithShape="1">
            <a:blip r:embed="rId4">
              <a:alphaModFix/>
            </a:blip>
            <a:srcRect t="33052" b="30129"/>
            <a:stretch/>
          </p:blipFill>
          <p:spPr>
            <a:xfrm>
              <a:off x="10347210" y="8112698"/>
              <a:ext cx="1152143" cy="427087"/>
            </a:xfrm>
            <a:prstGeom prst="rect">
              <a:avLst/>
            </a:prstGeom>
            <a:noFill/>
            <a:ln>
              <a:noFill/>
            </a:ln>
          </p:spPr>
        </p:pic>
        <p:pic>
          <p:nvPicPr>
            <p:cNvPr id="403" name="Google Shape;403;g3cf353c04bd_2_399" title="switch.png"/>
            <p:cNvPicPr preferRelativeResize="0"/>
            <p:nvPr/>
          </p:nvPicPr>
          <p:blipFill rotWithShape="1">
            <a:blip r:embed="rId5">
              <a:alphaModFix/>
            </a:blip>
            <a:srcRect t="31490" b="28297"/>
            <a:stretch/>
          </p:blipFill>
          <p:spPr>
            <a:xfrm>
              <a:off x="11707950" y="8088003"/>
              <a:ext cx="930075" cy="373999"/>
            </a:xfrm>
            <a:prstGeom prst="rect">
              <a:avLst/>
            </a:prstGeom>
            <a:noFill/>
            <a:ln>
              <a:noFill/>
            </a:ln>
          </p:spPr>
        </p:pic>
        <p:cxnSp>
          <p:nvCxnSpPr>
            <p:cNvPr id="404" name="Google Shape;404;g3cf353c04bd_2_399"/>
            <p:cNvCxnSpPr/>
            <p:nvPr/>
          </p:nvCxnSpPr>
          <p:spPr>
            <a:xfrm>
              <a:off x="11407325" y="8304650"/>
              <a:ext cx="406500" cy="0"/>
            </a:xfrm>
            <a:prstGeom prst="straightConnector1">
              <a:avLst/>
            </a:prstGeom>
            <a:noFill/>
            <a:ln w="28575" cap="flat" cmpd="sng">
              <a:solidFill>
                <a:schemeClr val="dk1"/>
              </a:solidFill>
              <a:prstDash val="solid"/>
              <a:round/>
              <a:headEnd type="none" w="med" len="med"/>
              <a:tailEnd type="none" w="med" len="med"/>
            </a:ln>
          </p:spPr>
        </p:cxnSp>
        <p:cxnSp>
          <p:nvCxnSpPr>
            <p:cNvPr id="405" name="Google Shape;405;g3cf353c04bd_2_399"/>
            <p:cNvCxnSpPr/>
            <p:nvPr/>
          </p:nvCxnSpPr>
          <p:spPr>
            <a:xfrm>
              <a:off x="9851425" y="8549550"/>
              <a:ext cx="309900" cy="0"/>
            </a:xfrm>
            <a:prstGeom prst="straightConnector1">
              <a:avLst/>
            </a:prstGeom>
            <a:noFill/>
            <a:ln w="28575" cap="flat" cmpd="sng">
              <a:solidFill>
                <a:schemeClr val="dk1"/>
              </a:solidFill>
              <a:prstDash val="solid"/>
              <a:round/>
              <a:headEnd type="none" w="med" len="med"/>
              <a:tailEnd type="none" w="med" len="med"/>
            </a:ln>
          </p:spPr>
        </p:cxnSp>
        <p:cxnSp>
          <p:nvCxnSpPr>
            <p:cNvPr id="406" name="Google Shape;406;g3cf353c04bd_2_399"/>
            <p:cNvCxnSpPr/>
            <p:nvPr/>
          </p:nvCxnSpPr>
          <p:spPr>
            <a:xfrm>
              <a:off x="10006375" y="8316200"/>
              <a:ext cx="0" cy="233400"/>
            </a:xfrm>
            <a:prstGeom prst="straightConnector1">
              <a:avLst/>
            </a:prstGeom>
            <a:noFill/>
            <a:ln w="28575" cap="flat" cmpd="sng">
              <a:solidFill>
                <a:schemeClr val="dk1"/>
              </a:solidFill>
              <a:prstDash val="solid"/>
              <a:round/>
              <a:headEnd type="none" w="med" len="med"/>
              <a:tailEnd type="none" w="med" len="med"/>
            </a:ln>
          </p:spPr>
        </p:cxnSp>
        <p:cxnSp>
          <p:nvCxnSpPr>
            <p:cNvPr id="407" name="Google Shape;407;g3cf353c04bd_2_399"/>
            <p:cNvCxnSpPr/>
            <p:nvPr/>
          </p:nvCxnSpPr>
          <p:spPr>
            <a:xfrm>
              <a:off x="9992375" y="8303050"/>
              <a:ext cx="591600" cy="0"/>
            </a:xfrm>
            <a:prstGeom prst="straightConnector1">
              <a:avLst/>
            </a:prstGeom>
            <a:noFill/>
            <a:ln w="28575" cap="flat" cmpd="sng">
              <a:solidFill>
                <a:schemeClr val="dk1"/>
              </a:solidFill>
              <a:prstDash val="solid"/>
              <a:round/>
              <a:headEnd type="none" w="med" len="med"/>
              <a:tailEnd type="none" w="med" len="med"/>
            </a:ln>
          </p:spPr>
        </p:cxnSp>
        <p:cxnSp>
          <p:nvCxnSpPr>
            <p:cNvPr id="408" name="Google Shape;408;g3cf353c04bd_2_399"/>
            <p:cNvCxnSpPr/>
            <p:nvPr/>
          </p:nvCxnSpPr>
          <p:spPr>
            <a:xfrm>
              <a:off x="11614725" y="8316200"/>
              <a:ext cx="0" cy="827700"/>
            </a:xfrm>
            <a:prstGeom prst="straightConnector1">
              <a:avLst/>
            </a:prstGeom>
            <a:noFill/>
            <a:ln w="28575" cap="flat" cmpd="sng">
              <a:solidFill>
                <a:schemeClr val="dk1"/>
              </a:solidFill>
              <a:prstDash val="solid"/>
              <a:round/>
              <a:headEnd type="none" w="med" len="med"/>
              <a:tailEnd type="none" w="med" len="med"/>
            </a:ln>
          </p:spPr>
        </p:cxnSp>
        <p:cxnSp>
          <p:nvCxnSpPr>
            <p:cNvPr id="409" name="Google Shape;409;g3cf353c04bd_2_399"/>
            <p:cNvCxnSpPr/>
            <p:nvPr/>
          </p:nvCxnSpPr>
          <p:spPr>
            <a:xfrm>
              <a:off x="11601118" y="9143900"/>
              <a:ext cx="316500" cy="0"/>
            </a:xfrm>
            <a:prstGeom prst="straightConnector1">
              <a:avLst/>
            </a:prstGeom>
            <a:noFill/>
            <a:ln w="28575" cap="flat" cmpd="sng">
              <a:solidFill>
                <a:schemeClr val="dk1"/>
              </a:solidFill>
              <a:prstDash val="solid"/>
              <a:round/>
              <a:headEnd type="none" w="med" len="med"/>
              <a:tailEnd type="oval" w="med" len="med"/>
            </a:ln>
          </p:spPr>
        </p:cxnSp>
        <p:sp>
          <p:nvSpPr>
            <p:cNvPr id="410" name="Google Shape;410;g3cf353c04bd_2_399"/>
            <p:cNvSpPr txBox="1"/>
            <p:nvPr/>
          </p:nvSpPr>
          <p:spPr>
            <a:xfrm>
              <a:off x="11779800" y="8928350"/>
              <a:ext cx="1152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a:solidFill>
                    <a:schemeClr val="dk1"/>
                  </a:solidFill>
                  <a:latin typeface="Marcellus"/>
                  <a:ea typeface="Marcellus"/>
                  <a:cs typeface="Marcellus"/>
                  <a:sym typeface="Marcellus"/>
                </a:rPr>
                <a:t>GPIO Pin</a:t>
              </a:r>
              <a:endParaRPr sz="1600">
                <a:solidFill>
                  <a:schemeClr val="dk1"/>
                </a:solidFill>
                <a:latin typeface="Marcellus"/>
                <a:ea typeface="Marcellus"/>
                <a:cs typeface="Marcellus"/>
                <a:sym typeface="Marcellus"/>
              </a:endParaRPr>
            </a:p>
          </p:txBody>
        </p:sp>
      </p:grpSp>
      <p:grpSp>
        <p:nvGrpSpPr>
          <p:cNvPr id="411" name="Google Shape;411;g3cf353c04bd_2_399"/>
          <p:cNvGrpSpPr/>
          <p:nvPr/>
        </p:nvGrpSpPr>
        <p:grpSpPr>
          <a:xfrm>
            <a:off x="13223850" y="7683905"/>
            <a:ext cx="3793475" cy="1256583"/>
            <a:chOff x="13223075" y="8094792"/>
            <a:chExt cx="3793475" cy="1256583"/>
          </a:xfrm>
        </p:grpSpPr>
        <p:sp>
          <p:nvSpPr>
            <p:cNvPr id="412" name="Google Shape;412;g3cf353c04bd_2_399"/>
            <p:cNvSpPr txBox="1"/>
            <p:nvPr/>
          </p:nvSpPr>
          <p:spPr>
            <a:xfrm>
              <a:off x="13223075" y="8546100"/>
              <a:ext cx="1152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a:solidFill>
                    <a:schemeClr val="dk1"/>
                  </a:solidFill>
                  <a:latin typeface="Marcellus"/>
                  <a:ea typeface="Marcellus"/>
                  <a:cs typeface="Marcellus"/>
                  <a:sym typeface="Marcellus"/>
                </a:rPr>
                <a:t>3V3(OUT)</a:t>
              </a:r>
              <a:endParaRPr sz="1600">
                <a:solidFill>
                  <a:schemeClr val="dk1"/>
                </a:solidFill>
                <a:latin typeface="Marcellus"/>
                <a:ea typeface="Marcellus"/>
                <a:cs typeface="Marcellus"/>
                <a:sym typeface="Marcellus"/>
              </a:endParaRPr>
            </a:p>
          </p:txBody>
        </p:sp>
        <p:sp>
          <p:nvSpPr>
            <p:cNvPr id="413" name="Google Shape;413;g3cf353c04bd_2_399"/>
            <p:cNvSpPr txBox="1"/>
            <p:nvPr/>
          </p:nvSpPr>
          <p:spPr>
            <a:xfrm>
              <a:off x="15037300" y="8427975"/>
              <a:ext cx="1863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a:solidFill>
                    <a:schemeClr val="dk1"/>
                  </a:solidFill>
                  <a:latin typeface="Marcellus"/>
                  <a:ea typeface="Marcellus"/>
                  <a:cs typeface="Marcellus"/>
                  <a:sym typeface="Marcellus"/>
                </a:rPr>
                <a:t>Pull-Down</a:t>
              </a:r>
              <a:endParaRPr sz="1600">
                <a:solidFill>
                  <a:schemeClr val="dk1"/>
                </a:solidFill>
                <a:latin typeface="Marcellus"/>
                <a:ea typeface="Marcellus"/>
                <a:cs typeface="Marcellus"/>
                <a:sym typeface="Marcellus"/>
              </a:endParaRPr>
            </a:p>
            <a:p>
              <a:pPr marL="0" lvl="0" indent="0" algn="ctr" rtl="0">
                <a:spcBef>
                  <a:spcPts val="0"/>
                </a:spcBef>
                <a:spcAft>
                  <a:spcPts val="0"/>
                </a:spcAft>
                <a:buNone/>
              </a:pPr>
              <a:r>
                <a:rPr lang="en-US" sz="1600">
                  <a:solidFill>
                    <a:schemeClr val="dk1"/>
                  </a:solidFill>
                  <a:latin typeface="Marcellus"/>
                  <a:ea typeface="Marcellus"/>
                  <a:cs typeface="Marcellus"/>
                  <a:sym typeface="Marcellus"/>
                </a:rPr>
                <a:t>Resistor </a:t>
              </a:r>
              <a:endParaRPr sz="1600">
                <a:solidFill>
                  <a:schemeClr val="dk1"/>
                </a:solidFill>
                <a:latin typeface="Marcellus"/>
                <a:ea typeface="Marcellus"/>
                <a:cs typeface="Marcellus"/>
                <a:sym typeface="Marcellus"/>
              </a:endParaRPr>
            </a:p>
            <a:p>
              <a:pPr marL="0" lvl="0" indent="0" algn="ctr" rtl="0">
                <a:spcBef>
                  <a:spcPts val="0"/>
                </a:spcBef>
                <a:spcAft>
                  <a:spcPts val="0"/>
                </a:spcAft>
                <a:buNone/>
              </a:pPr>
              <a:r>
                <a:rPr lang="en-US" sz="1600">
                  <a:solidFill>
                    <a:schemeClr val="dk1"/>
                  </a:solidFill>
                  <a:latin typeface="Marcellus"/>
                  <a:ea typeface="Marcellus"/>
                  <a:cs typeface="Marcellus"/>
                  <a:sym typeface="Marcellus"/>
                </a:rPr>
                <a:t>(10 kΩ)</a:t>
              </a:r>
              <a:endParaRPr sz="1600">
                <a:solidFill>
                  <a:schemeClr val="dk1"/>
                </a:solidFill>
                <a:latin typeface="Marcellus"/>
                <a:ea typeface="Marcellus"/>
                <a:cs typeface="Marcellus"/>
                <a:sym typeface="Marcellus"/>
              </a:endParaRPr>
            </a:p>
          </p:txBody>
        </p:sp>
        <p:pic>
          <p:nvPicPr>
            <p:cNvPr id="414" name="Google Shape;414;g3cf353c04bd_2_399" title="gnd-symbol.png"/>
            <p:cNvPicPr preferRelativeResize="0"/>
            <p:nvPr/>
          </p:nvPicPr>
          <p:blipFill>
            <a:blip r:embed="rId3">
              <a:alphaModFix/>
            </a:blip>
            <a:stretch>
              <a:fillRect/>
            </a:stretch>
          </p:blipFill>
          <p:spPr>
            <a:xfrm>
              <a:off x="16523950" y="8212649"/>
              <a:ext cx="492600" cy="492600"/>
            </a:xfrm>
            <a:prstGeom prst="rect">
              <a:avLst/>
            </a:prstGeom>
            <a:noFill/>
            <a:ln>
              <a:noFill/>
            </a:ln>
          </p:spPr>
        </p:pic>
        <p:cxnSp>
          <p:nvCxnSpPr>
            <p:cNvPr id="415" name="Google Shape;415;g3cf353c04bd_2_399"/>
            <p:cNvCxnSpPr/>
            <p:nvPr/>
          </p:nvCxnSpPr>
          <p:spPr>
            <a:xfrm rot="10800000">
              <a:off x="16320350" y="8311046"/>
              <a:ext cx="459300" cy="0"/>
            </a:xfrm>
            <a:prstGeom prst="straightConnector1">
              <a:avLst/>
            </a:prstGeom>
            <a:noFill/>
            <a:ln w="28575" cap="flat" cmpd="sng">
              <a:solidFill>
                <a:schemeClr val="dk1"/>
              </a:solidFill>
              <a:prstDash val="solid"/>
              <a:round/>
              <a:headEnd type="none" w="med" len="med"/>
              <a:tailEnd type="none" w="med" len="med"/>
            </a:ln>
          </p:spPr>
        </p:cxnSp>
        <p:pic>
          <p:nvPicPr>
            <p:cNvPr id="416" name="Google Shape;416;g3cf353c04bd_2_399" title="resistor.png"/>
            <p:cNvPicPr preferRelativeResize="0"/>
            <p:nvPr/>
          </p:nvPicPr>
          <p:blipFill rotWithShape="1">
            <a:blip r:embed="rId4">
              <a:alphaModFix/>
            </a:blip>
            <a:srcRect t="33052" b="30129"/>
            <a:stretch/>
          </p:blipFill>
          <p:spPr>
            <a:xfrm>
              <a:off x="15393922" y="8122689"/>
              <a:ext cx="1152143" cy="427087"/>
            </a:xfrm>
            <a:prstGeom prst="rect">
              <a:avLst/>
            </a:prstGeom>
            <a:noFill/>
            <a:ln>
              <a:noFill/>
            </a:ln>
          </p:spPr>
        </p:pic>
        <p:pic>
          <p:nvPicPr>
            <p:cNvPr id="417" name="Google Shape;417;g3cf353c04bd_2_399" title="switch.png"/>
            <p:cNvPicPr preferRelativeResize="0"/>
            <p:nvPr/>
          </p:nvPicPr>
          <p:blipFill rotWithShape="1">
            <a:blip r:embed="rId5">
              <a:alphaModFix/>
            </a:blip>
            <a:srcRect t="31490" b="28297"/>
            <a:stretch/>
          </p:blipFill>
          <p:spPr>
            <a:xfrm>
              <a:off x="14027709" y="8094792"/>
              <a:ext cx="930075" cy="373999"/>
            </a:xfrm>
            <a:prstGeom prst="rect">
              <a:avLst/>
            </a:prstGeom>
            <a:noFill/>
            <a:ln>
              <a:noFill/>
            </a:ln>
          </p:spPr>
        </p:pic>
        <p:cxnSp>
          <p:nvCxnSpPr>
            <p:cNvPr id="418" name="Google Shape;418;g3cf353c04bd_2_399"/>
            <p:cNvCxnSpPr/>
            <p:nvPr/>
          </p:nvCxnSpPr>
          <p:spPr>
            <a:xfrm>
              <a:off x="14819025" y="8311050"/>
              <a:ext cx="756600" cy="0"/>
            </a:xfrm>
            <a:prstGeom prst="straightConnector1">
              <a:avLst/>
            </a:prstGeom>
            <a:noFill/>
            <a:ln w="28575" cap="flat" cmpd="sng">
              <a:solidFill>
                <a:schemeClr val="dk1"/>
              </a:solidFill>
              <a:prstDash val="solid"/>
              <a:round/>
              <a:headEnd type="none" w="med" len="med"/>
              <a:tailEnd type="none" w="med" len="med"/>
            </a:ln>
          </p:spPr>
        </p:cxnSp>
        <p:cxnSp>
          <p:nvCxnSpPr>
            <p:cNvPr id="419" name="Google Shape;419;g3cf353c04bd_2_399"/>
            <p:cNvCxnSpPr/>
            <p:nvPr/>
          </p:nvCxnSpPr>
          <p:spPr>
            <a:xfrm>
              <a:off x="13644125" y="8555875"/>
              <a:ext cx="309900" cy="0"/>
            </a:xfrm>
            <a:prstGeom prst="straightConnector1">
              <a:avLst/>
            </a:prstGeom>
            <a:noFill/>
            <a:ln w="28575" cap="flat" cmpd="sng">
              <a:solidFill>
                <a:schemeClr val="dk1"/>
              </a:solidFill>
              <a:prstDash val="solid"/>
              <a:round/>
              <a:headEnd type="none" w="med" len="med"/>
              <a:tailEnd type="none" w="med" len="med"/>
            </a:ln>
          </p:spPr>
        </p:cxnSp>
        <p:cxnSp>
          <p:nvCxnSpPr>
            <p:cNvPr id="420" name="Google Shape;420;g3cf353c04bd_2_399"/>
            <p:cNvCxnSpPr/>
            <p:nvPr/>
          </p:nvCxnSpPr>
          <p:spPr>
            <a:xfrm>
              <a:off x="13799075" y="8322525"/>
              <a:ext cx="0" cy="233400"/>
            </a:xfrm>
            <a:prstGeom prst="straightConnector1">
              <a:avLst/>
            </a:prstGeom>
            <a:noFill/>
            <a:ln w="28575" cap="flat" cmpd="sng">
              <a:solidFill>
                <a:schemeClr val="dk1"/>
              </a:solidFill>
              <a:prstDash val="solid"/>
              <a:round/>
              <a:headEnd type="none" w="med" len="med"/>
              <a:tailEnd type="none" w="med" len="med"/>
            </a:ln>
          </p:spPr>
        </p:cxnSp>
        <p:cxnSp>
          <p:nvCxnSpPr>
            <p:cNvPr id="421" name="Google Shape;421;g3cf353c04bd_2_399"/>
            <p:cNvCxnSpPr/>
            <p:nvPr/>
          </p:nvCxnSpPr>
          <p:spPr>
            <a:xfrm>
              <a:off x="13785075" y="8309375"/>
              <a:ext cx="307500" cy="0"/>
            </a:xfrm>
            <a:prstGeom prst="straightConnector1">
              <a:avLst/>
            </a:prstGeom>
            <a:noFill/>
            <a:ln w="28575" cap="flat" cmpd="sng">
              <a:solidFill>
                <a:schemeClr val="dk1"/>
              </a:solidFill>
              <a:prstDash val="solid"/>
              <a:round/>
              <a:headEnd type="none" w="med" len="med"/>
              <a:tailEnd type="none" w="med" len="med"/>
            </a:ln>
          </p:spPr>
        </p:cxnSp>
        <p:cxnSp>
          <p:nvCxnSpPr>
            <p:cNvPr id="422" name="Google Shape;422;g3cf353c04bd_2_399"/>
            <p:cNvCxnSpPr/>
            <p:nvPr/>
          </p:nvCxnSpPr>
          <p:spPr>
            <a:xfrm>
              <a:off x="14957775" y="8311050"/>
              <a:ext cx="0" cy="827700"/>
            </a:xfrm>
            <a:prstGeom prst="straightConnector1">
              <a:avLst/>
            </a:prstGeom>
            <a:noFill/>
            <a:ln w="28575" cap="flat" cmpd="sng">
              <a:solidFill>
                <a:schemeClr val="dk1"/>
              </a:solidFill>
              <a:prstDash val="solid"/>
              <a:round/>
              <a:headEnd type="none" w="med" len="med"/>
              <a:tailEnd type="none" w="med" len="med"/>
            </a:ln>
          </p:spPr>
        </p:cxnSp>
        <p:cxnSp>
          <p:nvCxnSpPr>
            <p:cNvPr id="423" name="Google Shape;423;g3cf353c04bd_2_399"/>
            <p:cNvCxnSpPr/>
            <p:nvPr/>
          </p:nvCxnSpPr>
          <p:spPr>
            <a:xfrm rot="10800000">
              <a:off x="14641286" y="9123482"/>
              <a:ext cx="316500" cy="0"/>
            </a:xfrm>
            <a:prstGeom prst="straightConnector1">
              <a:avLst/>
            </a:prstGeom>
            <a:noFill/>
            <a:ln w="28575" cap="flat" cmpd="sng">
              <a:solidFill>
                <a:schemeClr val="dk1"/>
              </a:solidFill>
              <a:prstDash val="solid"/>
              <a:round/>
              <a:headEnd type="none" w="med" len="med"/>
              <a:tailEnd type="oval" w="med" len="med"/>
            </a:ln>
          </p:spPr>
        </p:cxnSp>
        <p:sp>
          <p:nvSpPr>
            <p:cNvPr id="424" name="Google Shape;424;g3cf353c04bd_2_399"/>
            <p:cNvSpPr txBox="1"/>
            <p:nvPr/>
          </p:nvSpPr>
          <p:spPr>
            <a:xfrm>
              <a:off x="13644125" y="8907925"/>
              <a:ext cx="1152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a:solidFill>
                    <a:schemeClr val="dk1"/>
                  </a:solidFill>
                  <a:latin typeface="Marcellus"/>
                  <a:ea typeface="Marcellus"/>
                  <a:cs typeface="Marcellus"/>
                  <a:sym typeface="Marcellus"/>
                </a:rPr>
                <a:t>GPIO Pin</a:t>
              </a:r>
              <a:endParaRPr sz="1600">
                <a:solidFill>
                  <a:schemeClr val="dk1"/>
                </a:solidFill>
                <a:latin typeface="Marcellus"/>
                <a:ea typeface="Marcellus"/>
                <a:cs typeface="Marcellus"/>
                <a:sym typeface="Marcellus"/>
              </a:endParaRPr>
            </a:p>
          </p:txBody>
        </p:sp>
      </p:grpSp>
      <p:grpSp>
        <p:nvGrpSpPr>
          <p:cNvPr id="425" name="Google Shape;425;g3cf353c04bd_2_399"/>
          <p:cNvGrpSpPr/>
          <p:nvPr/>
        </p:nvGrpSpPr>
        <p:grpSpPr>
          <a:xfrm>
            <a:off x="1250000" y="5107052"/>
            <a:ext cx="6642557" cy="2605248"/>
            <a:chOff x="1250000" y="5107052"/>
            <a:chExt cx="6642557" cy="2605248"/>
          </a:xfrm>
        </p:grpSpPr>
        <p:pic>
          <p:nvPicPr>
            <p:cNvPr id="426" name="Google Shape;426;g3cf353c04bd_2_399" title="led-symbol.png"/>
            <p:cNvPicPr preferRelativeResize="0"/>
            <p:nvPr/>
          </p:nvPicPr>
          <p:blipFill>
            <a:blip r:embed="rId6">
              <a:alphaModFix/>
            </a:blip>
            <a:stretch>
              <a:fillRect/>
            </a:stretch>
          </p:blipFill>
          <p:spPr>
            <a:xfrm>
              <a:off x="2308793" y="5107052"/>
              <a:ext cx="1905000" cy="1905000"/>
            </a:xfrm>
            <a:prstGeom prst="rect">
              <a:avLst/>
            </a:prstGeom>
            <a:noFill/>
            <a:ln>
              <a:noFill/>
            </a:ln>
          </p:spPr>
        </p:pic>
        <p:pic>
          <p:nvPicPr>
            <p:cNvPr id="427" name="Google Shape;427;g3cf353c04bd_2_399" title="gnd-symbol.png"/>
            <p:cNvPicPr preferRelativeResize="0"/>
            <p:nvPr/>
          </p:nvPicPr>
          <p:blipFill>
            <a:blip r:embed="rId3">
              <a:alphaModFix/>
            </a:blip>
            <a:stretch>
              <a:fillRect/>
            </a:stretch>
          </p:blipFill>
          <p:spPr>
            <a:xfrm>
              <a:off x="6489157" y="6097425"/>
              <a:ext cx="1403400" cy="1403400"/>
            </a:xfrm>
            <a:prstGeom prst="rect">
              <a:avLst/>
            </a:prstGeom>
            <a:noFill/>
            <a:ln>
              <a:noFill/>
            </a:ln>
          </p:spPr>
        </p:pic>
        <p:pic>
          <p:nvPicPr>
            <p:cNvPr id="428" name="Google Shape;428;g3cf353c04bd_2_399" title="resistor.png"/>
            <p:cNvPicPr preferRelativeResize="0"/>
            <p:nvPr/>
          </p:nvPicPr>
          <p:blipFill rotWithShape="1">
            <a:blip r:embed="rId4">
              <a:alphaModFix/>
            </a:blip>
            <a:srcRect t="28972" b="31712"/>
            <a:stretch/>
          </p:blipFill>
          <p:spPr>
            <a:xfrm>
              <a:off x="3756150" y="5432125"/>
              <a:ext cx="3233975" cy="1271450"/>
            </a:xfrm>
            <a:prstGeom prst="rect">
              <a:avLst/>
            </a:prstGeom>
            <a:noFill/>
            <a:ln>
              <a:noFill/>
            </a:ln>
          </p:spPr>
        </p:pic>
        <p:cxnSp>
          <p:nvCxnSpPr>
            <p:cNvPr id="429" name="Google Shape;429;g3cf353c04bd_2_399"/>
            <p:cNvCxnSpPr/>
            <p:nvPr/>
          </p:nvCxnSpPr>
          <p:spPr>
            <a:xfrm>
              <a:off x="1998800" y="6075798"/>
              <a:ext cx="0" cy="1082400"/>
            </a:xfrm>
            <a:prstGeom prst="straightConnector1">
              <a:avLst/>
            </a:prstGeom>
            <a:noFill/>
            <a:ln w="76200" cap="flat" cmpd="sng">
              <a:solidFill>
                <a:schemeClr val="dk1"/>
              </a:solidFill>
              <a:prstDash val="solid"/>
              <a:round/>
              <a:headEnd type="none" w="med" len="med"/>
              <a:tailEnd type="oval" w="med" len="med"/>
            </a:ln>
          </p:spPr>
        </p:cxnSp>
        <p:cxnSp>
          <p:nvCxnSpPr>
            <p:cNvPr id="430" name="Google Shape;430;g3cf353c04bd_2_399"/>
            <p:cNvCxnSpPr/>
            <p:nvPr/>
          </p:nvCxnSpPr>
          <p:spPr>
            <a:xfrm>
              <a:off x="1955500" y="6097432"/>
              <a:ext cx="801000" cy="0"/>
            </a:xfrm>
            <a:prstGeom prst="straightConnector1">
              <a:avLst/>
            </a:prstGeom>
            <a:noFill/>
            <a:ln w="76200" cap="flat" cmpd="sng">
              <a:solidFill>
                <a:schemeClr val="dk1"/>
              </a:solidFill>
              <a:prstDash val="solid"/>
              <a:round/>
              <a:headEnd type="none" w="med" len="med"/>
              <a:tailEnd type="none" w="med" len="med"/>
            </a:ln>
          </p:spPr>
        </p:cxnSp>
        <p:sp>
          <p:nvSpPr>
            <p:cNvPr id="431" name="Google Shape;431;g3cf353c04bd_2_399"/>
            <p:cNvSpPr txBox="1"/>
            <p:nvPr/>
          </p:nvSpPr>
          <p:spPr>
            <a:xfrm>
              <a:off x="1250000" y="7158200"/>
              <a:ext cx="1497600" cy="554100"/>
            </a:xfrm>
            <a:prstGeom prst="rect">
              <a:avLst/>
            </a:prstGeom>
            <a:noFill/>
            <a:ln>
              <a:noFill/>
            </a:ln>
          </p:spPr>
          <p:txBody>
            <a:bodyPr spcFirstLastPara="1" wrap="square" lIns="91425" tIns="91425" rIns="91425" bIns="91425" anchor="t" anchorCtr="0">
              <a:spAutoFit/>
            </a:bodyPr>
            <a:lstStyle/>
            <a:p>
              <a:pPr marL="0" lvl="0" indent="0" algn="ctr" rtl="0">
                <a:lnSpc>
                  <a:spcPct val="139958"/>
                </a:lnSpc>
                <a:spcBef>
                  <a:spcPts val="0"/>
                </a:spcBef>
                <a:spcAft>
                  <a:spcPts val="0"/>
                </a:spcAft>
                <a:buNone/>
              </a:pPr>
              <a:r>
                <a:rPr lang="en-US" sz="2400">
                  <a:solidFill>
                    <a:srgbClr val="1B092D"/>
                  </a:solidFill>
                  <a:latin typeface="Marcellus"/>
                  <a:ea typeface="Marcellus"/>
                  <a:cs typeface="Marcellus"/>
                  <a:sym typeface="Marcellus"/>
                </a:rPr>
                <a:t>GPIO Pin</a:t>
              </a:r>
              <a:endParaRPr/>
            </a:p>
          </p:txBody>
        </p:sp>
        <p:cxnSp>
          <p:nvCxnSpPr>
            <p:cNvPr id="432" name="Google Shape;432;g3cf353c04bd_2_399"/>
            <p:cNvCxnSpPr>
              <a:endCxn id="427" idx="0"/>
            </p:cNvCxnSpPr>
            <p:nvPr/>
          </p:nvCxnSpPr>
          <p:spPr>
            <a:xfrm>
              <a:off x="6525157" y="6097425"/>
              <a:ext cx="665700" cy="0"/>
            </a:xfrm>
            <a:prstGeom prst="straightConnector1">
              <a:avLst/>
            </a:prstGeom>
            <a:noFill/>
            <a:ln w="76200" cap="flat" cmpd="sng">
              <a:solidFill>
                <a:schemeClr val="dk1"/>
              </a:solidFill>
              <a:prstDash val="solid"/>
              <a:round/>
              <a:headEnd type="none" w="med" len="med"/>
              <a:tailEnd type="none" w="med" len="med"/>
            </a:ln>
          </p:spPr>
        </p:cxnSp>
        <p:cxnSp>
          <p:nvCxnSpPr>
            <p:cNvPr id="433" name="Google Shape;433;g3cf353c04bd_2_399"/>
            <p:cNvCxnSpPr/>
            <p:nvPr/>
          </p:nvCxnSpPr>
          <p:spPr>
            <a:xfrm>
              <a:off x="7189024" y="6061822"/>
              <a:ext cx="0" cy="459000"/>
            </a:xfrm>
            <a:prstGeom prst="straightConnector1">
              <a:avLst/>
            </a:prstGeom>
            <a:noFill/>
            <a:ln w="76200" cap="flat" cmpd="sng">
              <a:solidFill>
                <a:schemeClr val="dk1"/>
              </a:solidFill>
              <a:prstDash val="solid"/>
              <a:round/>
              <a:headEnd type="none" w="med" len="med"/>
              <a:tailEnd type="none" w="med" len="med"/>
            </a:ln>
          </p:spPr>
        </p:cxnSp>
        <p:sp>
          <p:nvSpPr>
            <p:cNvPr id="434" name="Google Shape;434;g3cf353c04bd_2_399"/>
            <p:cNvSpPr txBox="1"/>
            <p:nvPr/>
          </p:nvSpPr>
          <p:spPr>
            <a:xfrm>
              <a:off x="4792038" y="6703575"/>
              <a:ext cx="1497600" cy="923400"/>
            </a:xfrm>
            <a:prstGeom prst="rect">
              <a:avLst/>
            </a:prstGeom>
            <a:no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0"/>
                </a:spcAft>
                <a:buNone/>
              </a:pPr>
              <a:r>
                <a:rPr lang="en-US" sz="2400">
                  <a:solidFill>
                    <a:srgbClr val="1B092D"/>
                  </a:solidFill>
                  <a:latin typeface="Marcellus"/>
                  <a:ea typeface="Marcellus"/>
                  <a:cs typeface="Marcellus"/>
                  <a:sym typeface="Marcellus"/>
                </a:rPr>
                <a:t>R</a:t>
              </a:r>
              <a:endParaRPr sz="2400">
                <a:solidFill>
                  <a:srgbClr val="1B092D"/>
                </a:solidFill>
                <a:latin typeface="Marcellus"/>
                <a:ea typeface="Marcellus"/>
                <a:cs typeface="Marcellus"/>
                <a:sym typeface="Marcellus"/>
              </a:endParaRPr>
            </a:p>
            <a:p>
              <a:pPr marL="0" lvl="0" indent="0" algn="ctr" rtl="0">
                <a:lnSpc>
                  <a:spcPct val="100000"/>
                </a:lnSpc>
                <a:spcBef>
                  <a:spcPts val="0"/>
                </a:spcBef>
                <a:spcAft>
                  <a:spcPts val="0"/>
                </a:spcAft>
                <a:buNone/>
              </a:pPr>
              <a:r>
                <a:rPr lang="en-US" sz="2400">
                  <a:solidFill>
                    <a:srgbClr val="1B092D"/>
                  </a:solidFill>
                  <a:latin typeface="Marcellus"/>
                  <a:ea typeface="Marcellus"/>
                  <a:cs typeface="Marcellus"/>
                  <a:sym typeface="Marcellus"/>
                </a:rPr>
                <a:t>(220 Ω)</a:t>
              </a:r>
              <a:endParaRPr sz="2400">
                <a:solidFill>
                  <a:srgbClr val="1B092D"/>
                </a:solidFill>
                <a:latin typeface="Marcellus"/>
                <a:ea typeface="Marcellus"/>
                <a:cs typeface="Marcellus"/>
                <a:sym typeface="Marcellus"/>
              </a:endParaRPr>
            </a:p>
          </p:txBody>
        </p:sp>
        <p:sp>
          <p:nvSpPr>
            <p:cNvPr id="435" name="Google Shape;435;g3cf353c04bd_2_399"/>
            <p:cNvSpPr txBox="1"/>
            <p:nvPr/>
          </p:nvSpPr>
          <p:spPr>
            <a:xfrm>
              <a:off x="2693700" y="6703575"/>
              <a:ext cx="1135200" cy="554100"/>
            </a:xfrm>
            <a:prstGeom prst="rect">
              <a:avLst/>
            </a:prstGeom>
            <a:noFill/>
            <a:ln>
              <a:noFill/>
            </a:ln>
          </p:spPr>
          <p:txBody>
            <a:bodyPr spcFirstLastPara="1" wrap="square" lIns="91425" tIns="91425" rIns="91425" bIns="91425" anchor="t" anchorCtr="0">
              <a:spAutoFit/>
            </a:bodyPr>
            <a:lstStyle/>
            <a:p>
              <a:pPr marL="0" lvl="0" indent="0" algn="ctr" rtl="0">
                <a:lnSpc>
                  <a:spcPct val="139958"/>
                </a:lnSpc>
                <a:spcBef>
                  <a:spcPts val="0"/>
                </a:spcBef>
                <a:spcAft>
                  <a:spcPts val="0"/>
                </a:spcAft>
                <a:buNone/>
              </a:pPr>
              <a:r>
                <a:rPr lang="en-US" sz="2400">
                  <a:solidFill>
                    <a:srgbClr val="1B092D"/>
                  </a:solidFill>
                  <a:latin typeface="Marcellus"/>
                  <a:ea typeface="Marcellus"/>
                  <a:cs typeface="Marcellus"/>
                  <a:sym typeface="Marcellus"/>
                </a:rPr>
                <a:t>LED</a:t>
              </a:r>
              <a:endParaRPr/>
            </a:p>
          </p:txBody>
        </p:sp>
      </p:grpSp>
      <p:sp>
        <p:nvSpPr>
          <p:cNvPr id="436" name="Google Shape;436;g3cf353c04bd_2_399"/>
          <p:cNvSpPr txBox="1"/>
          <p:nvPr/>
        </p:nvSpPr>
        <p:spPr>
          <a:xfrm>
            <a:off x="14035825" y="9073000"/>
            <a:ext cx="1858500" cy="554100"/>
          </a:xfrm>
          <a:prstGeom prst="rect">
            <a:avLst/>
          </a:prstGeom>
          <a:noFill/>
          <a:ln>
            <a:noFill/>
          </a:ln>
        </p:spPr>
        <p:txBody>
          <a:bodyPr spcFirstLastPara="1" wrap="square" lIns="91425" tIns="91425" rIns="91425" bIns="91425" anchor="t" anchorCtr="0">
            <a:spAutoFit/>
          </a:bodyPr>
          <a:lstStyle/>
          <a:p>
            <a:pPr marL="0" lvl="0" indent="0" algn="l" rtl="0">
              <a:lnSpc>
                <a:spcPct val="139958"/>
              </a:lnSpc>
              <a:spcBef>
                <a:spcPts val="0"/>
              </a:spcBef>
              <a:spcAft>
                <a:spcPts val="0"/>
              </a:spcAft>
              <a:buNone/>
            </a:pPr>
            <a:r>
              <a:rPr lang="en-US" sz="2400">
                <a:solidFill>
                  <a:srgbClr val="1B092D"/>
                </a:solidFill>
                <a:latin typeface="Marcellus"/>
                <a:ea typeface="Marcellus"/>
                <a:cs typeface="Marcellus"/>
                <a:sym typeface="Marcellus"/>
              </a:rPr>
              <a:t>(Default: 0)</a:t>
            </a:r>
            <a:endParaRPr/>
          </a:p>
        </p:txBody>
      </p:sp>
      <p:sp>
        <p:nvSpPr>
          <p:cNvPr id="437" name="Google Shape;437;g3cf353c04bd_2_399"/>
          <p:cNvSpPr txBox="1"/>
          <p:nvPr/>
        </p:nvSpPr>
        <p:spPr>
          <a:xfrm>
            <a:off x="10545950" y="8915000"/>
            <a:ext cx="1858500" cy="554100"/>
          </a:xfrm>
          <a:prstGeom prst="rect">
            <a:avLst/>
          </a:prstGeom>
          <a:noFill/>
          <a:ln>
            <a:noFill/>
          </a:ln>
        </p:spPr>
        <p:txBody>
          <a:bodyPr spcFirstLastPara="1" wrap="square" lIns="91425" tIns="91425" rIns="91425" bIns="91425" anchor="t" anchorCtr="0">
            <a:spAutoFit/>
          </a:bodyPr>
          <a:lstStyle/>
          <a:p>
            <a:pPr marL="0" lvl="0" indent="0" algn="l" rtl="0">
              <a:lnSpc>
                <a:spcPct val="139958"/>
              </a:lnSpc>
              <a:spcBef>
                <a:spcPts val="0"/>
              </a:spcBef>
              <a:spcAft>
                <a:spcPts val="0"/>
              </a:spcAft>
              <a:buNone/>
            </a:pPr>
            <a:r>
              <a:rPr lang="en-US" sz="2400">
                <a:solidFill>
                  <a:srgbClr val="1B092D"/>
                </a:solidFill>
                <a:latin typeface="Marcellus"/>
                <a:ea typeface="Marcellus"/>
                <a:cs typeface="Marcellus"/>
                <a:sym typeface="Marcellus"/>
              </a:rPr>
              <a:t>(Default: 1)</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441"/>
        <p:cNvGrpSpPr/>
        <p:nvPr/>
      </p:nvGrpSpPr>
      <p:grpSpPr>
        <a:xfrm>
          <a:off x="0" y="0"/>
          <a:ext cx="0" cy="0"/>
          <a:chOff x="0" y="0"/>
          <a:chExt cx="0" cy="0"/>
        </a:xfrm>
      </p:grpSpPr>
      <p:grpSp>
        <p:nvGrpSpPr>
          <p:cNvPr id="442" name="Google Shape;442;g3cee154c093_0_37"/>
          <p:cNvGrpSpPr/>
          <p:nvPr/>
        </p:nvGrpSpPr>
        <p:grpSpPr>
          <a:xfrm>
            <a:off x="1028700" y="3172582"/>
            <a:ext cx="16230601" cy="5739116"/>
            <a:chOff x="0" y="-57150"/>
            <a:chExt cx="2076932" cy="734400"/>
          </a:xfrm>
        </p:grpSpPr>
        <p:sp>
          <p:nvSpPr>
            <p:cNvPr id="443" name="Google Shape;443;g3cee154c093_0_37"/>
            <p:cNvSpPr/>
            <p:nvPr/>
          </p:nvSpPr>
          <p:spPr>
            <a:xfrm>
              <a:off x="0" y="0"/>
              <a:ext cx="2076932" cy="677156"/>
            </a:xfrm>
            <a:custGeom>
              <a:avLst/>
              <a:gdLst/>
              <a:ahLst/>
              <a:cxnLst/>
              <a:rect l="l" t="t" r="r" b="b"/>
              <a:pathLst>
                <a:path w="2076932" h="677156" extrusionOk="0">
                  <a:moveTo>
                    <a:pt x="49087" y="0"/>
                  </a:moveTo>
                  <a:lnTo>
                    <a:pt x="2027845" y="0"/>
                  </a:lnTo>
                  <a:cubicBezTo>
                    <a:pt x="2040863" y="0"/>
                    <a:pt x="2053349" y="5172"/>
                    <a:pt x="2062555" y="14377"/>
                  </a:cubicBezTo>
                  <a:cubicBezTo>
                    <a:pt x="2071760" y="23583"/>
                    <a:pt x="2076932" y="36069"/>
                    <a:pt x="2076932" y="49087"/>
                  </a:cubicBezTo>
                  <a:lnTo>
                    <a:pt x="2076932" y="628069"/>
                  </a:lnTo>
                  <a:cubicBezTo>
                    <a:pt x="2076932" y="655179"/>
                    <a:pt x="2054955" y="677156"/>
                    <a:pt x="2027845" y="677156"/>
                  </a:cubicBezTo>
                  <a:lnTo>
                    <a:pt x="49087" y="677156"/>
                  </a:lnTo>
                  <a:cubicBezTo>
                    <a:pt x="36069" y="677156"/>
                    <a:pt x="23583" y="671984"/>
                    <a:pt x="14377" y="662779"/>
                  </a:cubicBezTo>
                  <a:cubicBezTo>
                    <a:pt x="5172" y="653573"/>
                    <a:pt x="0" y="641087"/>
                    <a:pt x="0" y="628069"/>
                  </a:cubicBezTo>
                  <a:lnTo>
                    <a:pt x="0" y="49087"/>
                  </a:lnTo>
                  <a:cubicBezTo>
                    <a:pt x="0" y="36069"/>
                    <a:pt x="5172" y="23583"/>
                    <a:pt x="14377" y="14377"/>
                  </a:cubicBezTo>
                  <a:cubicBezTo>
                    <a:pt x="23583" y="5172"/>
                    <a:pt x="36069" y="0"/>
                    <a:pt x="49087" y="0"/>
                  </a:cubicBezTo>
                  <a:close/>
                </a:path>
              </a:pathLst>
            </a:custGeom>
            <a:solidFill>
              <a:srgbClr val="FFFFFF"/>
            </a:solidFill>
            <a:ln>
              <a:noFill/>
            </a:ln>
          </p:spPr>
          <p:txBody>
            <a:bodyPr spcFirstLastPara="1" wrap="square" lIns="188175" tIns="188175" rIns="188175" bIns="188175" anchor="ctr" anchorCtr="0">
              <a:noAutofit/>
            </a:bodyPr>
            <a:lstStyle/>
            <a:p>
              <a:pPr marL="0" lvl="0" indent="0" algn="l" rtl="0">
                <a:spcBef>
                  <a:spcPts val="0"/>
                </a:spcBef>
                <a:spcAft>
                  <a:spcPts val="0"/>
                </a:spcAft>
                <a:buNone/>
              </a:pPr>
              <a:endParaRPr/>
            </a:p>
          </p:txBody>
        </p:sp>
        <p:sp>
          <p:nvSpPr>
            <p:cNvPr id="444" name="Google Shape;444;g3cee154c093_0_37"/>
            <p:cNvSpPr txBox="1"/>
            <p:nvPr/>
          </p:nvSpPr>
          <p:spPr>
            <a:xfrm>
              <a:off x="0" y="-57150"/>
              <a:ext cx="2076900" cy="734400"/>
            </a:xfrm>
            <a:prstGeom prst="rect">
              <a:avLst/>
            </a:prstGeom>
            <a:noFill/>
            <a:ln>
              <a:noFill/>
            </a:ln>
          </p:spPr>
          <p:txBody>
            <a:bodyPr spcFirstLastPara="1" wrap="square" lIns="104550" tIns="104550" rIns="104550" bIns="104550" anchor="ctr" anchorCtr="0">
              <a:noAutofit/>
            </a:bodyPr>
            <a:lstStyle/>
            <a:p>
              <a:pPr marL="0" marR="0" lvl="0" indent="0" algn="ctr" rtl="0">
                <a:lnSpc>
                  <a:spcPct val="186611"/>
                </a:lnSpc>
                <a:spcBef>
                  <a:spcPts val="0"/>
                </a:spcBef>
                <a:spcAft>
                  <a:spcPts val="0"/>
                </a:spcAft>
                <a:buNone/>
              </a:pPr>
              <a:endParaRPr sz="3704" b="0" i="0" u="none" strike="noStrike" cap="none">
                <a:solidFill>
                  <a:schemeClr val="dk1"/>
                </a:solidFill>
                <a:latin typeface="Calibri"/>
                <a:ea typeface="Calibri"/>
                <a:cs typeface="Calibri"/>
                <a:sym typeface="Calibri"/>
              </a:endParaRPr>
            </a:p>
          </p:txBody>
        </p:sp>
      </p:grpSp>
      <p:sp>
        <p:nvSpPr>
          <p:cNvPr id="445" name="Google Shape;445;g3cee154c093_0_37"/>
          <p:cNvSpPr txBox="1"/>
          <p:nvPr/>
        </p:nvSpPr>
        <p:spPr>
          <a:xfrm>
            <a:off x="1028700" y="1664900"/>
            <a:ext cx="16230600" cy="1215900"/>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7900" b="1">
                <a:solidFill>
                  <a:srgbClr val="B03856"/>
                </a:solidFill>
                <a:latin typeface="Marcellus"/>
                <a:ea typeface="Marcellus"/>
                <a:cs typeface="Marcellus"/>
                <a:sym typeface="Marcellus"/>
              </a:rPr>
              <a:t>CHALLENGE: Reaction Timer Game</a:t>
            </a:r>
            <a:endParaRPr sz="7900" b="1">
              <a:solidFill>
                <a:srgbClr val="B03856"/>
              </a:solidFill>
            </a:endParaRPr>
          </a:p>
        </p:txBody>
      </p:sp>
      <p:sp>
        <p:nvSpPr>
          <p:cNvPr id="446" name="Google Shape;446;g3cee154c093_0_37"/>
          <p:cNvSpPr txBox="1"/>
          <p:nvPr/>
        </p:nvSpPr>
        <p:spPr>
          <a:xfrm>
            <a:off x="1105975" y="3953350"/>
            <a:ext cx="15930000" cy="5496600"/>
          </a:xfrm>
          <a:prstGeom prst="rect">
            <a:avLst/>
          </a:prstGeom>
          <a:noFill/>
          <a:ln>
            <a:noFill/>
          </a:ln>
        </p:spPr>
        <p:txBody>
          <a:bodyPr spcFirstLastPara="1" wrap="square" lIns="0" tIns="0" rIns="0" bIns="0" anchor="t" anchorCtr="0">
            <a:spAutoFit/>
          </a:bodyPr>
          <a:lstStyle/>
          <a:p>
            <a:pPr marL="457200" marR="0" lvl="0" indent="0" algn="l" rtl="0">
              <a:lnSpc>
                <a:spcPct val="139958"/>
              </a:lnSpc>
              <a:spcBef>
                <a:spcPts val="0"/>
              </a:spcBef>
              <a:spcAft>
                <a:spcPts val="0"/>
              </a:spcAft>
              <a:buNone/>
            </a:pPr>
            <a:r>
              <a:rPr lang="en-US" sz="3800">
                <a:solidFill>
                  <a:srgbClr val="1B092D"/>
                </a:solidFill>
                <a:latin typeface="Marcellus"/>
                <a:ea typeface="Marcellus"/>
                <a:cs typeface="Marcellus"/>
                <a:sym typeface="Marcellus"/>
              </a:rPr>
              <a:t>Write program that:</a:t>
            </a:r>
            <a:endParaRPr sz="3800">
              <a:solidFill>
                <a:srgbClr val="1B092D"/>
              </a:solidFill>
              <a:latin typeface="Marcellus"/>
              <a:ea typeface="Marcellus"/>
              <a:cs typeface="Marcellus"/>
              <a:sym typeface="Marcellus"/>
            </a:endParaRPr>
          </a:p>
          <a:p>
            <a:pPr marL="914400" marR="0" lvl="0"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Waits random delay</a:t>
            </a:r>
            <a:endParaRPr sz="3800">
              <a:solidFill>
                <a:srgbClr val="1B092D"/>
              </a:solidFill>
              <a:latin typeface="Marcellus"/>
              <a:ea typeface="Marcellus"/>
              <a:cs typeface="Marcellus"/>
              <a:sym typeface="Marcellus"/>
            </a:endParaRPr>
          </a:p>
          <a:p>
            <a:pPr marL="914400" marR="0" lvl="0"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Turns on LED</a:t>
            </a:r>
            <a:endParaRPr sz="3800">
              <a:solidFill>
                <a:srgbClr val="1B092D"/>
              </a:solidFill>
              <a:latin typeface="Marcellus"/>
              <a:ea typeface="Marcellus"/>
              <a:cs typeface="Marcellus"/>
              <a:sym typeface="Marcellus"/>
            </a:endParaRPr>
          </a:p>
          <a:p>
            <a:pPr marL="914400" marR="0" lvl="0"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Records how fast button was pushed after LED turns on</a:t>
            </a:r>
            <a:endParaRPr sz="3800">
              <a:solidFill>
                <a:srgbClr val="1B092D"/>
              </a:solidFill>
              <a:latin typeface="Marcellus"/>
              <a:ea typeface="Marcellus"/>
              <a:cs typeface="Marcellus"/>
              <a:sym typeface="Marcellus"/>
            </a:endParaRPr>
          </a:p>
          <a:p>
            <a:pPr marL="914400" marR="0" lvl="0"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Prints reaction time in console</a:t>
            </a:r>
            <a:endParaRPr sz="3800">
              <a:solidFill>
                <a:srgbClr val="1B092D"/>
              </a:solidFill>
              <a:latin typeface="Marcellus"/>
              <a:ea typeface="Marcellus"/>
              <a:cs typeface="Marcellus"/>
              <a:sym typeface="Marcellus"/>
            </a:endParaRPr>
          </a:p>
          <a:p>
            <a:pPr marL="914400" marR="0" lvl="0"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Keeps track of best reaction time of the session</a:t>
            </a:r>
            <a:endParaRPr sz="3800">
              <a:solidFill>
                <a:srgbClr val="1B092D"/>
              </a:solidFill>
              <a:latin typeface="Marcellus"/>
              <a:ea typeface="Marcellus"/>
              <a:cs typeface="Marcellus"/>
              <a:sym typeface="Marcellus"/>
            </a:endParaRPr>
          </a:p>
          <a:p>
            <a:pPr marL="457200" marR="0" lvl="0" indent="0" algn="l" rtl="0">
              <a:lnSpc>
                <a:spcPct val="139958"/>
              </a:lnSpc>
              <a:spcBef>
                <a:spcPts val="0"/>
              </a:spcBef>
              <a:spcAft>
                <a:spcPts val="0"/>
              </a:spcAft>
              <a:buNone/>
            </a:pPr>
            <a:endParaRPr sz="3800">
              <a:solidFill>
                <a:srgbClr val="1B092D"/>
              </a:solidFill>
              <a:latin typeface="Marcellus"/>
              <a:ea typeface="Marcellus"/>
              <a:cs typeface="Marcellus"/>
              <a:sym typeface="Marcellu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450"/>
        <p:cNvGrpSpPr/>
        <p:nvPr/>
      </p:nvGrpSpPr>
      <p:grpSpPr>
        <a:xfrm>
          <a:off x="0" y="0"/>
          <a:ext cx="0" cy="0"/>
          <a:chOff x="0" y="0"/>
          <a:chExt cx="0" cy="0"/>
        </a:xfrm>
      </p:grpSpPr>
      <p:grpSp>
        <p:nvGrpSpPr>
          <p:cNvPr id="451" name="Google Shape;451;g3cee154c093_0_74"/>
          <p:cNvGrpSpPr/>
          <p:nvPr/>
        </p:nvGrpSpPr>
        <p:grpSpPr>
          <a:xfrm>
            <a:off x="1028700" y="1794402"/>
            <a:ext cx="16230601" cy="7772743"/>
            <a:chOff x="0" y="-57150"/>
            <a:chExt cx="2076932" cy="734400"/>
          </a:xfrm>
        </p:grpSpPr>
        <p:sp>
          <p:nvSpPr>
            <p:cNvPr id="452" name="Google Shape;452;g3cee154c093_0_74"/>
            <p:cNvSpPr/>
            <p:nvPr/>
          </p:nvSpPr>
          <p:spPr>
            <a:xfrm>
              <a:off x="0" y="0"/>
              <a:ext cx="2076932" cy="677156"/>
            </a:xfrm>
            <a:custGeom>
              <a:avLst/>
              <a:gdLst/>
              <a:ahLst/>
              <a:cxnLst/>
              <a:rect l="l" t="t" r="r" b="b"/>
              <a:pathLst>
                <a:path w="2076932" h="677156" extrusionOk="0">
                  <a:moveTo>
                    <a:pt x="49087" y="0"/>
                  </a:moveTo>
                  <a:lnTo>
                    <a:pt x="2027845" y="0"/>
                  </a:lnTo>
                  <a:cubicBezTo>
                    <a:pt x="2040863" y="0"/>
                    <a:pt x="2053349" y="5172"/>
                    <a:pt x="2062555" y="14377"/>
                  </a:cubicBezTo>
                  <a:cubicBezTo>
                    <a:pt x="2071760" y="23583"/>
                    <a:pt x="2076932" y="36069"/>
                    <a:pt x="2076932" y="49087"/>
                  </a:cubicBezTo>
                  <a:lnTo>
                    <a:pt x="2076932" y="628069"/>
                  </a:lnTo>
                  <a:cubicBezTo>
                    <a:pt x="2076932" y="655179"/>
                    <a:pt x="2054955" y="677156"/>
                    <a:pt x="2027845" y="677156"/>
                  </a:cubicBezTo>
                  <a:lnTo>
                    <a:pt x="49087" y="677156"/>
                  </a:lnTo>
                  <a:cubicBezTo>
                    <a:pt x="36069" y="677156"/>
                    <a:pt x="23583" y="671984"/>
                    <a:pt x="14377" y="662779"/>
                  </a:cubicBezTo>
                  <a:cubicBezTo>
                    <a:pt x="5172" y="653573"/>
                    <a:pt x="0" y="641087"/>
                    <a:pt x="0" y="628069"/>
                  </a:cubicBezTo>
                  <a:lnTo>
                    <a:pt x="0" y="49087"/>
                  </a:lnTo>
                  <a:cubicBezTo>
                    <a:pt x="0" y="36069"/>
                    <a:pt x="5172" y="23583"/>
                    <a:pt x="14377" y="14377"/>
                  </a:cubicBezTo>
                  <a:cubicBezTo>
                    <a:pt x="23583" y="5172"/>
                    <a:pt x="36069" y="0"/>
                    <a:pt x="49087" y="0"/>
                  </a:cubicBezTo>
                  <a:close/>
                </a:path>
              </a:pathLst>
            </a:custGeom>
            <a:solidFill>
              <a:srgbClr val="FFFFFF"/>
            </a:solidFill>
            <a:ln>
              <a:noFill/>
            </a:ln>
          </p:spPr>
          <p:txBody>
            <a:bodyPr spcFirstLastPara="1" wrap="square" lIns="188175" tIns="188175" rIns="188175" bIns="188175" anchor="ctr" anchorCtr="0">
              <a:noAutofit/>
            </a:bodyPr>
            <a:lstStyle/>
            <a:p>
              <a:pPr marL="0" lvl="0" indent="0" algn="l" rtl="0">
                <a:spcBef>
                  <a:spcPts val="0"/>
                </a:spcBef>
                <a:spcAft>
                  <a:spcPts val="0"/>
                </a:spcAft>
                <a:buNone/>
              </a:pPr>
              <a:endParaRPr/>
            </a:p>
          </p:txBody>
        </p:sp>
        <p:sp>
          <p:nvSpPr>
            <p:cNvPr id="453" name="Google Shape;453;g3cee154c093_0_74"/>
            <p:cNvSpPr txBox="1"/>
            <p:nvPr/>
          </p:nvSpPr>
          <p:spPr>
            <a:xfrm>
              <a:off x="0" y="-57150"/>
              <a:ext cx="2076900" cy="734400"/>
            </a:xfrm>
            <a:prstGeom prst="rect">
              <a:avLst/>
            </a:prstGeom>
            <a:noFill/>
            <a:ln>
              <a:noFill/>
            </a:ln>
          </p:spPr>
          <p:txBody>
            <a:bodyPr spcFirstLastPara="1" wrap="square" lIns="104550" tIns="104550" rIns="104550" bIns="104550" anchor="ctr" anchorCtr="0">
              <a:noAutofit/>
            </a:bodyPr>
            <a:lstStyle/>
            <a:p>
              <a:pPr marL="0" marR="0" lvl="0" indent="0" algn="ctr" rtl="0">
                <a:lnSpc>
                  <a:spcPct val="186611"/>
                </a:lnSpc>
                <a:spcBef>
                  <a:spcPts val="0"/>
                </a:spcBef>
                <a:spcAft>
                  <a:spcPts val="0"/>
                </a:spcAft>
                <a:buNone/>
              </a:pPr>
              <a:endParaRPr sz="3704" b="0" i="0" u="none" strike="noStrike" cap="none">
                <a:solidFill>
                  <a:schemeClr val="dk1"/>
                </a:solidFill>
                <a:latin typeface="Calibri"/>
                <a:ea typeface="Calibri"/>
                <a:cs typeface="Calibri"/>
                <a:sym typeface="Calibri"/>
              </a:endParaRPr>
            </a:p>
          </p:txBody>
        </p:sp>
      </p:grpSp>
      <p:sp>
        <p:nvSpPr>
          <p:cNvPr id="454" name="Google Shape;454;g3cee154c093_0_74"/>
          <p:cNvSpPr txBox="1"/>
          <p:nvPr/>
        </p:nvSpPr>
        <p:spPr>
          <a:xfrm>
            <a:off x="1028700" y="712550"/>
            <a:ext cx="16230600" cy="1539000"/>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9999" b="1">
                <a:solidFill>
                  <a:srgbClr val="B03856"/>
                </a:solidFill>
                <a:latin typeface="Marcellus"/>
                <a:ea typeface="Marcellus"/>
                <a:cs typeface="Marcellus"/>
                <a:sym typeface="Marcellus"/>
              </a:rPr>
              <a:t>PICO PINOUT</a:t>
            </a:r>
            <a:endParaRPr sz="2600" b="1">
              <a:solidFill>
                <a:srgbClr val="B03856"/>
              </a:solidFill>
            </a:endParaRPr>
          </a:p>
        </p:txBody>
      </p:sp>
      <p:pic>
        <p:nvPicPr>
          <p:cNvPr id="455" name="Google Shape;455;g3cee154c093_0_74" title="pico_pinout.png"/>
          <p:cNvPicPr preferRelativeResize="0"/>
          <p:nvPr/>
        </p:nvPicPr>
        <p:blipFill>
          <a:blip r:embed="rId3">
            <a:alphaModFix/>
          </a:blip>
          <a:stretch>
            <a:fillRect/>
          </a:stretch>
        </p:blipFill>
        <p:spPr>
          <a:xfrm>
            <a:off x="4720150" y="2368250"/>
            <a:ext cx="11071726" cy="7198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grpSp>
        <p:nvGrpSpPr>
          <p:cNvPr id="460" name="Google Shape;460;g3cf353c04bd_2_506"/>
          <p:cNvGrpSpPr/>
          <p:nvPr/>
        </p:nvGrpSpPr>
        <p:grpSpPr>
          <a:xfrm>
            <a:off x="25" y="2590793"/>
            <a:ext cx="18288118" cy="7696246"/>
            <a:chOff x="0" y="-47625"/>
            <a:chExt cx="4816592" cy="1025100"/>
          </a:xfrm>
        </p:grpSpPr>
        <p:sp>
          <p:nvSpPr>
            <p:cNvPr id="461" name="Google Shape;461;g3cf353c04bd_2_506"/>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462" name="Google Shape;462;g3cf353c04bd_2_506"/>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63" name="Google Shape;463;g3cf353c04bd_2_506"/>
          <p:cNvSpPr txBox="1"/>
          <p:nvPr/>
        </p:nvSpPr>
        <p:spPr>
          <a:xfrm>
            <a:off x="4951800" y="2590800"/>
            <a:ext cx="8384400" cy="1324200"/>
          </a:xfrm>
          <a:prstGeom prst="rect">
            <a:avLst/>
          </a:prstGeom>
          <a:noFill/>
          <a:ln>
            <a:noFill/>
          </a:ln>
        </p:spPr>
        <p:txBody>
          <a:bodyPr spcFirstLastPara="1" wrap="square" lIns="548625" tIns="274300" rIns="274300" bIns="274300" anchor="ctr" anchorCtr="0">
            <a:noAutofit/>
          </a:bodyPr>
          <a:lstStyle/>
          <a:p>
            <a:pPr marL="0" marR="0" lvl="0" indent="0" algn="ctr" rtl="0">
              <a:lnSpc>
                <a:spcPct val="139977"/>
              </a:lnSpc>
              <a:spcBef>
                <a:spcPts val="0"/>
              </a:spcBef>
              <a:spcAft>
                <a:spcPts val="0"/>
              </a:spcAft>
              <a:buNone/>
            </a:pPr>
            <a:r>
              <a:rPr lang="en-US" sz="3800" b="1">
                <a:solidFill>
                  <a:srgbClr val="242424"/>
                </a:solidFill>
                <a:latin typeface="Marcellus"/>
                <a:ea typeface="Marcellus"/>
                <a:cs typeface="Marcellus"/>
                <a:sym typeface="Marcellus"/>
              </a:rPr>
              <a:t>PWM = Pulse Width Modulation</a:t>
            </a:r>
            <a:endParaRPr sz="3800" b="1">
              <a:solidFill>
                <a:srgbClr val="242424"/>
              </a:solidFill>
              <a:latin typeface="Marcellus"/>
              <a:ea typeface="Marcellus"/>
              <a:cs typeface="Marcellus"/>
              <a:sym typeface="Marcellus"/>
            </a:endParaRPr>
          </a:p>
        </p:txBody>
      </p:sp>
      <p:sp>
        <p:nvSpPr>
          <p:cNvPr id="464" name="Google Shape;464;g3cf353c04bd_2_506"/>
          <p:cNvSpPr txBox="1"/>
          <p:nvPr/>
        </p:nvSpPr>
        <p:spPr>
          <a:xfrm>
            <a:off x="3072236" y="600075"/>
            <a:ext cx="12143700" cy="1693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1000" b="1">
                <a:solidFill>
                  <a:srgbClr val="CD2355"/>
                </a:solidFill>
                <a:latin typeface="Marcellus"/>
                <a:ea typeface="Marcellus"/>
                <a:cs typeface="Marcellus"/>
                <a:sym typeface="Marcellus"/>
              </a:rPr>
              <a:t>What is PWM?</a:t>
            </a:r>
            <a:endParaRPr sz="3400">
              <a:solidFill>
                <a:srgbClr val="CD2355"/>
              </a:solidFill>
              <a:latin typeface="Marcellus"/>
              <a:ea typeface="Marcellus"/>
              <a:cs typeface="Marcellus"/>
              <a:sym typeface="Marcellus"/>
            </a:endParaRPr>
          </a:p>
        </p:txBody>
      </p:sp>
      <p:pic>
        <p:nvPicPr>
          <p:cNvPr id="465" name="Google Shape;465;g3cf353c04bd_2_506" title="pwm-dimming-graph.png"/>
          <p:cNvPicPr preferRelativeResize="0"/>
          <p:nvPr/>
        </p:nvPicPr>
        <p:blipFill>
          <a:blip r:embed="rId3">
            <a:alphaModFix/>
          </a:blip>
          <a:stretch>
            <a:fillRect/>
          </a:stretch>
        </p:blipFill>
        <p:spPr>
          <a:xfrm>
            <a:off x="5503776" y="3650863"/>
            <a:ext cx="7280625" cy="5576125"/>
          </a:xfrm>
          <a:prstGeom prst="rect">
            <a:avLst/>
          </a:prstGeom>
          <a:noFill/>
          <a:ln>
            <a:noFill/>
          </a:ln>
        </p:spPr>
      </p:pic>
      <p:sp>
        <p:nvSpPr>
          <p:cNvPr id="466" name="Google Shape;466;g3cf353c04bd_2_506"/>
          <p:cNvSpPr txBox="1"/>
          <p:nvPr/>
        </p:nvSpPr>
        <p:spPr>
          <a:xfrm>
            <a:off x="4951800" y="8962800"/>
            <a:ext cx="8384400" cy="1324200"/>
          </a:xfrm>
          <a:prstGeom prst="rect">
            <a:avLst/>
          </a:prstGeom>
          <a:noFill/>
          <a:ln>
            <a:noFill/>
          </a:ln>
        </p:spPr>
        <p:txBody>
          <a:bodyPr spcFirstLastPara="1" wrap="square" lIns="548625" tIns="274300" rIns="274300" bIns="274300" anchor="ctr" anchorCtr="0">
            <a:noAutofit/>
          </a:bodyPr>
          <a:lstStyle/>
          <a:p>
            <a:pPr marL="0" marR="0" lvl="0" indent="0" algn="ctr" rtl="0">
              <a:lnSpc>
                <a:spcPct val="139977"/>
              </a:lnSpc>
              <a:spcBef>
                <a:spcPts val="0"/>
              </a:spcBef>
              <a:spcAft>
                <a:spcPts val="0"/>
              </a:spcAft>
              <a:buNone/>
            </a:pPr>
            <a:r>
              <a:rPr lang="en-US" sz="3200" b="1">
                <a:solidFill>
                  <a:srgbClr val="242424"/>
                </a:solidFill>
                <a:latin typeface="Marcellus"/>
                <a:ea typeface="Marcellus"/>
                <a:cs typeface="Marcellus"/>
                <a:sym typeface="Marcellus"/>
              </a:rPr>
              <a:t>This is how we control brightness!</a:t>
            </a:r>
            <a:endParaRPr sz="3200" b="1">
              <a:solidFill>
                <a:srgbClr val="242424"/>
              </a:solidFill>
              <a:latin typeface="Marcellus"/>
              <a:ea typeface="Marcellus"/>
              <a:cs typeface="Marcellus"/>
              <a:sym typeface="Marcellu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grpSp>
        <p:nvGrpSpPr>
          <p:cNvPr id="471" name="Google Shape;471;g3cf353c04bd_2_517"/>
          <p:cNvGrpSpPr/>
          <p:nvPr/>
        </p:nvGrpSpPr>
        <p:grpSpPr>
          <a:xfrm>
            <a:off x="25" y="2590793"/>
            <a:ext cx="18288118" cy="7696246"/>
            <a:chOff x="0" y="-47625"/>
            <a:chExt cx="4816592" cy="1025100"/>
          </a:xfrm>
        </p:grpSpPr>
        <p:sp>
          <p:nvSpPr>
            <p:cNvPr id="472" name="Google Shape;472;g3cf353c04bd_2_517"/>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D9EAD3"/>
            </a:solidFill>
            <a:ln>
              <a:noFill/>
            </a:ln>
          </p:spPr>
          <p:txBody>
            <a:bodyPr/>
            <a:lstStyle/>
            <a:p>
              <a:endParaRPr lang="en-CA"/>
            </a:p>
          </p:txBody>
        </p:sp>
        <p:sp>
          <p:nvSpPr>
            <p:cNvPr id="473" name="Google Shape;473;g3cf353c04bd_2_517"/>
            <p:cNvSpPr txBox="1"/>
            <p:nvPr/>
          </p:nvSpPr>
          <p:spPr>
            <a:xfrm>
              <a:off x="0" y="-47625"/>
              <a:ext cx="4816500" cy="1025100"/>
            </a:xfrm>
            <a:prstGeom prst="rect">
              <a:avLst/>
            </a:prstGeom>
            <a:solidFill>
              <a:srgbClr val="D9EAD3"/>
            </a:solid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4" name="Google Shape;474;g3cf353c04bd_2_517"/>
          <p:cNvSpPr txBox="1"/>
          <p:nvPr/>
        </p:nvSpPr>
        <p:spPr>
          <a:xfrm>
            <a:off x="75" y="2590800"/>
            <a:ext cx="14630400" cy="1324200"/>
          </a:xfrm>
          <a:prstGeom prst="rect">
            <a:avLst/>
          </a:prstGeom>
          <a:noFill/>
          <a:ln>
            <a:noFill/>
          </a:ln>
        </p:spPr>
        <p:txBody>
          <a:bodyPr spcFirstLastPara="1" wrap="square" lIns="548625" tIns="274300" rIns="274300" bIns="274300" anchor="ctr" anchorCtr="0">
            <a:noAutofit/>
          </a:bodyPr>
          <a:lstStyle/>
          <a:p>
            <a:pPr marL="0" marR="0" lvl="0" indent="0" algn="l" rtl="0">
              <a:lnSpc>
                <a:spcPct val="139977"/>
              </a:lnSpc>
              <a:spcBef>
                <a:spcPts val="0"/>
              </a:spcBef>
              <a:spcAft>
                <a:spcPts val="0"/>
              </a:spcAft>
              <a:buNone/>
            </a:pPr>
            <a:endParaRPr sz="3800" b="1">
              <a:solidFill>
                <a:srgbClr val="242424"/>
              </a:solidFill>
              <a:latin typeface="Marcellus"/>
              <a:ea typeface="Marcellus"/>
              <a:cs typeface="Marcellus"/>
              <a:sym typeface="Marcellus"/>
            </a:endParaRPr>
          </a:p>
        </p:txBody>
      </p:sp>
      <p:sp>
        <p:nvSpPr>
          <p:cNvPr id="475" name="Google Shape;475;g3cf353c04bd_2_517"/>
          <p:cNvSpPr txBox="1"/>
          <p:nvPr/>
        </p:nvSpPr>
        <p:spPr>
          <a:xfrm>
            <a:off x="558238" y="940250"/>
            <a:ext cx="17171700" cy="14007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9100" b="1">
                <a:solidFill>
                  <a:srgbClr val="CD2355"/>
                </a:solidFill>
                <a:latin typeface="Marcellus"/>
                <a:ea typeface="Marcellus"/>
                <a:cs typeface="Marcellus"/>
                <a:sym typeface="Marcellus"/>
              </a:rPr>
              <a:t>What is ADC and how is it used?</a:t>
            </a:r>
            <a:endParaRPr sz="1500">
              <a:solidFill>
                <a:srgbClr val="CD2355"/>
              </a:solidFill>
              <a:latin typeface="Marcellus"/>
              <a:ea typeface="Marcellus"/>
              <a:cs typeface="Marcellus"/>
              <a:sym typeface="Marcellus"/>
            </a:endParaRPr>
          </a:p>
        </p:txBody>
      </p:sp>
      <p:sp>
        <p:nvSpPr>
          <p:cNvPr id="476" name="Google Shape;476;g3cf353c04bd_2_517"/>
          <p:cNvSpPr txBox="1"/>
          <p:nvPr/>
        </p:nvSpPr>
        <p:spPr>
          <a:xfrm>
            <a:off x="310525" y="2766900"/>
            <a:ext cx="9023400" cy="3075300"/>
          </a:xfrm>
          <a:prstGeom prst="rect">
            <a:avLst/>
          </a:prstGeom>
          <a:noFill/>
          <a:ln>
            <a:noFill/>
          </a:ln>
        </p:spPr>
        <p:txBody>
          <a:bodyPr spcFirstLastPara="1" wrap="square" lIns="548625" tIns="274300" rIns="274300" bIns="274300" anchor="ctr" anchorCtr="0">
            <a:noAutofit/>
          </a:bodyPr>
          <a:lstStyle/>
          <a:p>
            <a:pPr marL="0" marR="0" lvl="0" indent="0" algn="l" rtl="0">
              <a:lnSpc>
                <a:spcPct val="139977"/>
              </a:lnSpc>
              <a:spcBef>
                <a:spcPts val="0"/>
              </a:spcBef>
              <a:spcAft>
                <a:spcPts val="0"/>
              </a:spcAft>
              <a:buNone/>
            </a:pPr>
            <a:r>
              <a:rPr lang="en-US" sz="3800" b="1">
                <a:solidFill>
                  <a:srgbClr val="242424"/>
                </a:solidFill>
                <a:latin typeface="Marcellus"/>
                <a:ea typeface="Marcellus"/>
                <a:cs typeface="Marcellus"/>
                <a:sym typeface="Marcellus"/>
              </a:rPr>
              <a:t>ADC = Analog to digital converter</a:t>
            </a:r>
            <a:endParaRPr sz="3800" b="1">
              <a:solidFill>
                <a:srgbClr val="242424"/>
              </a:solidFill>
              <a:latin typeface="Marcellus"/>
              <a:ea typeface="Marcellus"/>
              <a:cs typeface="Marcellus"/>
              <a:sym typeface="Marcellus"/>
            </a:endParaRPr>
          </a:p>
          <a:p>
            <a:pPr marL="457200" marR="0" lvl="0" indent="-469900" algn="l" rtl="0">
              <a:lnSpc>
                <a:spcPct val="139977"/>
              </a:lnSpc>
              <a:spcBef>
                <a:spcPts val="0"/>
              </a:spcBef>
              <a:spcAft>
                <a:spcPts val="0"/>
              </a:spcAft>
              <a:buClr>
                <a:srgbClr val="242424"/>
              </a:buClr>
              <a:buSzPts val="3800"/>
              <a:buFont typeface="Marcellus"/>
              <a:buChar char="➔"/>
            </a:pPr>
            <a:r>
              <a:rPr lang="en-US" sz="3800" b="1">
                <a:solidFill>
                  <a:srgbClr val="242424"/>
                </a:solidFill>
                <a:latin typeface="Marcellus"/>
                <a:ea typeface="Marcellus"/>
                <a:cs typeface="Marcellus"/>
                <a:sym typeface="Marcellus"/>
              </a:rPr>
              <a:t>reads voltage as an 16-bit number (0 -65536) </a:t>
            </a:r>
            <a:endParaRPr sz="3800" b="1">
              <a:solidFill>
                <a:srgbClr val="242424"/>
              </a:solidFill>
              <a:latin typeface="Marcellus"/>
              <a:ea typeface="Marcellus"/>
              <a:cs typeface="Marcellus"/>
              <a:sym typeface="Marcellus"/>
            </a:endParaRPr>
          </a:p>
        </p:txBody>
      </p:sp>
      <p:grpSp>
        <p:nvGrpSpPr>
          <p:cNvPr id="477" name="Google Shape;477;g3cf353c04bd_2_517"/>
          <p:cNvGrpSpPr/>
          <p:nvPr/>
        </p:nvGrpSpPr>
        <p:grpSpPr>
          <a:xfrm>
            <a:off x="9333931" y="3539670"/>
            <a:ext cx="8158572" cy="5798516"/>
            <a:chOff x="4720150" y="1662401"/>
            <a:chExt cx="11130384" cy="7910663"/>
          </a:xfrm>
        </p:grpSpPr>
        <p:grpSp>
          <p:nvGrpSpPr>
            <p:cNvPr id="478" name="Google Shape;478;g3cf353c04bd_2_517"/>
            <p:cNvGrpSpPr/>
            <p:nvPr/>
          </p:nvGrpSpPr>
          <p:grpSpPr>
            <a:xfrm>
              <a:off x="4778825" y="1662401"/>
              <a:ext cx="11071709" cy="7910663"/>
              <a:chOff x="0" y="-57150"/>
              <a:chExt cx="2076932" cy="734400"/>
            </a:xfrm>
          </p:grpSpPr>
          <p:sp>
            <p:nvSpPr>
              <p:cNvPr id="479" name="Google Shape;479;g3cf353c04bd_2_517"/>
              <p:cNvSpPr/>
              <p:nvPr/>
            </p:nvSpPr>
            <p:spPr>
              <a:xfrm>
                <a:off x="0" y="0"/>
                <a:ext cx="2076932" cy="677156"/>
              </a:xfrm>
              <a:custGeom>
                <a:avLst/>
                <a:gdLst/>
                <a:ahLst/>
                <a:cxnLst/>
                <a:rect l="l" t="t" r="r" b="b"/>
                <a:pathLst>
                  <a:path w="2076932" h="677156" extrusionOk="0">
                    <a:moveTo>
                      <a:pt x="49087" y="0"/>
                    </a:moveTo>
                    <a:lnTo>
                      <a:pt x="2027845" y="0"/>
                    </a:lnTo>
                    <a:cubicBezTo>
                      <a:pt x="2040863" y="0"/>
                      <a:pt x="2053349" y="5172"/>
                      <a:pt x="2062555" y="14377"/>
                    </a:cubicBezTo>
                    <a:cubicBezTo>
                      <a:pt x="2071760" y="23583"/>
                      <a:pt x="2076932" y="36069"/>
                      <a:pt x="2076932" y="49087"/>
                    </a:cubicBezTo>
                    <a:lnTo>
                      <a:pt x="2076932" y="628069"/>
                    </a:lnTo>
                    <a:cubicBezTo>
                      <a:pt x="2076932" y="655179"/>
                      <a:pt x="2054955" y="677156"/>
                      <a:pt x="2027845" y="677156"/>
                    </a:cubicBezTo>
                    <a:lnTo>
                      <a:pt x="49087" y="677156"/>
                    </a:lnTo>
                    <a:cubicBezTo>
                      <a:pt x="36069" y="677156"/>
                      <a:pt x="23583" y="671984"/>
                      <a:pt x="14377" y="662779"/>
                    </a:cubicBezTo>
                    <a:cubicBezTo>
                      <a:pt x="5172" y="653573"/>
                      <a:pt x="0" y="641087"/>
                      <a:pt x="0" y="628069"/>
                    </a:cubicBezTo>
                    <a:lnTo>
                      <a:pt x="0" y="49087"/>
                    </a:lnTo>
                    <a:cubicBezTo>
                      <a:pt x="0" y="36069"/>
                      <a:pt x="5172" y="23583"/>
                      <a:pt x="14377" y="14377"/>
                    </a:cubicBezTo>
                    <a:cubicBezTo>
                      <a:pt x="23583" y="5172"/>
                      <a:pt x="36069" y="0"/>
                      <a:pt x="49087" y="0"/>
                    </a:cubicBezTo>
                    <a:close/>
                  </a:path>
                </a:pathLst>
              </a:custGeom>
              <a:solidFill>
                <a:srgbClr val="FFFFFF"/>
              </a:solidFill>
              <a:ln>
                <a:noFill/>
              </a:ln>
            </p:spPr>
            <p:txBody>
              <a:bodyPr spcFirstLastPara="1" wrap="square" lIns="113975" tIns="113975" rIns="113975" bIns="113975" anchor="ctr" anchorCtr="0">
                <a:noAutofit/>
              </a:bodyPr>
              <a:lstStyle/>
              <a:p>
                <a:pPr marL="0" lvl="0" indent="0" algn="l" rtl="0">
                  <a:spcBef>
                    <a:spcPts val="0"/>
                  </a:spcBef>
                  <a:spcAft>
                    <a:spcPts val="0"/>
                  </a:spcAft>
                  <a:buNone/>
                </a:pPr>
                <a:endParaRPr/>
              </a:p>
            </p:txBody>
          </p:sp>
          <p:sp>
            <p:nvSpPr>
              <p:cNvPr id="480" name="Google Shape;480;g3cf353c04bd_2_517"/>
              <p:cNvSpPr txBox="1"/>
              <p:nvPr/>
            </p:nvSpPr>
            <p:spPr>
              <a:xfrm>
                <a:off x="0" y="-57150"/>
                <a:ext cx="2076900" cy="734400"/>
              </a:xfrm>
              <a:prstGeom prst="rect">
                <a:avLst/>
              </a:prstGeom>
              <a:noFill/>
              <a:ln>
                <a:noFill/>
              </a:ln>
            </p:spPr>
            <p:txBody>
              <a:bodyPr spcFirstLastPara="1" wrap="square" lIns="63325" tIns="63325" rIns="63325" bIns="63325" anchor="ctr" anchorCtr="0">
                <a:noAutofit/>
              </a:bodyPr>
              <a:lstStyle/>
              <a:p>
                <a:pPr marL="0" marR="0" lvl="0" indent="0" algn="ctr" rtl="0">
                  <a:lnSpc>
                    <a:spcPct val="186611"/>
                  </a:lnSpc>
                  <a:spcBef>
                    <a:spcPts val="0"/>
                  </a:spcBef>
                  <a:spcAft>
                    <a:spcPts val="0"/>
                  </a:spcAft>
                  <a:buNone/>
                </a:pPr>
                <a:endParaRPr sz="2244" b="0" i="0" u="none" strike="noStrike" cap="none">
                  <a:solidFill>
                    <a:schemeClr val="dk1"/>
                  </a:solidFill>
                  <a:latin typeface="Calibri"/>
                  <a:ea typeface="Calibri"/>
                  <a:cs typeface="Calibri"/>
                  <a:sym typeface="Calibri"/>
                </a:endParaRPr>
              </a:p>
            </p:txBody>
          </p:sp>
        </p:grpSp>
        <p:pic>
          <p:nvPicPr>
            <p:cNvPr id="481" name="Google Shape;481;g3cf353c04bd_2_517" title="pico_pinout.png"/>
            <p:cNvPicPr preferRelativeResize="0"/>
            <p:nvPr/>
          </p:nvPicPr>
          <p:blipFill>
            <a:blip r:embed="rId3">
              <a:alphaModFix/>
            </a:blip>
            <a:stretch>
              <a:fillRect/>
            </a:stretch>
          </p:blipFill>
          <p:spPr>
            <a:xfrm>
              <a:off x="4720150" y="2368250"/>
              <a:ext cx="11071726" cy="7198900"/>
            </a:xfrm>
            <a:prstGeom prst="rect">
              <a:avLst/>
            </a:prstGeom>
            <a:noFill/>
            <a:ln>
              <a:noFill/>
            </a:ln>
          </p:spPr>
        </p:pic>
      </p:grpSp>
      <p:sp>
        <p:nvSpPr>
          <p:cNvPr id="482" name="Google Shape;482;g3cf353c04bd_2_517"/>
          <p:cNvSpPr txBox="1"/>
          <p:nvPr/>
        </p:nvSpPr>
        <p:spPr>
          <a:xfrm>
            <a:off x="6646075" y="8423250"/>
            <a:ext cx="8447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grpSp>
        <p:nvGrpSpPr>
          <p:cNvPr id="483" name="Google Shape;483;g3cf353c04bd_2_517"/>
          <p:cNvGrpSpPr/>
          <p:nvPr/>
        </p:nvGrpSpPr>
        <p:grpSpPr>
          <a:xfrm>
            <a:off x="3149803" y="5026100"/>
            <a:ext cx="5209472" cy="4887825"/>
            <a:chOff x="2140153" y="5292800"/>
            <a:chExt cx="5209472" cy="4887825"/>
          </a:xfrm>
        </p:grpSpPr>
        <p:sp>
          <p:nvSpPr>
            <p:cNvPr id="484" name="Google Shape;484;g3cf353c04bd_2_517"/>
            <p:cNvSpPr txBox="1"/>
            <p:nvPr/>
          </p:nvSpPr>
          <p:spPr>
            <a:xfrm>
              <a:off x="5724525" y="9503525"/>
              <a:ext cx="1625100" cy="677100"/>
            </a:xfrm>
            <a:prstGeom prst="rect">
              <a:avLst/>
            </a:prstGeom>
            <a:noFill/>
            <a:ln>
              <a:noFill/>
            </a:ln>
          </p:spPr>
          <p:txBody>
            <a:bodyPr spcFirstLastPara="1" wrap="square" lIns="0" tIns="0" rIns="0" bIns="0" anchor="ctr" anchorCtr="0">
              <a:noAutofit/>
            </a:bodyPr>
            <a:lstStyle/>
            <a:p>
              <a:pPr marL="0" marR="0" lvl="0" indent="0" algn="ctr" rtl="0">
                <a:lnSpc>
                  <a:spcPct val="139977"/>
                </a:lnSpc>
                <a:spcBef>
                  <a:spcPts val="0"/>
                </a:spcBef>
                <a:spcAft>
                  <a:spcPts val="0"/>
                </a:spcAft>
                <a:buNone/>
              </a:pPr>
              <a:r>
                <a:rPr lang="en-US" sz="2600" b="1">
                  <a:solidFill>
                    <a:srgbClr val="242424"/>
                  </a:solidFill>
                  <a:latin typeface="Marcellus"/>
                  <a:ea typeface="Marcellus"/>
                  <a:cs typeface="Marcellus"/>
                  <a:sym typeface="Marcellus"/>
                </a:rPr>
                <a:t>3V3(OUT)</a:t>
              </a:r>
              <a:endParaRPr sz="2600" b="1">
                <a:solidFill>
                  <a:srgbClr val="242424"/>
                </a:solidFill>
                <a:latin typeface="Marcellus"/>
                <a:ea typeface="Marcellus"/>
                <a:cs typeface="Marcellus"/>
                <a:sym typeface="Marcellus"/>
              </a:endParaRPr>
            </a:p>
          </p:txBody>
        </p:sp>
        <p:sp>
          <p:nvSpPr>
            <p:cNvPr id="485" name="Google Shape;485;g3cf353c04bd_2_517"/>
            <p:cNvSpPr txBox="1"/>
            <p:nvPr/>
          </p:nvSpPr>
          <p:spPr>
            <a:xfrm>
              <a:off x="4232050" y="9503525"/>
              <a:ext cx="1378500" cy="677100"/>
            </a:xfrm>
            <a:prstGeom prst="rect">
              <a:avLst/>
            </a:prstGeom>
            <a:noFill/>
            <a:ln>
              <a:noFill/>
            </a:ln>
          </p:spPr>
          <p:txBody>
            <a:bodyPr spcFirstLastPara="1" wrap="square" lIns="0" tIns="0" rIns="0" bIns="0" anchor="ctr" anchorCtr="0">
              <a:noAutofit/>
            </a:bodyPr>
            <a:lstStyle/>
            <a:p>
              <a:pPr marL="0" marR="0" lvl="0" indent="0" algn="ctr" rtl="0">
                <a:lnSpc>
                  <a:spcPct val="139977"/>
                </a:lnSpc>
                <a:spcBef>
                  <a:spcPts val="0"/>
                </a:spcBef>
                <a:spcAft>
                  <a:spcPts val="0"/>
                </a:spcAft>
                <a:buNone/>
              </a:pPr>
              <a:r>
                <a:rPr lang="en-US" sz="2600" b="1">
                  <a:solidFill>
                    <a:srgbClr val="242424"/>
                  </a:solidFill>
                  <a:latin typeface="Marcellus"/>
                  <a:ea typeface="Marcellus"/>
                  <a:cs typeface="Marcellus"/>
                  <a:sym typeface="Marcellus"/>
                </a:rPr>
                <a:t>ADC Pin</a:t>
              </a:r>
              <a:endParaRPr sz="2600" b="1">
                <a:solidFill>
                  <a:srgbClr val="242424"/>
                </a:solidFill>
                <a:latin typeface="Marcellus"/>
                <a:ea typeface="Marcellus"/>
                <a:cs typeface="Marcellus"/>
                <a:sym typeface="Marcellus"/>
              </a:endParaRPr>
            </a:p>
          </p:txBody>
        </p:sp>
        <p:grpSp>
          <p:nvGrpSpPr>
            <p:cNvPr id="486" name="Google Shape;486;g3cf353c04bd_2_517"/>
            <p:cNvGrpSpPr/>
            <p:nvPr/>
          </p:nvGrpSpPr>
          <p:grpSpPr>
            <a:xfrm>
              <a:off x="2140153" y="5875501"/>
              <a:ext cx="4863706" cy="3704338"/>
              <a:chOff x="4544404" y="4778206"/>
              <a:chExt cx="3671275" cy="2796149"/>
            </a:xfrm>
          </p:grpSpPr>
          <p:pic>
            <p:nvPicPr>
              <p:cNvPr id="487" name="Google Shape;487;g3cf353c04bd_2_517" title="voltage-divider.png"/>
              <p:cNvPicPr preferRelativeResize="0"/>
              <p:nvPr/>
            </p:nvPicPr>
            <p:blipFill rotWithShape="1">
              <a:blip r:embed="rId4">
                <a:alphaModFix/>
              </a:blip>
              <a:srcRect l="45295" t="19408" r="25048" b="22625"/>
              <a:stretch/>
            </p:blipFill>
            <p:spPr>
              <a:xfrm rot="5400000">
                <a:off x="4981968" y="4340643"/>
                <a:ext cx="2796149" cy="3671275"/>
              </a:xfrm>
              <a:prstGeom prst="rect">
                <a:avLst/>
              </a:prstGeom>
              <a:noFill/>
              <a:ln>
                <a:noFill/>
              </a:ln>
            </p:spPr>
          </p:pic>
          <p:sp>
            <p:nvSpPr>
              <p:cNvPr id="488" name="Google Shape;488;g3cf353c04bd_2_517"/>
              <p:cNvSpPr/>
              <p:nvPr/>
            </p:nvSpPr>
            <p:spPr>
              <a:xfrm>
                <a:off x="7096852" y="5431089"/>
                <a:ext cx="386100" cy="1693500"/>
              </a:xfrm>
              <a:prstGeom prst="rect">
                <a:avLst/>
              </a:prstGeom>
              <a:solidFill>
                <a:srgbClr val="D9EAD3"/>
              </a:solidFill>
              <a:ln>
                <a:noFill/>
              </a:ln>
            </p:spPr>
            <p:txBody>
              <a:bodyPr spcFirstLastPara="1" wrap="square" lIns="121125" tIns="121125" rIns="121125" bIns="121125" anchor="ctr" anchorCtr="0">
                <a:noAutofit/>
              </a:bodyPr>
              <a:lstStyle/>
              <a:p>
                <a:pPr marL="0" lvl="0" indent="0" algn="ctr" rtl="0">
                  <a:spcBef>
                    <a:spcPts val="0"/>
                  </a:spcBef>
                  <a:spcAft>
                    <a:spcPts val="0"/>
                  </a:spcAft>
                  <a:buNone/>
                </a:pPr>
                <a:endParaRPr sz="1854">
                  <a:latin typeface="Calibri"/>
                  <a:ea typeface="Calibri"/>
                  <a:cs typeface="Calibri"/>
                  <a:sym typeface="Calibri"/>
                </a:endParaRPr>
              </a:p>
            </p:txBody>
          </p:sp>
        </p:grpSp>
        <p:sp>
          <p:nvSpPr>
            <p:cNvPr id="489" name="Google Shape;489;g3cf353c04bd_2_517"/>
            <p:cNvSpPr txBox="1"/>
            <p:nvPr/>
          </p:nvSpPr>
          <p:spPr>
            <a:xfrm>
              <a:off x="4188825" y="5292800"/>
              <a:ext cx="2090700" cy="677100"/>
            </a:xfrm>
            <a:prstGeom prst="rect">
              <a:avLst/>
            </a:prstGeom>
            <a:noFill/>
            <a:ln>
              <a:noFill/>
            </a:ln>
          </p:spPr>
          <p:txBody>
            <a:bodyPr spcFirstLastPara="1" wrap="square" lIns="0" tIns="0" rIns="0" bIns="0" anchor="ctr" anchorCtr="0">
              <a:noAutofit/>
            </a:bodyPr>
            <a:lstStyle/>
            <a:p>
              <a:pPr marL="0" marR="0" lvl="0" indent="0" algn="ctr" rtl="0">
                <a:lnSpc>
                  <a:spcPct val="139977"/>
                </a:lnSpc>
                <a:spcBef>
                  <a:spcPts val="0"/>
                </a:spcBef>
                <a:spcAft>
                  <a:spcPts val="0"/>
                </a:spcAft>
                <a:buNone/>
              </a:pPr>
              <a:r>
                <a:rPr lang="en-US" sz="2600" b="1">
                  <a:solidFill>
                    <a:srgbClr val="242424"/>
                  </a:solidFill>
                  <a:latin typeface="Marcellus"/>
                  <a:ea typeface="Marcellus"/>
                  <a:cs typeface="Marcellus"/>
                  <a:sym typeface="Marcellus"/>
                </a:rPr>
                <a:t>Photoresistor</a:t>
              </a:r>
              <a:endParaRPr sz="2600" b="1">
                <a:solidFill>
                  <a:srgbClr val="242424"/>
                </a:solidFill>
                <a:latin typeface="Marcellus"/>
                <a:ea typeface="Marcellus"/>
                <a:cs typeface="Marcellus"/>
                <a:sym typeface="Marcellus"/>
              </a:endParaRPr>
            </a:p>
          </p:txBody>
        </p:sp>
        <p:sp>
          <p:nvSpPr>
            <p:cNvPr id="490" name="Google Shape;490;g3cf353c04bd_2_517"/>
            <p:cNvSpPr txBox="1"/>
            <p:nvPr/>
          </p:nvSpPr>
          <p:spPr>
            <a:xfrm>
              <a:off x="3153275" y="8306900"/>
              <a:ext cx="1378500" cy="677100"/>
            </a:xfrm>
            <a:prstGeom prst="rect">
              <a:avLst/>
            </a:prstGeom>
            <a:solidFill>
              <a:srgbClr val="D9EAD3"/>
            </a:solidFill>
            <a:ln>
              <a:noFill/>
            </a:ln>
          </p:spPr>
          <p:txBody>
            <a:bodyPr spcFirstLastPara="1" wrap="square" lIns="0" tIns="0" rIns="0" bIns="0" anchor="ctr" anchorCtr="0">
              <a:noAutofit/>
            </a:bodyPr>
            <a:lstStyle/>
            <a:p>
              <a:pPr marL="0" marR="0" lvl="0" indent="0" algn="ctr" rtl="0">
                <a:lnSpc>
                  <a:spcPct val="139977"/>
                </a:lnSpc>
                <a:spcBef>
                  <a:spcPts val="0"/>
                </a:spcBef>
                <a:spcAft>
                  <a:spcPts val="0"/>
                </a:spcAft>
                <a:buNone/>
              </a:pPr>
              <a:r>
                <a:rPr lang="en-US" sz="2600" b="1">
                  <a:solidFill>
                    <a:srgbClr val="242424"/>
                  </a:solidFill>
                  <a:latin typeface="Marcellus"/>
                  <a:ea typeface="Marcellus"/>
                  <a:cs typeface="Marcellus"/>
                  <a:sym typeface="Marcellus"/>
                </a:rPr>
                <a:t>R1</a:t>
              </a:r>
              <a:endParaRPr sz="2600" b="1">
                <a:solidFill>
                  <a:srgbClr val="242424"/>
                </a:solidFill>
                <a:latin typeface="Marcellus"/>
                <a:ea typeface="Marcellus"/>
                <a:cs typeface="Marcellus"/>
                <a:sym typeface="Marcellus"/>
              </a:endParaRPr>
            </a:p>
          </p:txBody>
        </p:sp>
      </p:grpSp>
      <p:cxnSp>
        <p:nvCxnSpPr>
          <p:cNvPr id="491" name="Google Shape;491;g3cf353c04bd_2_517"/>
          <p:cNvCxnSpPr>
            <a:stCxn id="492" idx="3"/>
          </p:cNvCxnSpPr>
          <p:nvPr/>
        </p:nvCxnSpPr>
        <p:spPr>
          <a:xfrm rot="10800000" flipH="1">
            <a:off x="3073475" y="8499350"/>
            <a:ext cx="1531200" cy="387000"/>
          </a:xfrm>
          <a:prstGeom prst="straightConnector1">
            <a:avLst/>
          </a:prstGeom>
          <a:noFill/>
          <a:ln w="38100" cap="flat" cmpd="sng">
            <a:solidFill>
              <a:schemeClr val="dk2"/>
            </a:solidFill>
            <a:prstDash val="solid"/>
            <a:round/>
            <a:headEnd type="none" w="med" len="med"/>
            <a:tailEnd type="triangle" w="med" len="med"/>
          </a:ln>
        </p:spPr>
      </p:cxnSp>
      <p:sp>
        <p:nvSpPr>
          <p:cNvPr id="492" name="Google Shape;492;g3cf353c04bd_2_517"/>
          <p:cNvSpPr txBox="1"/>
          <p:nvPr/>
        </p:nvSpPr>
        <p:spPr>
          <a:xfrm>
            <a:off x="1291775" y="8547800"/>
            <a:ext cx="1781700" cy="67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1100"/>
              <a:buFont typeface="Arial"/>
              <a:buNone/>
            </a:pPr>
            <a:r>
              <a:rPr lang="en-US" sz="3800">
                <a:solidFill>
                  <a:schemeClr val="dk1"/>
                </a:solidFill>
                <a:latin typeface="Marcellus"/>
                <a:ea typeface="Marcellus"/>
                <a:cs typeface="Marcellus"/>
                <a:sym typeface="Marcellus"/>
              </a:rPr>
              <a:t>10 kΩ</a:t>
            </a:r>
            <a:endParaRPr sz="3800" b="1">
              <a:solidFill>
                <a:srgbClr val="242424"/>
              </a:solidFill>
              <a:latin typeface="Marcellus"/>
              <a:ea typeface="Marcellus"/>
              <a:cs typeface="Marcellus"/>
              <a:sym typeface="Marcellu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496"/>
        <p:cNvGrpSpPr/>
        <p:nvPr/>
      </p:nvGrpSpPr>
      <p:grpSpPr>
        <a:xfrm>
          <a:off x="0" y="0"/>
          <a:ext cx="0" cy="0"/>
          <a:chOff x="0" y="0"/>
          <a:chExt cx="0" cy="0"/>
        </a:xfrm>
      </p:grpSpPr>
      <p:grpSp>
        <p:nvGrpSpPr>
          <p:cNvPr id="497" name="Google Shape;497;g3c5c0a11321_0_19"/>
          <p:cNvGrpSpPr/>
          <p:nvPr/>
        </p:nvGrpSpPr>
        <p:grpSpPr>
          <a:xfrm>
            <a:off x="1028700" y="3172582"/>
            <a:ext cx="16230601" cy="5739116"/>
            <a:chOff x="0" y="-57150"/>
            <a:chExt cx="2076932" cy="734400"/>
          </a:xfrm>
        </p:grpSpPr>
        <p:sp>
          <p:nvSpPr>
            <p:cNvPr id="498" name="Google Shape;498;g3c5c0a11321_0_19"/>
            <p:cNvSpPr/>
            <p:nvPr/>
          </p:nvSpPr>
          <p:spPr>
            <a:xfrm>
              <a:off x="0" y="0"/>
              <a:ext cx="2076932" cy="677156"/>
            </a:xfrm>
            <a:custGeom>
              <a:avLst/>
              <a:gdLst/>
              <a:ahLst/>
              <a:cxnLst/>
              <a:rect l="l" t="t" r="r" b="b"/>
              <a:pathLst>
                <a:path w="2076932" h="677156" extrusionOk="0">
                  <a:moveTo>
                    <a:pt x="49087" y="0"/>
                  </a:moveTo>
                  <a:lnTo>
                    <a:pt x="2027845" y="0"/>
                  </a:lnTo>
                  <a:cubicBezTo>
                    <a:pt x="2040863" y="0"/>
                    <a:pt x="2053349" y="5172"/>
                    <a:pt x="2062555" y="14377"/>
                  </a:cubicBezTo>
                  <a:cubicBezTo>
                    <a:pt x="2071760" y="23583"/>
                    <a:pt x="2076932" y="36069"/>
                    <a:pt x="2076932" y="49087"/>
                  </a:cubicBezTo>
                  <a:lnTo>
                    <a:pt x="2076932" y="628069"/>
                  </a:lnTo>
                  <a:cubicBezTo>
                    <a:pt x="2076932" y="655179"/>
                    <a:pt x="2054955" y="677156"/>
                    <a:pt x="2027845" y="677156"/>
                  </a:cubicBezTo>
                  <a:lnTo>
                    <a:pt x="49087" y="677156"/>
                  </a:lnTo>
                  <a:cubicBezTo>
                    <a:pt x="36069" y="677156"/>
                    <a:pt x="23583" y="671984"/>
                    <a:pt x="14377" y="662779"/>
                  </a:cubicBezTo>
                  <a:cubicBezTo>
                    <a:pt x="5172" y="653573"/>
                    <a:pt x="0" y="641087"/>
                    <a:pt x="0" y="628069"/>
                  </a:cubicBezTo>
                  <a:lnTo>
                    <a:pt x="0" y="49087"/>
                  </a:lnTo>
                  <a:cubicBezTo>
                    <a:pt x="0" y="36069"/>
                    <a:pt x="5172" y="23583"/>
                    <a:pt x="14377" y="14377"/>
                  </a:cubicBezTo>
                  <a:cubicBezTo>
                    <a:pt x="23583" y="5172"/>
                    <a:pt x="36069" y="0"/>
                    <a:pt x="49087" y="0"/>
                  </a:cubicBezTo>
                  <a:close/>
                </a:path>
              </a:pathLst>
            </a:custGeom>
            <a:solidFill>
              <a:srgbClr val="FFFFFF"/>
            </a:solidFill>
            <a:ln>
              <a:noFill/>
            </a:ln>
          </p:spPr>
          <p:txBody>
            <a:bodyPr spcFirstLastPara="1" wrap="square" lIns="188175" tIns="188175" rIns="188175" bIns="188175" anchor="ctr" anchorCtr="0">
              <a:noAutofit/>
            </a:bodyPr>
            <a:lstStyle/>
            <a:p>
              <a:pPr marL="0" lvl="0" indent="0" algn="l" rtl="0">
                <a:spcBef>
                  <a:spcPts val="0"/>
                </a:spcBef>
                <a:spcAft>
                  <a:spcPts val="0"/>
                </a:spcAft>
                <a:buNone/>
              </a:pPr>
              <a:endParaRPr/>
            </a:p>
          </p:txBody>
        </p:sp>
        <p:sp>
          <p:nvSpPr>
            <p:cNvPr id="499" name="Google Shape;499;g3c5c0a11321_0_19"/>
            <p:cNvSpPr txBox="1"/>
            <p:nvPr/>
          </p:nvSpPr>
          <p:spPr>
            <a:xfrm>
              <a:off x="0" y="-57150"/>
              <a:ext cx="2076900" cy="734400"/>
            </a:xfrm>
            <a:prstGeom prst="rect">
              <a:avLst/>
            </a:prstGeom>
            <a:noFill/>
            <a:ln>
              <a:noFill/>
            </a:ln>
          </p:spPr>
          <p:txBody>
            <a:bodyPr spcFirstLastPara="1" wrap="square" lIns="104550" tIns="104550" rIns="104550" bIns="104550" anchor="ctr" anchorCtr="0">
              <a:noAutofit/>
            </a:bodyPr>
            <a:lstStyle/>
            <a:p>
              <a:pPr marL="0" marR="0" lvl="0" indent="0" algn="ctr" rtl="0">
                <a:lnSpc>
                  <a:spcPct val="186611"/>
                </a:lnSpc>
                <a:spcBef>
                  <a:spcPts val="0"/>
                </a:spcBef>
                <a:spcAft>
                  <a:spcPts val="0"/>
                </a:spcAft>
                <a:buNone/>
              </a:pPr>
              <a:endParaRPr sz="3704" b="0" i="0" u="none" strike="noStrike" cap="none">
                <a:solidFill>
                  <a:schemeClr val="dk1"/>
                </a:solidFill>
                <a:latin typeface="Calibri"/>
                <a:ea typeface="Calibri"/>
                <a:cs typeface="Calibri"/>
                <a:sym typeface="Calibri"/>
              </a:endParaRPr>
            </a:p>
          </p:txBody>
        </p:sp>
      </p:grpSp>
      <p:sp>
        <p:nvSpPr>
          <p:cNvPr id="500" name="Google Shape;500;g3c5c0a11321_0_19"/>
          <p:cNvSpPr txBox="1"/>
          <p:nvPr/>
        </p:nvSpPr>
        <p:spPr>
          <a:xfrm>
            <a:off x="955675" y="2033475"/>
            <a:ext cx="16230600" cy="1139100"/>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7400" b="1">
                <a:solidFill>
                  <a:srgbClr val="B03856"/>
                </a:solidFill>
                <a:latin typeface="Marcellus"/>
                <a:ea typeface="Marcellus"/>
                <a:cs typeface="Marcellus"/>
                <a:sym typeface="Marcellus"/>
              </a:rPr>
              <a:t>CHALLENGE: Automatic Light Control</a:t>
            </a:r>
            <a:endParaRPr sz="7400" b="1">
              <a:solidFill>
                <a:srgbClr val="B03856"/>
              </a:solidFill>
            </a:endParaRPr>
          </a:p>
        </p:txBody>
      </p:sp>
      <p:sp>
        <p:nvSpPr>
          <p:cNvPr id="501" name="Google Shape;501;g3c5c0a11321_0_19"/>
          <p:cNvSpPr txBox="1"/>
          <p:nvPr/>
        </p:nvSpPr>
        <p:spPr>
          <a:xfrm>
            <a:off x="1105975" y="3953350"/>
            <a:ext cx="15930000" cy="4678200"/>
          </a:xfrm>
          <a:prstGeom prst="rect">
            <a:avLst/>
          </a:prstGeom>
          <a:noFill/>
          <a:ln>
            <a:noFill/>
          </a:ln>
        </p:spPr>
        <p:txBody>
          <a:bodyPr spcFirstLastPara="1" wrap="square" lIns="0" tIns="0" rIns="0" bIns="0" anchor="t" anchorCtr="0">
            <a:spAutoFit/>
          </a:bodyPr>
          <a:lstStyle/>
          <a:p>
            <a:pPr marL="457200" marR="0" lvl="0"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Wire up a photoresistor to an ADC pin. (use a voltage divider)</a:t>
            </a:r>
            <a:endParaRPr sz="3800">
              <a:solidFill>
                <a:srgbClr val="1B092D"/>
              </a:solidFill>
              <a:latin typeface="Marcellus"/>
              <a:ea typeface="Marcellus"/>
              <a:cs typeface="Marcellus"/>
              <a:sym typeface="Marcellus"/>
            </a:endParaRPr>
          </a:p>
          <a:p>
            <a:pPr marL="457200" marR="0" lvl="0"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Write a program that:</a:t>
            </a:r>
            <a:endParaRPr sz="3800">
              <a:solidFill>
                <a:srgbClr val="1B092D"/>
              </a:solidFill>
              <a:latin typeface="Marcellus"/>
              <a:ea typeface="Marcellus"/>
              <a:cs typeface="Marcellus"/>
              <a:sym typeface="Marcellus"/>
            </a:endParaRPr>
          </a:p>
          <a:p>
            <a:pPr marL="914400" marR="0" lvl="1"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Reads light levels from the photoresistor using the ADC pin</a:t>
            </a:r>
            <a:endParaRPr sz="3800">
              <a:solidFill>
                <a:srgbClr val="1B092D"/>
              </a:solidFill>
              <a:latin typeface="Marcellus"/>
              <a:ea typeface="Marcellus"/>
              <a:cs typeface="Marcellus"/>
              <a:sym typeface="Marcellus"/>
            </a:endParaRPr>
          </a:p>
          <a:p>
            <a:pPr marL="914400" marR="0" lvl="1"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Adjusts the brightness of the LED using PWM based on light level readings</a:t>
            </a:r>
            <a:endParaRPr sz="3800">
              <a:solidFill>
                <a:srgbClr val="1B092D"/>
              </a:solidFill>
              <a:latin typeface="Marcellus"/>
              <a:ea typeface="Marcellus"/>
              <a:cs typeface="Marcellus"/>
              <a:sym typeface="Marcellus"/>
            </a:endParaRPr>
          </a:p>
          <a:p>
            <a:pPr marL="914400" marR="0" lvl="1" indent="-469900" algn="l" rtl="0">
              <a:lnSpc>
                <a:spcPct val="139958"/>
              </a:lnSpc>
              <a:spcBef>
                <a:spcPts val="0"/>
              </a:spcBef>
              <a:spcAft>
                <a:spcPts val="0"/>
              </a:spcAft>
              <a:buClr>
                <a:srgbClr val="1B092D"/>
              </a:buClr>
              <a:buSzPts val="3800"/>
              <a:buFont typeface="Marcellus"/>
              <a:buChar char="-"/>
            </a:pPr>
            <a:r>
              <a:rPr lang="en-US" sz="3800">
                <a:solidFill>
                  <a:srgbClr val="1B092D"/>
                </a:solidFill>
                <a:latin typeface="Marcellus"/>
                <a:ea typeface="Marcellus"/>
                <a:cs typeface="Marcellus"/>
                <a:sym typeface="Marcellus"/>
              </a:rPr>
              <a:t>(BONUS) play around with a manual button override!</a:t>
            </a:r>
            <a:endParaRPr sz="3800">
              <a:solidFill>
                <a:srgbClr val="1B092D"/>
              </a:solidFill>
              <a:latin typeface="Marcellus"/>
              <a:ea typeface="Marcellus"/>
              <a:cs typeface="Marcellus"/>
              <a:sym typeface="Marcellu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505"/>
        <p:cNvGrpSpPr/>
        <p:nvPr/>
      </p:nvGrpSpPr>
      <p:grpSpPr>
        <a:xfrm>
          <a:off x="0" y="0"/>
          <a:ext cx="0" cy="0"/>
          <a:chOff x="0" y="0"/>
          <a:chExt cx="0" cy="0"/>
        </a:xfrm>
      </p:grpSpPr>
      <p:grpSp>
        <p:nvGrpSpPr>
          <p:cNvPr id="506" name="Google Shape;506;g3cee154c093_0_99"/>
          <p:cNvGrpSpPr/>
          <p:nvPr/>
        </p:nvGrpSpPr>
        <p:grpSpPr>
          <a:xfrm>
            <a:off x="857250" y="4812251"/>
            <a:ext cx="16230601" cy="3805073"/>
            <a:chOff x="0" y="-57150"/>
            <a:chExt cx="2076932" cy="734400"/>
          </a:xfrm>
        </p:grpSpPr>
        <p:sp>
          <p:nvSpPr>
            <p:cNvPr id="507" name="Google Shape;507;g3cee154c093_0_99"/>
            <p:cNvSpPr/>
            <p:nvPr/>
          </p:nvSpPr>
          <p:spPr>
            <a:xfrm>
              <a:off x="0" y="0"/>
              <a:ext cx="2076932" cy="677156"/>
            </a:xfrm>
            <a:custGeom>
              <a:avLst/>
              <a:gdLst/>
              <a:ahLst/>
              <a:cxnLst/>
              <a:rect l="l" t="t" r="r" b="b"/>
              <a:pathLst>
                <a:path w="2076932" h="677156" extrusionOk="0">
                  <a:moveTo>
                    <a:pt x="49087" y="0"/>
                  </a:moveTo>
                  <a:lnTo>
                    <a:pt x="2027845" y="0"/>
                  </a:lnTo>
                  <a:cubicBezTo>
                    <a:pt x="2040863" y="0"/>
                    <a:pt x="2053349" y="5172"/>
                    <a:pt x="2062555" y="14377"/>
                  </a:cubicBezTo>
                  <a:cubicBezTo>
                    <a:pt x="2071760" y="23583"/>
                    <a:pt x="2076932" y="36069"/>
                    <a:pt x="2076932" y="49087"/>
                  </a:cubicBezTo>
                  <a:lnTo>
                    <a:pt x="2076932" y="628069"/>
                  </a:lnTo>
                  <a:cubicBezTo>
                    <a:pt x="2076932" y="655179"/>
                    <a:pt x="2054955" y="677156"/>
                    <a:pt x="2027845" y="677156"/>
                  </a:cubicBezTo>
                  <a:lnTo>
                    <a:pt x="49087" y="677156"/>
                  </a:lnTo>
                  <a:cubicBezTo>
                    <a:pt x="36069" y="677156"/>
                    <a:pt x="23583" y="671984"/>
                    <a:pt x="14377" y="662779"/>
                  </a:cubicBezTo>
                  <a:cubicBezTo>
                    <a:pt x="5172" y="653573"/>
                    <a:pt x="0" y="641087"/>
                    <a:pt x="0" y="628069"/>
                  </a:cubicBezTo>
                  <a:lnTo>
                    <a:pt x="0" y="49087"/>
                  </a:lnTo>
                  <a:cubicBezTo>
                    <a:pt x="0" y="36069"/>
                    <a:pt x="5172" y="23583"/>
                    <a:pt x="14377" y="14377"/>
                  </a:cubicBezTo>
                  <a:cubicBezTo>
                    <a:pt x="23583" y="5172"/>
                    <a:pt x="36069" y="0"/>
                    <a:pt x="49087" y="0"/>
                  </a:cubicBezTo>
                  <a:close/>
                </a:path>
              </a:pathLst>
            </a:custGeom>
            <a:solidFill>
              <a:srgbClr val="FFFFFF"/>
            </a:solidFill>
            <a:ln>
              <a:noFill/>
            </a:ln>
          </p:spPr>
          <p:txBody>
            <a:bodyPr spcFirstLastPara="1" wrap="square" lIns="188175" tIns="188175" rIns="188175" bIns="188175" anchor="ctr" anchorCtr="0">
              <a:noAutofit/>
            </a:bodyPr>
            <a:lstStyle/>
            <a:p>
              <a:pPr marL="0" lvl="0" indent="0" algn="l" rtl="0">
                <a:spcBef>
                  <a:spcPts val="0"/>
                </a:spcBef>
                <a:spcAft>
                  <a:spcPts val="0"/>
                </a:spcAft>
                <a:buNone/>
              </a:pPr>
              <a:endParaRPr/>
            </a:p>
          </p:txBody>
        </p:sp>
        <p:sp>
          <p:nvSpPr>
            <p:cNvPr id="508" name="Google Shape;508;g3cee154c093_0_99"/>
            <p:cNvSpPr txBox="1"/>
            <p:nvPr/>
          </p:nvSpPr>
          <p:spPr>
            <a:xfrm>
              <a:off x="0" y="-57150"/>
              <a:ext cx="2076900" cy="734400"/>
            </a:xfrm>
            <a:prstGeom prst="rect">
              <a:avLst/>
            </a:prstGeom>
            <a:noFill/>
            <a:ln>
              <a:noFill/>
            </a:ln>
          </p:spPr>
          <p:txBody>
            <a:bodyPr spcFirstLastPara="1" wrap="square" lIns="104550" tIns="104550" rIns="104550" bIns="104550" anchor="ctr" anchorCtr="0">
              <a:noAutofit/>
            </a:bodyPr>
            <a:lstStyle/>
            <a:p>
              <a:pPr marL="0" marR="0" lvl="0" indent="0" algn="ctr" rtl="0">
                <a:lnSpc>
                  <a:spcPct val="186611"/>
                </a:lnSpc>
                <a:spcBef>
                  <a:spcPts val="0"/>
                </a:spcBef>
                <a:spcAft>
                  <a:spcPts val="0"/>
                </a:spcAft>
                <a:buNone/>
              </a:pPr>
              <a:endParaRPr sz="3704" b="0" i="0" u="none" strike="noStrike" cap="none">
                <a:solidFill>
                  <a:schemeClr val="dk1"/>
                </a:solidFill>
                <a:latin typeface="Calibri"/>
                <a:ea typeface="Calibri"/>
                <a:cs typeface="Calibri"/>
                <a:sym typeface="Calibri"/>
              </a:endParaRPr>
            </a:p>
          </p:txBody>
        </p:sp>
      </p:grpSp>
      <p:sp>
        <p:nvSpPr>
          <p:cNvPr id="509" name="Google Shape;509;g3cee154c093_0_99"/>
          <p:cNvSpPr txBox="1"/>
          <p:nvPr/>
        </p:nvSpPr>
        <p:spPr>
          <a:xfrm>
            <a:off x="857250" y="2792200"/>
            <a:ext cx="16230600" cy="1800900"/>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11699" b="1">
                <a:solidFill>
                  <a:srgbClr val="B03856"/>
                </a:solidFill>
                <a:latin typeface="Marcellus"/>
                <a:ea typeface="Marcellus"/>
                <a:cs typeface="Marcellus"/>
                <a:sym typeface="Marcellus"/>
              </a:rPr>
              <a:t>Thanks for coming!</a:t>
            </a:r>
            <a:endParaRPr sz="4300" b="1">
              <a:solidFill>
                <a:srgbClr val="B03856"/>
              </a:solidFill>
            </a:endParaRPr>
          </a:p>
        </p:txBody>
      </p:sp>
      <p:sp>
        <p:nvSpPr>
          <p:cNvPr id="510" name="Google Shape;510;g3cee154c093_0_99"/>
          <p:cNvSpPr txBox="1"/>
          <p:nvPr/>
        </p:nvSpPr>
        <p:spPr>
          <a:xfrm>
            <a:off x="934525" y="5593025"/>
            <a:ext cx="16004400" cy="2714700"/>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9100">
                <a:solidFill>
                  <a:srgbClr val="1B092D"/>
                </a:solidFill>
                <a:latin typeface="Marcellus"/>
                <a:ea typeface="Marcellus"/>
                <a:cs typeface="Marcellus"/>
                <a:sym typeface="Marcellus"/>
              </a:rPr>
              <a:t>Any Questions?</a:t>
            </a:r>
            <a:endParaRPr sz="9100">
              <a:solidFill>
                <a:srgbClr val="1B092D"/>
              </a:solidFill>
              <a:latin typeface="Marcellus"/>
              <a:ea typeface="Marcellus"/>
              <a:cs typeface="Marcellus"/>
              <a:sym typeface="Marcellus"/>
            </a:endParaRPr>
          </a:p>
          <a:p>
            <a:pPr marL="0" marR="0" lvl="0" indent="0" algn="ctr" rtl="0">
              <a:lnSpc>
                <a:spcPct val="139958"/>
              </a:lnSpc>
              <a:spcBef>
                <a:spcPts val="0"/>
              </a:spcBef>
              <a:spcAft>
                <a:spcPts val="0"/>
              </a:spcAft>
              <a:buNone/>
            </a:pPr>
            <a:r>
              <a:rPr lang="en-US" sz="4900">
                <a:solidFill>
                  <a:srgbClr val="1B092D"/>
                </a:solidFill>
                <a:latin typeface="Marcellus"/>
                <a:ea typeface="Marcellus"/>
                <a:cs typeface="Marcellus"/>
                <a:sym typeface="Marcellus"/>
              </a:rPr>
              <a:t>Please return your kits the way you found the :)</a:t>
            </a:r>
            <a:endParaRPr sz="4900">
              <a:solidFill>
                <a:srgbClr val="1B092D"/>
              </a:solidFill>
              <a:latin typeface="Marcellus"/>
              <a:ea typeface="Marcellus"/>
              <a:cs typeface="Marcellus"/>
              <a:sym typeface="Marcellu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842</Words>
  <Application>Microsoft Office PowerPoint</Application>
  <PresentationFormat>Custom</PresentationFormat>
  <Paragraphs>154</Paragraphs>
  <Slides>22</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Roboto Slab</vt:lpstr>
      <vt:lpstr>Marcellus</vt:lpstr>
      <vt:lpstr>Calibri</vt:lpstr>
      <vt:lpstr>Arial</vt:lpstr>
      <vt:lpstr>Ruda Black</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Amytis Saghafi</cp:lastModifiedBy>
  <cp:revision>1</cp:revision>
  <dcterms:created xsi:type="dcterms:W3CDTF">2006-08-16T00:00:00Z</dcterms:created>
  <dcterms:modified xsi:type="dcterms:W3CDTF">2026-10-10T21:20:14Z</dcterms:modified>
</cp:coreProperties>
</file>